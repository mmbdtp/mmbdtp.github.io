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16"/>
  </p:notesMasterIdLst>
  <p:sldIdLst>
    <p:sldId id="282" r:id="rId5"/>
    <p:sldId id="266" r:id="rId6"/>
    <p:sldId id="272" r:id="rId7"/>
    <p:sldId id="292" r:id="rId8"/>
    <p:sldId id="285" r:id="rId9"/>
    <p:sldId id="283" r:id="rId10"/>
    <p:sldId id="284" r:id="rId11"/>
    <p:sldId id="291" r:id="rId12"/>
    <p:sldId id="287" r:id="rId13"/>
    <p:sldId id="288" r:id="rId14"/>
    <p:sldId id="290" r:id="rId15"/>
  </p:sldIdLst>
  <p:sldSz cx="9144000" cy="5143500" type="screen16x9"/>
  <p:notesSz cx="6858000" cy="9144000"/>
  <p:embeddedFontLst>
    <p:embeddedFont>
      <p:font typeface="Consolas" panose="020B0609020204030204" pitchFamily="49" charset="0"/>
      <p:regular r:id="rId17"/>
      <p:bold r:id="rId18"/>
      <p:italic r:id="rId19"/>
      <p:boldItalic r:id="rId20"/>
    </p:embeddedFont>
    <p:embeddedFont>
      <p:font typeface="TT Norms Bold" panose="020B0604020202020204"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BD00"/>
    <a:srgbClr val="333F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691" autoAdjust="0"/>
  </p:normalViewPr>
  <p:slideViewPr>
    <p:cSldViewPr snapToGrid="0">
      <p:cViewPr varScale="1">
        <p:scale>
          <a:sx n="82" d="100"/>
          <a:sy n="82" d="100"/>
        </p:scale>
        <p:origin x="73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A853B-15F3-2043-8EC8-D687EC22F733}"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201BD-E87A-D04D-AF74-E4D0EAB348A1}" type="slidenum">
              <a:rPr lang="en-US" smtClean="0"/>
              <a:t>‹#›</a:t>
            </a:fld>
            <a:endParaRPr lang="en-US"/>
          </a:p>
        </p:txBody>
      </p:sp>
    </p:spTree>
    <p:extLst>
      <p:ext uri="{BB962C8B-B14F-4D97-AF65-F5344CB8AC3E}">
        <p14:creationId xmlns:p14="http://schemas.microsoft.com/office/powerpoint/2010/main" val="295102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CLIMB, the Cloud Infrastructure for Microbial bioinformatics is a UK project, created in the UK, by UK-based researchers, with the needs of the UK community in mind</a:t>
            </a:r>
            <a:r>
              <a:rPr lang="en-US" sz="1200" b="0" i="0" kern="1200">
                <a:solidFill>
                  <a:schemeClr val="tx1"/>
                </a:solidFill>
                <a:effectLst/>
                <a:latin typeface="+mn-lt"/>
                <a:ea typeface="+mn-ea"/>
                <a:cs typeface="+mn-cs"/>
              </a:rPr>
              <a:t>​</a:t>
            </a:r>
            <a:endParaRPr lang="en-GB"/>
          </a:p>
        </p:txBody>
      </p:sp>
      <p:sp>
        <p:nvSpPr>
          <p:cNvPr id="4" name="Slide Number Placeholder 3"/>
          <p:cNvSpPr>
            <a:spLocks noGrp="1"/>
          </p:cNvSpPr>
          <p:nvPr>
            <p:ph type="sldNum" sz="quarter" idx="5"/>
          </p:nvPr>
        </p:nvSpPr>
        <p:spPr/>
        <p:txBody>
          <a:bodyPr/>
          <a:lstStyle/>
          <a:p>
            <a:fld id="{ED5201BD-E87A-D04D-AF74-E4D0EAB348A1}" type="slidenum">
              <a:rPr lang="en-US" smtClean="0"/>
              <a:t>1</a:t>
            </a:fld>
            <a:endParaRPr lang="en-US"/>
          </a:p>
        </p:txBody>
      </p:sp>
    </p:spTree>
    <p:extLst>
      <p:ext uri="{BB962C8B-B14F-4D97-AF65-F5344CB8AC3E}">
        <p14:creationId xmlns:p14="http://schemas.microsoft.com/office/powerpoint/2010/main" val="160161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0" dirty="0"/>
              <a:t>What drives CLIMB. Researchers have ideas and data, but don’t always have access to computational resources. Our mission is to break down the walls between those who have access to powerful computing and those who don't. It doesn't matter if you’re in a rich Institute or not, if you're a professor or a PhD student - if you have research questions, you should have the tools to answer them.</a:t>
            </a:r>
          </a:p>
          <a:p>
            <a:r>
              <a:rPr lang="en-GB" b="0" dirty="0"/>
              <a:t>It’s strategy. The UK's strength in microbial genomics comes from the power of its research community. If everyone can contribute at their highest level, the entire ecosystem is strengthened.</a:t>
            </a:r>
          </a:p>
        </p:txBody>
      </p:sp>
      <p:sp>
        <p:nvSpPr>
          <p:cNvPr id="4" name="Slide Number Placeholder 3"/>
          <p:cNvSpPr>
            <a:spLocks noGrp="1"/>
          </p:cNvSpPr>
          <p:nvPr>
            <p:ph type="sldNum" sz="quarter" idx="5"/>
          </p:nvPr>
        </p:nvSpPr>
        <p:spPr/>
        <p:txBody>
          <a:bodyPr/>
          <a:lstStyle/>
          <a:p>
            <a:fld id="{ED5201BD-E87A-D04D-AF74-E4D0EAB348A1}" type="slidenum">
              <a:rPr lang="en-US" smtClean="0"/>
              <a:t>2</a:t>
            </a:fld>
            <a:endParaRPr lang="en-US"/>
          </a:p>
        </p:txBody>
      </p:sp>
    </p:spTree>
    <p:extLst>
      <p:ext uri="{BB962C8B-B14F-4D97-AF65-F5344CB8AC3E}">
        <p14:creationId xmlns:p14="http://schemas.microsoft.com/office/powerpoint/2010/main" val="606132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0" dirty="0"/>
              <a:t>CLIMB's journey is 10-year long story.</a:t>
            </a:r>
          </a:p>
          <a:p>
            <a:pPr>
              <a:buNone/>
            </a:pPr>
            <a:r>
              <a:rPr lang="en-GB" b="0" dirty="0"/>
              <a:t>CLIMB 1/ MRC-CLIMB started back in 2014 from a vision of Mark Pallen, Tom Connor, Sam Sheppard and Nick Loman “what if we could build cloud computing infrastructure specifically designed for microbiologists?” The MRC backed this vision with £8 million over six years, and by 2016 we opened the doors to the UK microbiology community.</a:t>
            </a:r>
          </a:p>
          <a:p>
            <a:pPr>
              <a:buNone/>
            </a:pPr>
            <a:r>
              <a:rPr lang="en-GB" b="0" dirty="0"/>
              <a:t>By 2017, we were gaining international recognition.</a:t>
            </a:r>
          </a:p>
          <a:p>
            <a:pPr>
              <a:buNone/>
            </a:pPr>
            <a:r>
              <a:rPr lang="en-GB" b="0" dirty="0"/>
              <a:t>By 2019, we had 1,400 users across more than 80 UK institutions, and were running at capacity, with a waiting list of users. And CLIMB 1 was about to end. </a:t>
            </a:r>
          </a:p>
          <a:p>
            <a:pPr>
              <a:buNone/>
            </a:pPr>
            <a:r>
              <a:rPr lang="en-GB" b="0" dirty="0"/>
              <a:t>So we handed in the CLIMB-BIG-DATA application and in 2020, just as we were launching CLIMB-BIG-DATA with £2 million in new funding, the pandemic hit. With a bit (a lot) of luck, CLIMB became the backbone of COG-UK.</a:t>
            </a:r>
          </a:p>
          <a:p>
            <a:pPr>
              <a:buNone/>
            </a:pPr>
            <a:r>
              <a:rPr lang="en-GB" b="0" dirty="0"/>
              <a:t>Over the past five years we worked to become self sustainable and from April 2025, we’ve transitioned to self-sustainability.</a:t>
            </a:r>
            <a:endParaRPr lang="en-GB" dirty="0"/>
          </a:p>
        </p:txBody>
      </p:sp>
      <p:sp>
        <p:nvSpPr>
          <p:cNvPr id="4" name="Slide Number Placeholder 3"/>
          <p:cNvSpPr>
            <a:spLocks noGrp="1"/>
          </p:cNvSpPr>
          <p:nvPr>
            <p:ph type="sldNum" sz="quarter" idx="5"/>
          </p:nvPr>
        </p:nvSpPr>
        <p:spPr/>
        <p:txBody>
          <a:bodyPr/>
          <a:lstStyle/>
          <a:p>
            <a:fld id="{ED5201BD-E87A-D04D-AF74-E4D0EAB348A1}" type="slidenum">
              <a:rPr lang="en-US" smtClean="0"/>
              <a:t>3</a:t>
            </a:fld>
            <a:endParaRPr lang="en-US"/>
          </a:p>
        </p:txBody>
      </p:sp>
    </p:spTree>
    <p:extLst>
      <p:ext uri="{BB962C8B-B14F-4D97-AF65-F5344CB8AC3E}">
        <p14:creationId xmlns:p14="http://schemas.microsoft.com/office/powerpoint/2010/main" val="754413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2854C-814E-3DE1-2DE9-908950E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393E5-4F6C-006F-BFEE-ED593CCFD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0044C-46E4-B1AA-811C-06485FF186BD}"/>
              </a:ext>
            </a:extLst>
          </p:cNvPr>
          <p:cNvSpPr>
            <a:spLocks noGrp="1"/>
          </p:cNvSpPr>
          <p:nvPr>
            <p:ph type="body" idx="1"/>
          </p:nvPr>
        </p:nvSpPr>
        <p:spPr/>
        <p:txBody>
          <a:bodyPr/>
          <a:lstStyle/>
          <a:p>
            <a:pPr>
              <a:buFont typeface="Arial" panose="020B0604020202020204" pitchFamily="34" charset="0"/>
              <a:buNone/>
            </a:pPr>
            <a:r>
              <a:rPr lang="en-GB" b="1"/>
              <a:t>With CLIMB </a:t>
            </a:r>
            <a:r>
              <a:rPr lang="en-GB" b="0"/>
              <a:t>you open your browser, log in and you are in a fully-configured </a:t>
            </a:r>
            <a:r>
              <a:rPr lang="en-GB" b="1"/>
              <a:t>Cloud-native</a:t>
            </a:r>
            <a:r>
              <a:rPr lang="en-GB"/>
              <a:t> computational environment. Our Notebook servers are built on </a:t>
            </a:r>
            <a:r>
              <a:rPr lang="en-GB" err="1"/>
              <a:t>JupyterLab</a:t>
            </a:r>
            <a:r>
              <a:rPr lang="en-GB"/>
              <a:t> with Terminal access. Working on machine learning? You can spin up a GPU notebook.</a:t>
            </a:r>
          </a:p>
          <a:p>
            <a:pPr>
              <a:buFont typeface="Arial" panose="020B0604020202020204" pitchFamily="34" charset="0"/>
              <a:buNone/>
            </a:pPr>
            <a:endParaRPr lang="en-GB"/>
          </a:p>
          <a:p>
            <a:pPr>
              <a:buFont typeface="Arial" panose="020B0604020202020204" pitchFamily="34" charset="0"/>
              <a:buNone/>
            </a:pPr>
            <a:r>
              <a:rPr lang="en-GB"/>
              <a:t>What users (and trainers) find really powerful is the collaborative features: you can share data with other team members, work on the same terminal, on the same analysis. Or you can share data with the world. You are in control.</a:t>
            </a:r>
          </a:p>
          <a:p>
            <a:pPr>
              <a:buFont typeface="Arial" panose="020B0604020202020204" pitchFamily="34" charset="0"/>
              <a:buNone/>
            </a:pPr>
            <a:endParaRPr lang="en-GB"/>
          </a:p>
          <a:p>
            <a:pPr>
              <a:buFont typeface="Arial" panose="020B0604020202020204" pitchFamily="34" charset="0"/>
              <a:buNone/>
            </a:pPr>
            <a:r>
              <a:rPr lang="en-GB"/>
              <a:t>On top of that, we integrated </a:t>
            </a:r>
            <a:r>
              <a:rPr lang="en-GB" err="1"/>
              <a:t>Nextflow</a:t>
            </a:r>
            <a:r>
              <a:rPr lang="en-GB"/>
              <a:t> running on Kubernetes – this means that your workflow can automatically scale up virtually across our entire infrastructure.</a:t>
            </a:r>
          </a:p>
          <a:p>
            <a:pPr>
              <a:buFont typeface="Arial" panose="020B0604020202020204" pitchFamily="34" charset="0"/>
              <a:buNone/>
            </a:pPr>
            <a:r>
              <a:rPr lang="en-GB"/>
              <a:t>In terms of scalability, CLIMB is built to serve individual researchers as well as national surveillance programmes. </a:t>
            </a:r>
          </a:p>
          <a:p>
            <a:pPr>
              <a:buFont typeface="Arial" panose="020B0604020202020204" pitchFamily="34" charset="0"/>
              <a:buNone/>
            </a:pPr>
            <a:endParaRPr lang="en-GB"/>
          </a:p>
          <a:p>
            <a:endParaRPr lang="en-GB"/>
          </a:p>
        </p:txBody>
      </p:sp>
      <p:sp>
        <p:nvSpPr>
          <p:cNvPr id="4" name="Slide Number Placeholder 3">
            <a:extLst>
              <a:ext uri="{FF2B5EF4-FFF2-40B4-BE49-F238E27FC236}">
                <a16:creationId xmlns:a16="http://schemas.microsoft.com/office/drawing/2014/main" id="{FEC49E31-AC90-A6E8-25B1-2F8AF44A5F89}"/>
              </a:ext>
            </a:extLst>
          </p:cNvPr>
          <p:cNvSpPr>
            <a:spLocks noGrp="1"/>
          </p:cNvSpPr>
          <p:nvPr>
            <p:ph type="sldNum" sz="quarter" idx="5"/>
          </p:nvPr>
        </p:nvSpPr>
        <p:spPr/>
        <p:txBody>
          <a:bodyPr/>
          <a:lstStyle/>
          <a:p>
            <a:fld id="{ED5201BD-E87A-D04D-AF74-E4D0EAB348A1}" type="slidenum">
              <a:rPr lang="en-US" smtClean="0"/>
              <a:t>4</a:t>
            </a:fld>
            <a:endParaRPr lang="en-US"/>
          </a:p>
        </p:txBody>
      </p:sp>
    </p:spTree>
    <p:extLst>
      <p:ext uri="{BB962C8B-B14F-4D97-AF65-F5344CB8AC3E}">
        <p14:creationId xmlns:p14="http://schemas.microsoft.com/office/powerpoint/2010/main" val="3849692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0"/>
              <a:t>This slide is about how we have amplified human potential across the globe.</a:t>
            </a:r>
          </a:p>
          <a:p>
            <a:pPr>
              <a:buNone/>
            </a:pPr>
            <a:r>
              <a:rPr lang="en-GB" b="0"/>
              <a:t>Over the past decade, CLIMB supported 2,500 individual users in the UK.</a:t>
            </a:r>
          </a:p>
          <a:p>
            <a:pPr>
              <a:buNone/>
            </a:pPr>
            <a:r>
              <a:rPr lang="en-GB" b="0"/>
              <a:t>Through workshops and hackathons have reached 6 continents.</a:t>
            </a:r>
          </a:p>
          <a:p>
            <a:pPr>
              <a:buNone/>
            </a:pPr>
            <a:r>
              <a:rPr lang="en-GB" b="0"/>
              <a:t>The research output: these are studies that might not have been possible without CLIMB.</a:t>
            </a:r>
          </a:p>
          <a:p>
            <a:pPr>
              <a:buNone/>
            </a:pPr>
            <a:r>
              <a:rPr lang="en-GB" b="0"/>
              <a:t>£40 million - think about the multiplier effect there. Investment of £10 million over a decade has enabled at least £40 million in additional research funding.</a:t>
            </a:r>
          </a:p>
        </p:txBody>
      </p:sp>
      <p:sp>
        <p:nvSpPr>
          <p:cNvPr id="4" name="Slide Number Placeholder 3"/>
          <p:cNvSpPr>
            <a:spLocks noGrp="1"/>
          </p:cNvSpPr>
          <p:nvPr>
            <p:ph type="sldNum" sz="quarter" idx="5"/>
          </p:nvPr>
        </p:nvSpPr>
        <p:spPr/>
        <p:txBody>
          <a:bodyPr/>
          <a:lstStyle/>
          <a:p>
            <a:fld id="{ED5201BD-E87A-D04D-AF74-E4D0EAB348A1}" type="slidenum">
              <a:rPr lang="en-US" smtClean="0"/>
              <a:t>5</a:t>
            </a:fld>
            <a:endParaRPr lang="en-US"/>
          </a:p>
        </p:txBody>
      </p:sp>
    </p:spTree>
    <p:extLst>
      <p:ext uri="{BB962C8B-B14F-4D97-AF65-F5344CB8AC3E}">
        <p14:creationId xmlns:p14="http://schemas.microsoft.com/office/powerpoint/2010/main" val="997780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CLIMB acts as a trusted research environment for these initiatives:</a:t>
            </a:r>
          </a:p>
          <a:p>
            <a:endParaRPr lang="en-GB"/>
          </a:p>
          <a:p>
            <a:r>
              <a:rPr lang="en-GB"/>
              <a:t>COVID and COG-UK is where CLIMB proved it could handle national-scale challenges. 3.5 million genomes processed on CLIMB made the UK a leader in pathogen surveillance.</a:t>
            </a:r>
          </a:p>
          <a:p>
            <a:r>
              <a:rPr lang="en-GB"/>
              <a:t>Then we have </a:t>
            </a:r>
            <a:r>
              <a:rPr lang="en-GB" err="1"/>
              <a:t>mSCAPE</a:t>
            </a:r>
            <a:r>
              <a:rPr lang="en-GB"/>
              <a:t>, a UKHSA-led metagenomics initiative to pilot the use of metagenomic data for public health surveillance and pathogen analysis. </a:t>
            </a:r>
          </a:p>
          <a:p>
            <a:r>
              <a:rPr lang="en-GB"/>
              <a:t>And PATH-SAFE </a:t>
            </a:r>
            <a:r>
              <a:rPr lang="en-GB" err="1"/>
              <a:t>showwd</a:t>
            </a:r>
            <a:r>
              <a:rPr lang="en-GB"/>
              <a:t> how CLIMB can enable </a:t>
            </a:r>
            <a:r>
              <a:rPr lang="en-GB" err="1"/>
              <a:t>OneHealth</a:t>
            </a:r>
            <a:r>
              <a:rPr lang="en-GB"/>
              <a:t> approaches – This is an FSA-lead programme to track foodborne pathogens and AMR from farm to fork. </a:t>
            </a:r>
          </a:p>
          <a:p>
            <a:endParaRPr lang="en-GB"/>
          </a:p>
          <a:p>
            <a:r>
              <a:rPr lang="en-GB"/>
              <a:t>For these initiatives, CLIMB is the computational environment where health agencies, authorities and researchers can collaborate securely.</a:t>
            </a:r>
          </a:p>
        </p:txBody>
      </p:sp>
      <p:sp>
        <p:nvSpPr>
          <p:cNvPr id="4" name="Slide Number Placeholder 3"/>
          <p:cNvSpPr>
            <a:spLocks noGrp="1"/>
          </p:cNvSpPr>
          <p:nvPr>
            <p:ph type="sldNum" sz="quarter" idx="5"/>
          </p:nvPr>
        </p:nvSpPr>
        <p:spPr/>
        <p:txBody>
          <a:bodyPr/>
          <a:lstStyle/>
          <a:p>
            <a:fld id="{ED5201BD-E87A-D04D-AF74-E4D0EAB348A1}" type="slidenum">
              <a:rPr lang="en-US" smtClean="0"/>
              <a:t>6</a:t>
            </a:fld>
            <a:endParaRPr lang="en-US"/>
          </a:p>
        </p:txBody>
      </p:sp>
    </p:spTree>
    <p:extLst>
      <p:ext uri="{BB962C8B-B14F-4D97-AF65-F5344CB8AC3E}">
        <p14:creationId xmlns:p14="http://schemas.microsoft.com/office/powerpoint/2010/main" val="3683770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0"/>
              <a:t>CLIMB's impact extends beyond the UK borders.</a:t>
            </a:r>
          </a:p>
          <a:p>
            <a:pPr>
              <a:buNone/>
            </a:pPr>
            <a:r>
              <a:rPr lang="en-GB" b="0"/>
              <a:t>Bit of context: From 2019 to 2022, the African continent went from 7 countries having sequencing capacity to 31. But while laboratory capabilities have expanded rapidly, computational infrastructure hasn't kept pace.</a:t>
            </a:r>
          </a:p>
          <a:p>
            <a:pPr>
              <a:buNone/>
            </a:pPr>
            <a:r>
              <a:rPr lang="en-GB" b="0"/>
              <a:t>And this matters enormously - Africa (and LMICs in general) bear a disproportionate burden of infectious diseases. Strong genomic surveillance there is vital for global health security.</a:t>
            </a:r>
          </a:p>
          <a:p>
            <a:pPr>
              <a:buNone/>
            </a:pPr>
            <a:endParaRPr lang="en-GB" b="0"/>
          </a:p>
          <a:p>
            <a:pPr>
              <a:buNone/>
            </a:pPr>
            <a:r>
              <a:rPr lang="en-GB" b="0"/>
              <a:t>Last February, 30 leading researchers from across the African Continent gathered at MRC Gambia to develop a strategic roadmap to build sustainable capacity in Africa. They identified CLIMB as the model for what they want to build - And we have the opportunity to be technical partner and mentor for this initiative, so QIB is leader in global health development.</a:t>
            </a:r>
          </a:p>
        </p:txBody>
      </p:sp>
      <p:sp>
        <p:nvSpPr>
          <p:cNvPr id="4" name="Slide Number Placeholder 3"/>
          <p:cNvSpPr>
            <a:spLocks noGrp="1"/>
          </p:cNvSpPr>
          <p:nvPr>
            <p:ph type="sldNum" sz="quarter" idx="5"/>
          </p:nvPr>
        </p:nvSpPr>
        <p:spPr/>
        <p:txBody>
          <a:bodyPr/>
          <a:lstStyle/>
          <a:p>
            <a:fld id="{ED5201BD-E87A-D04D-AF74-E4D0EAB348A1}" type="slidenum">
              <a:rPr lang="en-US" smtClean="0"/>
              <a:t>7</a:t>
            </a:fld>
            <a:endParaRPr lang="en-US"/>
          </a:p>
        </p:txBody>
      </p:sp>
    </p:spTree>
    <p:extLst>
      <p:ext uri="{BB962C8B-B14F-4D97-AF65-F5344CB8AC3E}">
        <p14:creationId xmlns:p14="http://schemas.microsoft.com/office/powerpoint/2010/main" val="4016395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If you are a trainer and are thinking to deliver a hands-on bioinformatics workshop: what we offer </a:t>
            </a:r>
            <a:r>
              <a:rPr lang="en-GB" err="1"/>
              <a:t>Jupyter</a:t>
            </a:r>
            <a:r>
              <a:rPr lang="en-GB"/>
              <a:t> environments that can be spun up for short durations at low cost. For organisers, this means they can create pre-configured environments with all the tools, data, and workflows ready to go. Participants just click a link and are ready to go.</a:t>
            </a:r>
          </a:p>
          <a:p>
            <a:endParaRPr lang="en-GB"/>
          </a:p>
          <a:p>
            <a:r>
              <a:rPr lang="en-GB"/>
              <a:t>Researchers trained on CLIMB can became trainers themselves, in their teams or elsewhere, creating a sustainable model for capacity building that extends far beyond the original training court</a:t>
            </a:r>
          </a:p>
        </p:txBody>
      </p:sp>
      <p:sp>
        <p:nvSpPr>
          <p:cNvPr id="4" name="Slide Number Placeholder 3"/>
          <p:cNvSpPr>
            <a:spLocks noGrp="1"/>
          </p:cNvSpPr>
          <p:nvPr>
            <p:ph type="sldNum" sz="quarter" idx="5"/>
          </p:nvPr>
        </p:nvSpPr>
        <p:spPr/>
        <p:txBody>
          <a:bodyPr/>
          <a:lstStyle/>
          <a:p>
            <a:fld id="{ED5201BD-E87A-D04D-AF74-E4D0EAB348A1}" type="slidenum">
              <a:rPr lang="en-US" smtClean="0"/>
              <a:t>8</a:t>
            </a:fld>
            <a:endParaRPr lang="en-US"/>
          </a:p>
        </p:txBody>
      </p:sp>
    </p:spTree>
    <p:extLst>
      <p:ext uri="{BB962C8B-B14F-4D97-AF65-F5344CB8AC3E}">
        <p14:creationId xmlns:p14="http://schemas.microsoft.com/office/powerpoint/2010/main" val="3990617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0"/>
              <a:t>CLIMB has transitioned from a grant-dependent project to a self-sustaining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a:t>Over the past few years, users started paying to access CLIMB resources, and we closed CLIMB-BIG-DATA with enough money to operate for at least another year after the end of the grant.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a:t>The QIB is now leading CLIMB, we brough in Nick Loman at 20% capacity to lead this partnership between the QIB and the University of Birmingham (with other partners to join soon).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a:p>
          <a:p>
            <a:pPr>
              <a:buNone/>
            </a:pPr>
            <a:r>
              <a:rPr lang="en-GB" b="0"/>
              <a:t>Let’s talk about the funding landscape - there's increasingly little money available for research infrastructure and CLIMB is proving that hybrid funding models can work - and QIB is leading the way in demonstrating this new approach to sustainable infrastructure models.</a:t>
            </a:r>
          </a:p>
          <a:p>
            <a:pPr>
              <a:buNone/>
            </a:pPr>
            <a:endParaRPr lang="en-GB"/>
          </a:p>
        </p:txBody>
      </p:sp>
      <p:sp>
        <p:nvSpPr>
          <p:cNvPr id="4" name="Slide Number Placeholder 3"/>
          <p:cNvSpPr>
            <a:spLocks noGrp="1"/>
          </p:cNvSpPr>
          <p:nvPr>
            <p:ph type="sldNum" sz="quarter" idx="5"/>
          </p:nvPr>
        </p:nvSpPr>
        <p:spPr/>
        <p:txBody>
          <a:bodyPr/>
          <a:lstStyle/>
          <a:p>
            <a:fld id="{ED5201BD-E87A-D04D-AF74-E4D0EAB348A1}" type="slidenum">
              <a:rPr lang="en-US" smtClean="0"/>
              <a:t>9</a:t>
            </a:fld>
            <a:endParaRPr lang="en-US"/>
          </a:p>
        </p:txBody>
      </p:sp>
    </p:spTree>
    <p:extLst>
      <p:ext uri="{BB962C8B-B14F-4D97-AF65-F5344CB8AC3E}">
        <p14:creationId xmlns:p14="http://schemas.microsoft.com/office/powerpoint/2010/main" val="1989482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D5201BD-E87A-D04D-AF74-E4D0EAB348A1}" type="slidenum">
              <a:rPr lang="en-US" smtClean="0"/>
              <a:t>10</a:t>
            </a:fld>
            <a:endParaRPr lang="en-US"/>
          </a:p>
        </p:txBody>
      </p:sp>
    </p:spTree>
    <p:extLst>
      <p:ext uri="{BB962C8B-B14F-4D97-AF65-F5344CB8AC3E}">
        <p14:creationId xmlns:p14="http://schemas.microsoft.com/office/powerpoint/2010/main" val="471593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D5201BD-E87A-D04D-AF74-E4D0EAB348A1}" type="slidenum">
              <a:rPr lang="en-US" smtClean="0"/>
              <a:t>11</a:t>
            </a:fld>
            <a:endParaRPr lang="en-US"/>
          </a:p>
        </p:txBody>
      </p:sp>
    </p:spTree>
    <p:extLst>
      <p:ext uri="{BB962C8B-B14F-4D97-AF65-F5344CB8AC3E}">
        <p14:creationId xmlns:p14="http://schemas.microsoft.com/office/powerpoint/2010/main" val="33206023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11.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333F48"/>
        </a:solidFill>
        <a:effectLst/>
      </p:bgPr>
    </p:bg>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907453F9-8BBE-7649-947D-8FDB7F035F2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983524" y="0"/>
            <a:ext cx="5160475" cy="5143500"/>
          </a:xfrm>
          <a:prstGeom prst="rect">
            <a:avLst/>
          </a:prstGeom>
          <a:ln>
            <a:noFill/>
          </a:ln>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374578891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5"/>
        </a:solidFill>
        <a:effectLst/>
      </p:bgPr>
    </p:bg>
    <p:spTree>
      <p:nvGrpSpPr>
        <p:cNvPr id="1" name=""/>
        <p:cNvGrpSpPr/>
        <p:nvPr/>
      </p:nvGrpSpPr>
      <p:grpSpPr>
        <a:xfrm>
          <a:off x="0" y="0"/>
          <a:ext cx="0" cy="0"/>
          <a:chOff x="0" y="0"/>
          <a:chExt cx="0" cy="0"/>
        </a:xfrm>
      </p:grpSpPr>
      <p:pic>
        <p:nvPicPr>
          <p:cNvPr id="5" name="Picture 4" descr="Graphical user interface&#10;&#10;Description automatically generated">
            <a:extLst>
              <a:ext uri="{FF2B5EF4-FFF2-40B4-BE49-F238E27FC236}">
                <a16:creationId xmlns:a16="http://schemas.microsoft.com/office/drawing/2014/main" id="{F3202758-626D-BF40-8303-270644D7DB9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572001" y="1"/>
            <a:ext cx="4572000" cy="5143500"/>
          </a:xfrm>
          <a:prstGeom prst="rect">
            <a:avLst/>
          </a:prstGeom>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15400987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5"/>
        </a:solidFill>
        <a:effectLst/>
      </p:bgPr>
    </p:bg>
    <p:spTree>
      <p:nvGrpSpPr>
        <p:cNvPr id="1" name=""/>
        <p:cNvGrpSpPr/>
        <p:nvPr/>
      </p:nvGrpSpPr>
      <p:grpSpPr>
        <a:xfrm>
          <a:off x="0" y="0"/>
          <a:ext cx="0" cy="0"/>
          <a:chOff x="0" y="0"/>
          <a:chExt cx="0" cy="0"/>
        </a:xfrm>
      </p:grpSpPr>
      <p:pic>
        <p:nvPicPr>
          <p:cNvPr id="6" name="Picture 5" descr="Graphical user interface&#10;&#10;Description automatically generated">
            <a:extLst>
              <a:ext uri="{FF2B5EF4-FFF2-40B4-BE49-F238E27FC236}">
                <a16:creationId xmlns:a16="http://schemas.microsoft.com/office/drawing/2014/main" id="{F03B52D8-DBE1-F741-B44B-5FED4FF38D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171950" y="0"/>
            <a:ext cx="4972050" cy="5143500"/>
          </a:xfrm>
          <a:prstGeom prst="rect">
            <a:avLst/>
          </a:prstGeom>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318621896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5"/>
        </a:solidFill>
        <a:effectLst/>
      </p:bgPr>
    </p:bg>
    <p:spTree>
      <p:nvGrpSpPr>
        <p:cNvPr id="1" name=""/>
        <p:cNvGrpSpPr/>
        <p:nvPr/>
      </p:nvGrpSpPr>
      <p:grpSpPr>
        <a:xfrm>
          <a:off x="0" y="0"/>
          <a:ext cx="0" cy="0"/>
          <a:chOff x="0" y="0"/>
          <a:chExt cx="0" cy="0"/>
        </a:xfrm>
      </p:grpSpPr>
      <p:pic>
        <p:nvPicPr>
          <p:cNvPr id="5" name="Picture 4" descr="A picture containing text, sign&#10;&#10;Description automatically generated">
            <a:extLst>
              <a:ext uri="{FF2B5EF4-FFF2-40B4-BE49-F238E27FC236}">
                <a16:creationId xmlns:a16="http://schemas.microsoft.com/office/drawing/2014/main" id="{95B2AF04-CFF4-1A46-BF4F-D40B0DB04D2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827496" y="0"/>
            <a:ext cx="4316504" cy="5143500"/>
          </a:xfrm>
          <a:prstGeom prst="rect">
            <a:avLst/>
          </a:prstGeom>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200715860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accent5"/>
        </a:solidFill>
        <a:effectLst/>
      </p:bgPr>
    </p:bg>
    <p:spTree>
      <p:nvGrpSpPr>
        <p:cNvPr id="1" name=""/>
        <p:cNvGrpSpPr/>
        <p:nvPr/>
      </p:nvGrpSpPr>
      <p:grpSpPr>
        <a:xfrm>
          <a:off x="0" y="0"/>
          <a:ext cx="0" cy="0"/>
          <a:chOff x="0" y="0"/>
          <a:chExt cx="0" cy="0"/>
        </a:xfrm>
      </p:grpSpPr>
      <p:pic>
        <p:nvPicPr>
          <p:cNvPr id="6" name="Picture 5" descr="A picture containing text, sign&#10;&#10;Description automatically generated">
            <a:extLst>
              <a:ext uri="{FF2B5EF4-FFF2-40B4-BE49-F238E27FC236}">
                <a16:creationId xmlns:a16="http://schemas.microsoft.com/office/drawing/2014/main" id="{351CF735-6388-3F40-8BB6-C2CC60E5655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572000" y="0"/>
            <a:ext cx="4572000" cy="5143500"/>
          </a:xfrm>
          <a:prstGeom prst="rect">
            <a:avLst/>
          </a:prstGeom>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287770197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accent5"/>
        </a:solidFill>
        <a:effectLst/>
      </p:bgPr>
    </p:bg>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18BEB5A-6A7E-3343-85AD-DF6FA88FBCC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294413" y="-1"/>
            <a:ext cx="4849587" cy="5143501"/>
          </a:xfrm>
          <a:prstGeom prst="rect">
            <a:avLst/>
          </a:prstGeom>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162737102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5"/>
        </a:solidFill>
        <a:effectLst/>
      </p:bgPr>
    </p:bg>
    <p:spTree>
      <p:nvGrpSpPr>
        <p:cNvPr id="1" name=""/>
        <p:cNvGrpSpPr/>
        <p:nvPr/>
      </p:nvGrpSpPr>
      <p:grpSpPr>
        <a:xfrm>
          <a:off x="0" y="0"/>
          <a:ext cx="0" cy="0"/>
          <a:chOff x="0" y="0"/>
          <a:chExt cx="0" cy="0"/>
        </a:xfrm>
      </p:grpSpPr>
      <p:pic>
        <p:nvPicPr>
          <p:cNvPr id="6" name="Picture 5" descr="A picture containing calendar&#10;&#10;Description automatically generated">
            <a:extLst>
              <a:ext uri="{FF2B5EF4-FFF2-40B4-BE49-F238E27FC236}">
                <a16:creationId xmlns:a16="http://schemas.microsoft.com/office/drawing/2014/main" id="{F7186286-CC6B-5B40-94DE-9DF12C39A01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572000" y="1"/>
            <a:ext cx="4572000" cy="5143500"/>
          </a:xfrm>
          <a:prstGeom prst="rect">
            <a:avLst/>
          </a:prstGeom>
        </p:spPr>
      </p:pic>
      <p:sp>
        <p:nvSpPr>
          <p:cNvPr id="2" name="Title 1"/>
          <p:cNvSpPr>
            <a:spLocks noGrp="1"/>
          </p:cNvSpPr>
          <p:nvPr>
            <p:ph type="ctrTitle"/>
          </p:nvPr>
        </p:nvSpPr>
        <p:spPr>
          <a:xfrm>
            <a:off x="628650" y="444024"/>
            <a:ext cx="4767315" cy="1198145"/>
          </a:xfrm>
          <a:prstGeom prst="rect">
            <a:avLst/>
          </a:prstGeom>
        </p:spPr>
        <p:txBody>
          <a:bodyPr lIns="0" tIns="0" rIns="0" bIns="0" anchor="b" anchorCtr="0">
            <a:normAutofit/>
          </a:bodyPr>
          <a:lstStyle>
            <a:lvl1pPr algn="l">
              <a:lnSpc>
                <a:spcPts val="3200"/>
              </a:lnSpc>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628650" y="1963219"/>
            <a:ext cx="4357418" cy="489289"/>
          </a:xfrm>
          <a:prstGeom prst="rect">
            <a:avLst/>
          </a:prstGeom>
        </p:spPr>
        <p:txBody>
          <a:bodyPr lIns="0" tIns="0" rIns="0" bIns="0" anchor="t" anchorCtr="0">
            <a:normAutofit/>
          </a:bodyPr>
          <a:lstStyle>
            <a:lvl1pPr marL="0" indent="0" algn="l">
              <a:lnSpc>
                <a:spcPts val="1600"/>
              </a:lnSpc>
              <a:buNone/>
              <a:defRPr sz="14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6" name="Picture 15">
            <a:extLst>
              <a:ext uri="{FF2B5EF4-FFF2-40B4-BE49-F238E27FC236}">
                <a16:creationId xmlns:a16="http://schemas.microsoft.com/office/drawing/2014/main" id="{6B9BD300-2EE3-A240-AEEC-881EFA0D07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28650" y="3902185"/>
            <a:ext cx="1729335" cy="797291"/>
          </a:xfrm>
          <a:prstGeom prst="rect">
            <a:avLst/>
          </a:prstGeom>
        </p:spPr>
      </p:pic>
    </p:spTree>
    <p:extLst>
      <p:ext uri="{BB962C8B-B14F-4D97-AF65-F5344CB8AC3E}">
        <p14:creationId xmlns:p14="http://schemas.microsoft.com/office/powerpoint/2010/main" val="125063463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hapter Slid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B015B3-D5B0-A24E-AD1C-A0BEAFFE194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41886" t="59607" b="10751"/>
          <a:stretch/>
        </p:blipFill>
        <p:spPr>
          <a:xfrm>
            <a:off x="0" y="0"/>
            <a:ext cx="7442791" cy="5143500"/>
          </a:xfrm>
          <a:prstGeom prst="rect">
            <a:avLst/>
          </a:prstGeom>
        </p:spPr>
      </p:pic>
      <p:sp>
        <p:nvSpPr>
          <p:cNvPr id="2" name="Title 1"/>
          <p:cNvSpPr>
            <a:spLocks noGrp="1"/>
          </p:cNvSpPr>
          <p:nvPr>
            <p:ph type="ctrTitle" hasCustomPrompt="1"/>
          </p:nvPr>
        </p:nvSpPr>
        <p:spPr>
          <a:xfrm>
            <a:off x="541867" y="500063"/>
            <a:ext cx="5500687" cy="4247494"/>
          </a:xfrm>
          <a:prstGeom prst="rect">
            <a:avLst/>
          </a:prstGeom>
        </p:spPr>
        <p:txBody>
          <a:bodyPr lIns="0" tIns="0" rIns="0" bIns="0" anchor="ctr" anchorCtr="0"/>
          <a:lstStyle>
            <a:lvl1pPr algn="l">
              <a:lnSpc>
                <a:spcPts val="3200"/>
              </a:lnSpc>
              <a:defRPr sz="3000">
                <a:solidFill>
                  <a:schemeClr val="bg1"/>
                </a:solidFill>
              </a:defRPr>
            </a:lvl1pPr>
          </a:lstStyle>
          <a:p>
            <a:r>
              <a:rPr lang="en-GB"/>
              <a:t>Click to edit master title style</a:t>
            </a:r>
            <a:endParaRPr lang="en-US"/>
          </a:p>
        </p:txBody>
      </p:sp>
      <p:pic>
        <p:nvPicPr>
          <p:cNvPr id="7" name="Picture 6">
            <a:extLst>
              <a:ext uri="{FF2B5EF4-FFF2-40B4-BE49-F238E27FC236}">
                <a16:creationId xmlns:a16="http://schemas.microsoft.com/office/drawing/2014/main" id="{3AE0E18F-3337-5846-A3B8-28F7C1513B9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553001" y="4224528"/>
            <a:ext cx="1134457" cy="523029"/>
          </a:xfrm>
          <a:prstGeom prst="rect">
            <a:avLst/>
          </a:prstGeom>
        </p:spPr>
      </p:pic>
    </p:spTree>
    <p:extLst>
      <p:ext uri="{BB962C8B-B14F-4D97-AF65-F5344CB8AC3E}">
        <p14:creationId xmlns:p14="http://schemas.microsoft.com/office/powerpoint/2010/main" val="25037220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ext &amp; Image">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7ABA59C-6DE0-FC4F-B741-66C99E4B490E}"/>
              </a:ext>
            </a:extLst>
          </p:cNvPr>
          <p:cNvSpPr>
            <a:spLocks noGrp="1"/>
          </p:cNvSpPr>
          <p:nvPr>
            <p:ph type="pic" sz="quarter" idx="13"/>
          </p:nvPr>
        </p:nvSpPr>
        <p:spPr>
          <a:xfrm>
            <a:off x="5526252" y="554636"/>
            <a:ext cx="3077833" cy="3387776"/>
          </a:xfrm>
          <a:prstGeom prst="rect">
            <a:avLst/>
          </a:prstGeom>
        </p:spPr>
        <p:txBody>
          <a:bodyPr/>
          <a:lstStyle/>
          <a:p>
            <a:r>
              <a:rPr lang="en-US"/>
              <a:t>Click icon to add picture</a:t>
            </a:r>
          </a:p>
        </p:txBody>
      </p:sp>
      <p:pic>
        <p:nvPicPr>
          <p:cNvPr id="7" name="Picture 6">
            <a:extLst>
              <a:ext uri="{FF2B5EF4-FFF2-40B4-BE49-F238E27FC236}">
                <a16:creationId xmlns:a16="http://schemas.microsoft.com/office/drawing/2014/main" id="{3AE0E18F-3337-5846-A3B8-28F7C1513B9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sp>
        <p:nvSpPr>
          <p:cNvPr id="5" name="Text Placeholder 4">
            <a:extLst>
              <a:ext uri="{FF2B5EF4-FFF2-40B4-BE49-F238E27FC236}">
                <a16:creationId xmlns:a16="http://schemas.microsoft.com/office/drawing/2014/main" id="{7ABF1A74-B5BF-3D42-A4A1-9B2ABD2A6830}"/>
              </a:ext>
            </a:extLst>
          </p:cNvPr>
          <p:cNvSpPr>
            <a:spLocks noGrp="1"/>
          </p:cNvSpPr>
          <p:nvPr>
            <p:ph type="body" sz="quarter" idx="15"/>
          </p:nvPr>
        </p:nvSpPr>
        <p:spPr>
          <a:xfrm>
            <a:off x="539915" y="1436434"/>
            <a:ext cx="4446423" cy="2775802"/>
          </a:xfrm>
          <a:prstGeom prst="rect">
            <a:avLst/>
          </a:prstGeom>
        </p:spPr>
        <p:txBody>
          <a:bodyPr lIns="0" tIns="0" rIns="0" bIns="0">
            <a:normAutofit/>
          </a:bodyPr>
          <a:lstStyle>
            <a:lvl1pPr marL="0" indent="0">
              <a:buClr>
                <a:schemeClr val="bg2"/>
              </a:buClr>
              <a:buNone/>
              <a:defRPr sz="1400">
                <a:latin typeface="+mj-lt"/>
              </a:defRPr>
            </a:lvl1pPr>
            <a:lvl2pPr indent="0">
              <a:buClr>
                <a:schemeClr val="bg2"/>
              </a:buClr>
              <a:buNone/>
              <a:defRPr sz="1200">
                <a:latin typeface="+mj-lt"/>
              </a:defRPr>
            </a:lvl2pPr>
            <a:lvl3pPr indent="0">
              <a:buClr>
                <a:schemeClr val="bg2"/>
              </a:buClr>
              <a:buNone/>
              <a:defRPr sz="1100">
                <a:latin typeface="+mj-lt"/>
              </a:defRPr>
            </a:lvl3pPr>
            <a:lvl4pPr indent="0">
              <a:buClr>
                <a:schemeClr val="bg2"/>
              </a:buClr>
              <a:buNone/>
              <a:defRPr sz="1000">
                <a:latin typeface="+mj-lt"/>
              </a:defRPr>
            </a:lvl4pPr>
            <a:lvl5pPr indent="0">
              <a:buClr>
                <a:schemeClr val="bg2"/>
              </a:buClr>
              <a:buNone/>
              <a:defRPr sz="8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2196F4A6-477C-2841-A79F-613736E4B4E5}"/>
              </a:ext>
            </a:extLst>
          </p:cNvPr>
          <p:cNvSpPr>
            <a:spLocks noGrp="1"/>
          </p:cNvSpPr>
          <p:nvPr>
            <p:ph type="ctrTitle" hasCustomPrompt="1"/>
          </p:nvPr>
        </p:nvSpPr>
        <p:spPr>
          <a:xfrm>
            <a:off x="539915" y="557153"/>
            <a:ext cx="4431700" cy="273844"/>
          </a:xfrm>
          <a:prstGeom prst="rect">
            <a:avLst/>
          </a:prstGeom>
        </p:spPr>
        <p:txBody>
          <a:bodyPr lIns="0" tIns="0" rIns="0" bIns="0" anchor="t" anchorCtr="0">
            <a:normAutofit/>
          </a:bodyPr>
          <a:lstStyle>
            <a:lvl1pPr algn="l">
              <a:lnSpc>
                <a:spcPts val="2600"/>
              </a:lnSpc>
              <a:defRPr sz="2400">
                <a:solidFill>
                  <a:schemeClr val="accent5"/>
                </a:solidFill>
              </a:defRPr>
            </a:lvl1pPr>
          </a:lstStyle>
          <a:p>
            <a:r>
              <a:rPr lang="en-GB"/>
              <a:t>Click to edit master title style</a:t>
            </a:r>
            <a:endParaRPr lang="en-US"/>
          </a:p>
        </p:txBody>
      </p:sp>
      <p:sp>
        <p:nvSpPr>
          <p:cNvPr id="12" name="Subtitle 2">
            <a:extLst>
              <a:ext uri="{FF2B5EF4-FFF2-40B4-BE49-F238E27FC236}">
                <a16:creationId xmlns:a16="http://schemas.microsoft.com/office/drawing/2014/main" id="{394BDDF3-DCED-EA4F-89C3-B82BFD270515}"/>
              </a:ext>
            </a:extLst>
          </p:cNvPr>
          <p:cNvSpPr>
            <a:spLocks noGrp="1"/>
          </p:cNvSpPr>
          <p:nvPr>
            <p:ph type="subTitle" idx="1"/>
          </p:nvPr>
        </p:nvSpPr>
        <p:spPr>
          <a:xfrm>
            <a:off x="539915" y="987076"/>
            <a:ext cx="4431701" cy="273844"/>
          </a:xfrm>
          <a:prstGeom prst="rect">
            <a:avLst/>
          </a:prstGeom>
        </p:spPr>
        <p:txBody>
          <a:bodyPr lIns="0" tIns="0" rIns="0" bIns="0" anchor="t" anchorCtr="0">
            <a:normAutofit/>
          </a:bodyPr>
          <a:lstStyle>
            <a:lvl1pPr marL="0" indent="0" algn="l">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3" name="Picture 2">
            <a:extLst>
              <a:ext uri="{FF2B5EF4-FFF2-40B4-BE49-F238E27FC236}">
                <a16:creationId xmlns:a16="http://schemas.microsoft.com/office/drawing/2014/main" id="{D678BF98-6598-4C41-B9B4-42201F3F0873}"/>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12641232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mage &amp; Text">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ABF1A74-B5BF-3D42-A4A1-9B2ABD2A6830}"/>
              </a:ext>
            </a:extLst>
          </p:cNvPr>
          <p:cNvSpPr>
            <a:spLocks noGrp="1"/>
          </p:cNvSpPr>
          <p:nvPr>
            <p:ph type="body" sz="quarter" idx="15"/>
          </p:nvPr>
        </p:nvSpPr>
        <p:spPr>
          <a:xfrm>
            <a:off x="4157124" y="1409076"/>
            <a:ext cx="4444584" cy="2426834"/>
          </a:xfrm>
          <a:prstGeom prst="rect">
            <a:avLst/>
          </a:prstGeom>
        </p:spPr>
        <p:txBody>
          <a:bodyPr lIns="0" tIns="0" rIns="0" bIns="0">
            <a:normAutofit/>
          </a:bodyPr>
          <a:lstStyle>
            <a:lvl1pPr>
              <a:buClr>
                <a:schemeClr val="bg2"/>
              </a:buClr>
              <a:buNone/>
              <a:defRPr sz="1400">
                <a:latin typeface="+mj-lt"/>
              </a:defRPr>
            </a:lvl1pPr>
            <a:lvl2pPr>
              <a:buClr>
                <a:schemeClr val="bg2"/>
              </a:buClr>
              <a:buNone/>
              <a:defRPr sz="1200">
                <a:latin typeface="+mj-lt"/>
              </a:defRPr>
            </a:lvl2pPr>
            <a:lvl3pPr>
              <a:buClr>
                <a:schemeClr val="bg2"/>
              </a:buClr>
              <a:buNone/>
              <a:defRPr sz="1100">
                <a:latin typeface="+mj-lt"/>
              </a:defRPr>
            </a:lvl3pPr>
            <a:lvl4pPr>
              <a:buClr>
                <a:schemeClr val="bg2"/>
              </a:buClr>
              <a:buNone/>
              <a:defRPr sz="1000">
                <a:latin typeface="+mj-lt"/>
              </a:defRPr>
            </a:lvl4pPr>
            <a:lvl5pPr>
              <a:buClr>
                <a:schemeClr val="bg2"/>
              </a:buClr>
              <a:buNone/>
              <a:defRPr sz="8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7">
            <a:extLst>
              <a:ext uri="{FF2B5EF4-FFF2-40B4-BE49-F238E27FC236}">
                <a16:creationId xmlns:a16="http://schemas.microsoft.com/office/drawing/2014/main" id="{2A509A0F-9F34-5D43-A5C1-D0FFBBE7D395}"/>
              </a:ext>
            </a:extLst>
          </p:cNvPr>
          <p:cNvSpPr>
            <a:spLocks noGrp="1"/>
          </p:cNvSpPr>
          <p:nvPr>
            <p:ph type="pic" sz="quarter" idx="13"/>
          </p:nvPr>
        </p:nvSpPr>
        <p:spPr>
          <a:xfrm>
            <a:off x="539646" y="554635"/>
            <a:ext cx="3077833" cy="3597639"/>
          </a:xfrm>
          <a:prstGeom prst="rect">
            <a:avLst/>
          </a:prstGeom>
        </p:spPr>
        <p:txBody>
          <a:bodyPr/>
          <a:lstStyle/>
          <a:p>
            <a:r>
              <a:rPr lang="en-US"/>
              <a:t>Click icon to add picture</a:t>
            </a:r>
          </a:p>
        </p:txBody>
      </p:sp>
      <p:sp>
        <p:nvSpPr>
          <p:cNvPr id="17" name="Subtitle 2">
            <a:extLst>
              <a:ext uri="{FF2B5EF4-FFF2-40B4-BE49-F238E27FC236}">
                <a16:creationId xmlns:a16="http://schemas.microsoft.com/office/drawing/2014/main" id="{537774DE-59A9-9940-B061-6A7F1352F6A0}"/>
              </a:ext>
            </a:extLst>
          </p:cNvPr>
          <p:cNvSpPr>
            <a:spLocks noGrp="1"/>
          </p:cNvSpPr>
          <p:nvPr>
            <p:ph type="subTitle" idx="1"/>
          </p:nvPr>
        </p:nvSpPr>
        <p:spPr>
          <a:xfrm>
            <a:off x="4157124" y="987076"/>
            <a:ext cx="4444583" cy="273844"/>
          </a:xfrm>
          <a:prstGeom prst="rect">
            <a:avLst/>
          </a:prstGeom>
        </p:spPr>
        <p:txBody>
          <a:bodyPr lIns="0" tIns="0" rIns="0" bIns="0" anchor="t" anchorCtr="0">
            <a:normAutofit/>
          </a:bodyPr>
          <a:lstStyle>
            <a:lvl1pPr marL="0" indent="0" algn="l">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0" name="Title 1">
            <a:extLst>
              <a:ext uri="{FF2B5EF4-FFF2-40B4-BE49-F238E27FC236}">
                <a16:creationId xmlns:a16="http://schemas.microsoft.com/office/drawing/2014/main" id="{A954FACA-893A-D849-A9BA-A835E0FE44A6}"/>
              </a:ext>
            </a:extLst>
          </p:cNvPr>
          <p:cNvSpPr>
            <a:spLocks noGrp="1"/>
          </p:cNvSpPr>
          <p:nvPr>
            <p:ph type="title"/>
          </p:nvPr>
        </p:nvSpPr>
        <p:spPr>
          <a:xfrm>
            <a:off x="4157124" y="554634"/>
            <a:ext cx="4444584" cy="284285"/>
          </a:xfrm>
          <a:prstGeom prst="rect">
            <a:avLst/>
          </a:prstGeom>
        </p:spPr>
        <p:txBody>
          <a:bodyPr lIns="0" tIns="0" rIns="0" bIns="0">
            <a:normAutofit/>
          </a:bodyPr>
          <a:lstStyle>
            <a:lvl1pPr>
              <a:defRPr sz="2400"/>
            </a:lvl1pPr>
          </a:lstStyle>
          <a:p>
            <a:r>
              <a:rPr lang="en-US"/>
              <a:t>Click to edit Master title style</a:t>
            </a:r>
          </a:p>
        </p:txBody>
      </p:sp>
      <p:pic>
        <p:nvPicPr>
          <p:cNvPr id="8" name="Picture 7">
            <a:extLst>
              <a:ext uri="{FF2B5EF4-FFF2-40B4-BE49-F238E27FC236}">
                <a16:creationId xmlns:a16="http://schemas.microsoft.com/office/drawing/2014/main" id="{79CC2EE3-CE5B-084D-B314-66E247CD874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9" name="Picture 8">
            <a:extLst>
              <a:ext uri="{FF2B5EF4-FFF2-40B4-BE49-F238E27FC236}">
                <a16:creationId xmlns:a16="http://schemas.microsoft.com/office/drawing/2014/main" id="{B6BCC958-A8E3-2246-BB13-00BB52D8C326}"/>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3211114212"/>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Stats">
    <p:bg>
      <p:bgRef idx="1001">
        <a:schemeClr val="bg1"/>
      </p:bgRef>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2C6D25AF-4DB8-3F46-B1C2-7AFDD3E8C3F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grpSp>
        <p:nvGrpSpPr>
          <p:cNvPr id="5" name="Group 4">
            <a:extLst>
              <a:ext uri="{FF2B5EF4-FFF2-40B4-BE49-F238E27FC236}">
                <a16:creationId xmlns:a16="http://schemas.microsoft.com/office/drawing/2014/main" id="{104F8148-0BDD-0543-AEEA-149A9C6ED07A}"/>
              </a:ext>
            </a:extLst>
          </p:cNvPr>
          <p:cNvGrpSpPr/>
          <p:nvPr userDrawn="1"/>
        </p:nvGrpSpPr>
        <p:grpSpPr>
          <a:xfrm>
            <a:off x="510101" y="1835918"/>
            <a:ext cx="1515297" cy="1515149"/>
            <a:chOff x="510101" y="1835918"/>
            <a:chExt cx="1515297" cy="1515149"/>
          </a:xfrm>
        </p:grpSpPr>
        <p:sp>
          <p:nvSpPr>
            <p:cNvPr id="3" name="Rectangle 2">
              <a:extLst>
                <a:ext uri="{FF2B5EF4-FFF2-40B4-BE49-F238E27FC236}">
                  <a16:creationId xmlns:a16="http://schemas.microsoft.com/office/drawing/2014/main" id="{4B694B1C-D3E5-0445-9FBD-0ED6F86E4947}"/>
                </a:ext>
              </a:extLst>
            </p:cNvPr>
            <p:cNvSpPr/>
            <p:nvPr userDrawn="1"/>
          </p:nvSpPr>
          <p:spPr>
            <a:xfrm>
              <a:off x="510249" y="1835918"/>
              <a:ext cx="1515149" cy="15151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604A586-568C-2A4C-990E-227B2938540B}"/>
                </a:ext>
              </a:extLst>
            </p:cNvPr>
            <p:cNvSpPr/>
            <p:nvPr userDrawn="1"/>
          </p:nvSpPr>
          <p:spPr>
            <a:xfrm>
              <a:off x="510101" y="1835918"/>
              <a:ext cx="1515149" cy="552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2184254" y="557152"/>
            <a:ext cx="4775391" cy="402167"/>
          </a:xfrm>
          <a:prstGeom prst="rect">
            <a:avLst/>
          </a:prstGeom>
        </p:spPr>
        <p:txBody>
          <a:bodyPr lIns="0" tIns="0" rIns="0" bIns="0" anchor="t" anchorCtr="0">
            <a:normAutofit/>
          </a:bodyPr>
          <a:lstStyle>
            <a:lvl1pPr algn="ctr">
              <a:lnSpc>
                <a:spcPts val="2600"/>
              </a:lnSpc>
              <a:defRPr sz="2400">
                <a:solidFill>
                  <a:schemeClr val="accent5"/>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9E937977-CFFE-1246-A6D1-C7601B75C731}"/>
              </a:ext>
            </a:extLst>
          </p:cNvPr>
          <p:cNvSpPr>
            <a:spLocks noGrp="1"/>
          </p:cNvSpPr>
          <p:nvPr>
            <p:ph type="subTitle" idx="1"/>
          </p:nvPr>
        </p:nvSpPr>
        <p:spPr>
          <a:xfrm>
            <a:off x="2184254" y="987076"/>
            <a:ext cx="4775391" cy="273844"/>
          </a:xfrm>
          <a:prstGeom prst="rect">
            <a:avLst/>
          </a:prstGeom>
        </p:spPr>
        <p:txBody>
          <a:bodyPr lIns="0" tIns="0" rIns="0" bIns="0" anchor="t" anchorCtr="0">
            <a:normAutofit/>
          </a:bodyPr>
          <a:lstStyle>
            <a:lvl1pPr marL="0" indent="0" algn="ctr">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Text Placeholder 3">
            <a:extLst>
              <a:ext uri="{FF2B5EF4-FFF2-40B4-BE49-F238E27FC236}">
                <a16:creationId xmlns:a16="http://schemas.microsoft.com/office/drawing/2014/main" id="{12D56BB8-EE51-EE41-AC36-DBF694CBC133}"/>
              </a:ext>
            </a:extLst>
          </p:cNvPr>
          <p:cNvSpPr>
            <a:spLocks noGrp="1"/>
          </p:cNvSpPr>
          <p:nvPr>
            <p:ph type="body" sz="quarter" idx="10"/>
          </p:nvPr>
        </p:nvSpPr>
        <p:spPr>
          <a:xfrm>
            <a:off x="510101" y="1966070"/>
            <a:ext cx="1515149" cy="946628"/>
          </a:xfrm>
          <a:prstGeom prst="rect">
            <a:avLst/>
          </a:prstGeom>
        </p:spPr>
        <p:txBody>
          <a:bodyPr wrap="square" lIns="108000" tIns="36000" rIns="108000" bIns="0" anchor="t" anchorCtr="0">
            <a:normAutofit/>
          </a:bodyPr>
          <a:lstStyle>
            <a:lvl1pPr marL="0" indent="0" algn="ctr">
              <a:buNone/>
              <a:defRPr sz="6000" b="0">
                <a:solidFill>
                  <a:schemeClr val="bg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0558D83A-E48D-5245-8866-7C769F66C384}"/>
              </a:ext>
            </a:extLst>
          </p:cNvPr>
          <p:cNvSpPr>
            <a:spLocks noGrp="1"/>
          </p:cNvSpPr>
          <p:nvPr>
            <p:ph type="body" sz="quarter" idx="11" hasCustomPrompt="1"/>
          </p:nvPr>
        </p:nvSpPr>
        <p:spPr>
          <a:xfrm>
            <a:off x="510101" y="2694444"/>
            <a:ext cx="1515445" cy="581698"/>
          </a:xfrm>
          <a:prstGeom prst="rect">
            <a:avLst/>
          </a:prstGeom>
        </p:spPr>
        <p:txBody>
          <a:bodyPr lIns="108000" tIns="0" rIns="108000" bIns="0" anchor="t" anchorCtr="0">
            <a:normAutofit/>
          </a:bodyPr>
          <a:lstStyle>
            <a:lvl1pPr marL="0" indent="0" algn="ctr">
              <a:buNone/>
              <a:defRPr sz="1400" cap="all" baseline="0">
                <a:solidFill>
                  <a:schemeClr val="bg1"/>
                </a:solidFill>
                <a:latin typeface="+mj-lt"/>
              </a:defRPr>
            </a:lvl1pPr>
            <a:lvl2pPr>
              <a:buNone/>
              <a:defRPr/>
            </a:lvl2pPr>
            <a:lvl3pPr>
              <a:buNone/>
              <a:defRPr/>
            </a:lvl3pPr>
            <a:lvl4pPr>
              <a:buNone/>
              <a:defRPr/>
            </a:lvl4pPr>
            <a:lvl5pPr>
              <a:buNone/>
              <a:defRPr/>
            </a:lvl5pPr>
          </a:lstStyle>
          <a:p>
            <a:pPr lvl="0"/>
            <a:r>
              <a:rPr lang="en-GB"/>
              <a:t>CLICK TO EDIT MASTER TEXT STYLES</a:t>
            </a:r>
            <a:endParaRPr lang="en-US"/>
          </a:p>
        </p:txBody>
      </p:sp>
      <p:grpSp>
        <p:nvGrpSpPr>
          <p:cNvPr id="72" name="Group 71">
            <a:extLst>
              <a:ext uri="{FF2B5EF4-FFF2-40B4-BE49-F238E27FC236}">
                <a16:creationId xmlns:a16="http://schemas.microsoft.com/office/drawing/2014/main" id="{9439FE62-82C6-8349-A0DD-CB3BF9A67B4B}"/>
              </a:ext>
            </a:extLst>
          </p:cNvPr>
          <p:cNvGrpSpPr/>
          <p:nvPr userDrawn="1"/>
        </p:nvGrpSpPr>
        <p:grpSpPr>
          <a:xfrm>
            <a:off x="3814351" y="1835918"/>
            <a:ext cx="1515297" cy="1515149"/>
            <a:chOff x="510101" y="1835918"/>
            <a:chExt cx="1515297" cy="1515149"/>
          </a:xfrm>
        </p:grpSpPr>
        <p:sp>
          <p:nvSpPr>
            <p:cNvPr id="73" name="Rectangle 72">
              <a:extLst>
                <a:ext uri="{FF2B5EF4-FFF2-40B4-BE49-F238E27FC236}">
                  <a16:creationId xmlns:a16="http://schemas.microsoft.com/office/drawing/2014/main" id="{F01D8092-0B13-434A-8DA9-AF2B0BA98D5C}"/>
                </a:ext>
              </a:extLst>
            </p:cNvPr>
            <p:cNvSpPr/>
            <p:nvPr userDrawn="1"/>
          </p:nvSpPr>
          <p:spPr>
            <a:xfrm>
              <a:off x="510249" y="1835918"/>
              <a:ext cx="1515149" cy="15151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A941B11-4A6E-FD4B-A2DE-1D0797928C20}"/>
                </a:ext>
              </a:extLst>
            </p:cNvPr>
            <p:cNvSpPr/>
            <p:nvPr userDrawn="1"/>
          </p:nvSpPr>
          <p:spPr>
            <a:xfrm>
              <a:off x="510101" y="1835918"/>
              <a:ext cx="1515149" cy="552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Text Placeholder 3">
            <a:extLst>
              <a:ext uri="{FF2B5EF4-FFF2-40B4-BE49-F238E27FC236}">
                <a16:creationId xmlns:a16="http://schemas.microsoft.com/office/drawing/2014/main" id="{FC451370-C6DE-F649-B7BF-F8EEF8643001}"/>
              </a:ext>
            </a:extLst>
          </p:cNvPr>
          <p:cNvSpPr>
            <a:spLocks noGrp="1"/>
          </p:cNvSpPr>
          <p:nvPr>
            <p:ph type="body" sz="quarter" idx="12"/>
          </p:nvPr>
        </p:nvSpPr>
        <p:spPr>
          <a:xfrm>
            <a:off x="3814351" y="1966070"/>
            <a:ext cx="1515149" cy="946628"/>
          </a:xfrm>
          <a:prstGeom prst="rect">
            <a:avLst/>
          </a:prstGeom>
        </p:spPr>
        <p:txBody>
          <a:bodyPr wrap="square" lIns="108000" tIns="36000" rIns="108000" bIns="0" anchor="t" anchorCtr="0">
            <a:normAutofit/>
          </a:bodyPr>
          <a:lstStyle>
            <a:lvl1pPr marL="0" indent="0" algn="ctr">
              <a:buNone/>
              <a:defRPr sz="6000" b="0">
                <a:solidFill>
                  <a:schemeClr val="bg1"/>
                </a:solidFill>
                <a:latin typeface="+mj-lt"/>
              </a:defRPr>
            </a:lvl1pPr>
          </a:lstStyle>
          <a:p>
            <a:pPr lvl="0"/>
            <a:r>
              <a:rPr lang="en-US"/>
              <a:t>Click to edit Master text styles</a:t>
            </a:r>
          </a:p>
        </p:txBody>
      </p:sp>
      <p:sp>
        <p:nvSpPr>
          <p:cNvPr id="76" name="Text Placeholder 13">
            <a:extLst>
              <a:ext uri="{FF2B5EF4-FFF2-40B4-BE49-F238E27FC236}">
                <a16:creationId xmlns:a16="http://schemas.microsoft.com/office/drawing/2014/main" id="{5FFB7A26-381F-5949-AFFF-62930CE24BE7}"/>
              </a:ext>
            </a:extLst>
          </p:cNvPr>
          <p:cNvSpPr>
            <a:spLocks noGrp="1"/>
          </p:cNvSpPr>
          <p:nvPr>
            <p:ph type="body" sz="quarter" idx="13" hasCustomPrompt="1"/>
          </p:nvPr>
        </p:nvSpPr>
        <p:spPr>
          <a:xfrm>
            <a:off x="3814351" y="2694444"/>
            <a:ext cx="1515445" cy="581698"/>
          </a:xfrm>
          <a:prstGeom prst="rect">
            <a:avLst/>
          </a:prstGeom>
        </p:spPr>
        <p:txBody>
          <a:bodyPr lIns="108000" tIns="0" rIns="108000" bIns="0" anchor="t" anchorCtr="0">
            <a:normAutofit/>
          </a:bodyPr>
          <a:lstStyle>
            <a:lvl1pPr marL="0" indent="0" algn="ctr">
              <a:buNone/>
              <a:defRPr sz="1400" cap="all" baseline="0">
                <a:solidFill>
                  <a:schemeClr val="bg1"/>
                </a:solidFill>
                <a:latin typeface="+mj-lt"/>
              </a:defRPr>
            </a:lvl1pPr>
            <a:lvl2pPr>
              <a:buNone/>
              <a:defRPr/>
            </a:lvl2pPr>
            <a:lvl3pPr>
              <a:buNone/>
              <a:defRPr/>
            </a:lvl3pPr>
            <a:lvl4pPr>
              <a:buNone/>
              <a:defRPr/>
            </a:lvl4pPr>
            <a:lvl5pPr>
              <a:buNone/>
              <a:defRPr/>
            </a:lvl5pPr>
          </a:lstStyle>
          <a:p>
            <a:pPr lvl="0"/>
            <a:r>
              <a:rPr lang="en-GB"/>
              <a:t>CLICK TO EDIT MASTER TEXT STYLES</a:t>
            </a:r>
            <a:endParaRPr lang="en-US"/>
          </a:p>
        </p:txBody>
      </p:sp>
      <p:grpSp>
        <p:nvGrpSpPr>
          <p:cNvPr id="77" name="Group 76">
            <a:extLst>
              <a:ext uri="{FF2B5EF4-FFF2-40B4-BE49-F238E27FC236}">
                <a16:creationId xmlns:a16="http://schemas.microsoft.com/office/drawing/2014/main" id="{25D6824D-1FD2-B64F-85AE-2D19A9B11EFA}"/>
              </a:ext>
            </a:extLst>
          </p:cNvPr>
          <p:cNvGrpSpPr/>
          <p:nvPr userDrawn="1"/>
        </p:nvGrpSpPr>
        <p:grpSpPr>
          <a:xfrm>
            <a:off x="2156032" y="1835918"/>
            <a:ext cx="1515297" cy="1515149"/>
            <a:chOff x="510101" y="1835918"/>
            <a:chExt cx="1515297" cy="1515149"/>
          </a:xfrm>
        </p:grpSpPr>
        <p:sp>
          <p:nvSpPr>
            <p:cNvPr id="78" name="Rectangle 77">
              <a:extLst>
                <a:ext uri="{FF2B5EF4-FFF2-40B4-BE49-F238E27FC236}">
                  <a16:creationId xmlns:a16="http://schemas.microsoft.com/office/drawing/2014/main" id="{561E1F42-9DD8-2644-8087-49EA783DA21B}"/>
                </a:ext>
              </a:extLst>
            </p:cNvPr>
            <p:cNvSpPr/>
            <p:nvPr userDrawn="1"/>
          </p:nvSpPr>
          <p:spPr>
            <a:xfrm>
              <a:off x="510249" y="1835918"/>
              <a:ext cx="1515149" cy="15151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C202C1B6-97EF-3943-A9FF-0B51DA49EF07}"/>
                </a:ext>
              </a:extLst>
            </p:cNvPr>
            <p:cNvSpPr/>
            <p:nvPr userDrawn="1"/>
          </p:nvSpPr>
          <p:spPr>
            <a:xfrm>
              <a:off x="510101" y="1835918"/>
              <a:ext cx="1515149" cy="552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0" name="Text Placeholder 3">
            <a:extLst>
              <a:ext uri="{FF2B5EF4-FFF2-40B4-BE49-F238E27FC236}">
                <a16:creationId xmlns:a16="http://schemas.microsoft.com/office/drawing/2014/main" id="{10209BD2-72BE-094A-9845-13F3171FB3FA}"/>
              </a:ext>
            </a:extLst>
          </p:cNvPr>
          <p:cNvSpPr>
            <a:spLocks noGrp="1"/>
          </p:cNvSpPr>
          <p:nvPr>
            <p:ph type="body" sz="quarter" idx="14"/>
          </p:nvPr>
        </p:nvSpPr>
        <p:spPr>
          <a:xfrm>
            <a:off x="2156032" y="1966070"/>
            <a:ext cx="1515149" cy="946628"/>
          </a:xfrm>
          <a:prstGeom prst="rect">
            <a:avLst/>
          </a:prstGeom>
        </p:spPr>
        <p:txBody>
          <a:bodyPr wrap="square" lIns="108000" tIns="36000" rIns="108000" bIns="0" anchor="t" anchorCtr="0">
            <a:normAutofit/>
          </a:bodyPr>
          <a:lstStyle>
            <a:lvl1pPr marL="0" indent="0" algn="ctr">
              <a:buNone/>
              <a:defRPr sz="6000" b="0">
                <a:solidFill>
                  <a:schemeClr val="bg1"/>
                </a:solidFill>
                <a:latin typeface="+mj-lt"/>
              </a:defRPr>
            </a:lvl1pPr>
          </a:lstStyle>
          <a:p>
            <a:pPr lvl="0"/>
            <a:r>
              <a:rPr lang="en-US"/>
              <a:t>Click to edit Master text styles</a:t>
            </a:r>
          </a:p>
        </p:txBody>
      </p:sp>
      <p:sp>
        <p:nvSpPr>
          <p:cNvPr id="81" name="Text Placeholder 13">
            <a:extLst>
              <a:ext uri="{FF2B5EF4-FFF2-40B4-BE49-F238E27FC236}">
                <a16:creationId xmlns:a16="http://schemas.microsoft.com/office/drawing/2014/main" id="{BEDC3B6E-454C-8E41-806A-8EBB27659BA4}"/>
              </a:ext>
            </a:extLst>
          </p:cNvPr>
          <p:cNvSpPr>
            <a:spLocks noGrp="1"/>
          </p:cNvSpPr>
          <p:nvPr>
            <p:ph type="body" sz="quarter" idx="15" hasCustomPrompt="1"/>
          </p:nvPr>
        </p:nvSpPr>
        <p:spPr>
          <a:xfrm>
            <a:off x="2156032" y="2694444"/>
            <a:ext cx="1515445" cy="581698"/>
          </a:xfrm>
          <a:prstGeom prst="rect">
            <a:avLst/>
          </a:prstGeom>
        </p:spPr>
        <p:txBody>
          <a:bodyPr lIns="108000" tIns="0" rIns="108000" bIns="0" anchor="t" anchorCtr="0">
            <a:normAutofit/>
          </a:bodyPr>
          <a:lstStyle>
            <a:lvl1pPr marL="0" indent="0" algn="ctr">
              <a:buNone/>
              <a:defRPr sz="1400" cap="all" baseline="0">
                <a:solidFill>
                  <a:schemeClr val="bg1"/>
                </a:solidFill>
                <a:latin typeface="+mj-lt"/>
              </a:defRPr>
            </a:lvl1pPr>
            <a:lvl2pPr>
              <a:buNone/>
              <a:defRPr/>
            </a:lvl2pPr>
            <a:lvl3pPr>
              <a:buNone/>
              <a:defRPr/>
            </a:lvl3pPr>
            <a:lvl4pPr>
              <a:buNone/>
              <a:defRPr/>
            </a:lvl4pPr>
            <a:lvl5pPr>
              <a:buNone/>
              <a:defRPr/>
            </a:lvl5pPr>
          </a:lstStyle>
          <a:p>
            <a:pPr lvl="0"/>
            <a:r>
              <a:rPr lang="en-GB"/>
              <a:t>CLICK TO EDIT MASTER TEXT STYLES</a:t>
            </a:r>
            <a:endParaRPr lang="en-US"/>
          </a:p>
        </p:txBody>
      </p:sp>
      <p:grpSp>
        <p:nvGrpSpPr>
          <p:cNvPr id="82" name="Group 81">
            <a:extLst>
              <a:ext uri="{FF2B5EF4-FFF2-40B4-BE49-F238E27FC236}">
                <a16:creationId xmlns:a16="http://schemas.microsoft.com/office/drawing/2014/main" id="{8AD753A8-232E-EF43-93FF-CE47ACE1357E}"/>
              </a:ext>
            </a:extLst>
          </p:cNvPr>
          <p:cNvGrpSpPr/>
          <p:nvPr userDrawn="1"/>
        </p:nvGrpSpPr>
        <p:grpSpPr>
          <a:xfrm>
            <a:off x="5480418" y="1845681"/>
            <a:ext cx="1515297" cy="1515149"/>
            <a:chOff x="510101" y="1835918"/>
            <a:chExt cx="1515297" cy="1515149"/>
          </a:xfrm>
        </p:grpSpPr>
        <p:sp>
          <p:nvSpPr>
            <p:cNvPr id="83" name="Rectangle 82">
              <a:extLst>
                <a:ext uri="{FF2B5EF4-FFF2-40B4-BE49-F238E27FC236}">
                  <a16:creationId xmlns:a16="http://schemas.microsoft.com/office/drawing/2014/main" id="{B314680E-3CE5-3F41-B81F-238D85DB4F37}"/>
                </a:ext>
              </a:extLst>
            </p:cNvPr>
            <p:cNvSpPr/>
            <p:nvPr userDrawn="1"/>
          </p:nvSpPr>
          <p:spPr>
            <a:xfrm>
              <a:off x="510249" y="1835918"/>
              <a:ext cx="1515149" cy="15151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A7FBDF7-EDD4-D24B-A611-C5B677E36684}"/>
                </a:ext>
              </a:extLst>
            </p:cNvPr>
            <p:cNvSpPr/>
            <p:nvPr userDrawn="1"/>
          </p:nvSpPr>
          <p:spPr>
            <a:xfrm>
              <a:off x="510101" y="1835918"/>
              <a:ext cx="1515149" cy="552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 name="Text Placeholder 3">
            <a:extLst>
              <a:ext uri="{FF2B5EF4-FFF2-40B4-BE49-F238E27FC236}">
                <a16:creationId xmlns:a16="http://schemas.microsoft.com/office/drawing/2014/main" id="{79D9274F-2D33-7D41-B805-ACFDCA28F817}"/>
              </a:ext>
            </a:extLst>
          </p:cNvPr>
          <p:cNvSpPr>
            <a:spLocks noGrp="1"/>
          </p:cNvSpPr>
          <p:nvPr>
            <p:ph type="body" sz="quarter" idx="16"/>
          </p:nvPr>
        </p:nvSpPr>
        <p:spPr>
          <a:xfrm>
            <a:off x="5480418" y="1975833"/>
            <a:ext cx="1515149" cy="946628"/>
          </a:xfrm>
          <a:prstGeom prst="rect">
            <a:avLst/>
          </a:prstGeom>
        </p:spPr>
        <p:txBody>
          <a:bodyPr wrap="square" lIns="108000" tIns="36000" rIns="108000" bIns="0" anchor="t" anchorCtr="0">
            <a:normAutofit/>
          </a:bodyPr>
          <a:lstStyle>
            <a:lvl1pPr marL="0" indent="0" algn="ctr">
              <a:buNone/>
              <a:defRPr sz="6000" b="0">
                <a:solidFill>
                  <a:schemeClr val="bg1"/>
                </a:solidFill>
                <a:latin typeface="+mj-lt"/>
              </a:defRPr>
            </a:lvl1pPr>
          </a:lstStyle>
          <a:p>
            <a:pPr lvl="0"/>
            <a:r>
              <a:rPr lang="en-US"/>
              <a:t>Click to edit Master text styles</a:t>
            </a:r>
          </a:p>
        </p:txBody>
      </p:sp>
      <p:sp>
        <p:nvSpPr>
          <p:cNvPr id="86" name="Text Placeholder 13">
            <a:extLst>
              <a:ext uri="{FF2B5EF4-FFF2-40B4-BE49-F238E27FC236}">
                <a16:creationId xmlns:a16="http://schemas.microsoft.com/office/drawing/2014/main" id="{F0F0724E-2C86-BE44-930C-87AC902EEDBC}"/>
              </a:ext>
            </a:extLst>
          </p:cNvPr>
          <p:cNvSpPr>
            <a:spLocks noGrp="1"/>
          </p:cNvSpPr>
          <p:nvPr>
            <p:ph type="body" sz="quarter" idx="17" hasCustomPrompt="1"/>
          </p:nvPr>
        </p:nvSpPr>
        <p:spPr>
          <a:xfrm>
            <a:off x="5480418" y="2694444"/>
            <a:ext cx="1515445" cy="581698"/>
          </a:xfrm>
          <a:prstGeom prst="rect">
            <a:avLst/>
          </a:prstGeom>
        </p:spPr>
        <p:txBody>
          <a:bodyPr lIns="108000" tIns="0" rIns="108000" bIns="0" anchor="t" anchorCtr="0">
            <a:normAutofit/>
          </a:bodyPr>
          <a:lstStyle>
            <a:lvl1pPr marL="0" indent="0" algn="ctr">
              <a:buNone/>
              <a:defRPr sz="1400" cap="all" baseline="0">
                <a:solidFill>
                  <a:schemeClr val="bg1"/>
                </a:solidFill>
                <a:latin typeface="+mj-lt"/>
              </a:defRPr>
            </a:lvl1pPr>
            <a:lvl2pPr>
              <a:buNone/>
              <a:defRPr/>
            </a:lvl2pPr>
            <a:lvl3pPr>
              <a:buNone/>
              <a:defRPr/>
            </a:lvl3pPr>
            <a:lvl4pPr>
              <a:buNone/>
              <a:defRPr/>
            </a:lvl4pPr>
            <a:lvl5pPr>
              <a:buNone/>
              <a:defRPr/>
            </a:lvl5pPr>
          </a:lstStyle>
          <a:p>
            <a:pPr lvl="0"/>
            <a:r>
              <a:rPr lang="en-GB"/>
              <a:t>CLICK TO EDIT MASTER TEXT STYLES</a:t>
            </a:r>
            <a:endParaRPr lang="en-US"/>
          </a:p>
        </p:txBody>
      </p:sp>
      <p:grpSp>
        <p:nvGrpSpPr>
          <p:cNvPr id="87" name="Group 86">
            <a:extLst>
              <a:ext uri="{FF2B5EF4-FFF2-40B4-BE49-F238E27FC236}">
                <a16:creationId xmlns:a16="http://schemas.microsoft.com/office/drawing/2014/main" id="{D340E1D9-357F-834C-879D-111055E95102}"/>
              </a:ext>
            </a:extLst>
          </p:cNvPr>
          <p:cNvGrpSpPr/>
          <p:nvPr userDrawn="1"/>
        </p:nvGrpSpPr>
        <p:grpSpPr>
          <a:xfrm>
            <a:off x="7146486" y="1835918"/>
            <a:ext cx="1515297" cy="1515149"/>
            <a:chOff x="510101" y="1835918"/>
            <a:chExt cx="1515297" cy="1515149"/>
          </a:xfrm>
        </p:grpSpPr>
        <p:sp>
          <p:nvSpPr>
            <p:cNvPr id="88" name="Rectangle 87">
              <a:extLst>
                <a:ext uri="{FF2B5EF4-FFF2-40B4-BE49-F238E27FC236}">
                  <a16:creationId xmlns:a16="http://schemas.microsoft.com/office/drawing/2014/main" id="{7DC5D386-CFBC-644F-997E-72CB59A79742}"/>
                </a:ext>
              </a:extLst>
            </p:cNvPr>
            <p:cNvSpPr/>
            <p:nvPr userDrawn="1"/>
          </p:nvSpPr>
          <p:spPr>
            <a:xfrm>
              <a:off x="510249" y="1835918"/>
              <a:ext cx="1515149" cy="15151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9B6CB9AE-E3F9-A041-9E0A-6DC9CCC88D77}"/>
                </a:ext>
              </a:extLst>
            </p:cNvPr>
            <p:cNvSpPr/>
            <p:nvPr userDrawn="1"/>
          </p:nvSpPr>
          <p:spPr>
            <a:xfrm>
              <a:off x="510101" y="1835918"/>
              <a:ext cx="1515149" cy="552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0" name="Text Placeholder 3">
            <a:extLst>
              <a:ext uri="{FF2B5EF4-FFF2-40B4-BE49-F238E27FC236}">
                <a16:creationId xmlns:a16="http://schemas.microsoft.com/office/drawing/2014/main" id="{3D9C2CE9-9336-9448-9A85-EDDE698F1F1D}"/>
              </a:ext>
            </a:extLst>
          </p:cNvPr>
          <p:cNvSpPr>
            <a:spLocks noGrp="1"/>
          </p:cNvSpPr>
          <p:nvPr>
            <p:ph type="body" sz="quarter" idx="18"/>
          </p:nvPr>
        </p:nvSpPr>
        <p:spPr>
          <a:xfrm>
            <a:off x="7146486" y="1966070"/>
            <a:ext cx="1515149" cy="946628"/>
          </a:xfrm>
          <a:prstGeom prst="rect">
            <a:avLst/>
          </a:prstGeom>
        </p:spPr>
        <p:txBody>
          <a:bodyPr wrap="square" lIns="108000" tIns="36000" rIns="108000" bIns="0" anchor="t" anchorCtr="0">
            <a:normAutofit/>
          </a:bodyPr>
          <a:lstStyle>
            <a:lvl1pPr marL="0" indent="0" algn="ctr">
              <a:buNone/>
              <a:defRPr sz="6000" b="0">
                <a:solidFill>
                  <a:schemeClr val="bg1"/>
                </a:solidFill>
                <a:latin typeface="+mj-lt"/>
              </a:defRPr>
            </a:lvl1pPr>
          </a:lstStyle>
          <a:p>
            <a:pPr lvl="0"/>
            <a:r>
              <a:rPr lang="en-US"/>
              <a:t>Click to edit Master text styles</a:t>
            </a:r>
          </a:p>
        </p:txBody>
      </p:sp>
      <p:sp>
        <p:nvSpPr>
          <p:cNvPr id="91" name="Text Placeholder 13">
            <a:extLst>
              <a:ext uri="{FF2B5EF4-FFF2-40B4-BE49-F238E27FC236}">
                <a16:creationId xmlns:a16="http://schemas.microsoft.com/office/drawing/2014/main" id="{BFBE17FB-EDF7-8E42-8CC6-3F36D846BBEF}"/>
              </a:ext>
            </a:extLst>
          </p:cNvPr>
          <p:cNvSpPr>
            <a:spLocks noGrp="1"/>
          </p:cNvSpPr>
          <p:nvPr>
            <p:ph type="body" sz="quarter" idx="19" hasCustomPrompt="1"/>
          </p:nvPr>
        </p:nvSpPr>
        <p:spPr>
          <a:xfrm>
            <a:off x="7146486" y="2694444"/>
            <a:ext cx="1515445" cy="581698"/>
          </a:xfrm>
          <a:prstGeom prst="rect">
            <a:avLst/>
          </a:prstGeom>
        </p:spPr>
        <p:txBody>
          <a:bodyPr lIns="108000" tIns="0" rIns="108000" bIns="0" anchor="t" anchorCtr="0">
            <a:normAutofit/>
          </a:bodyPr>
          <a:lstStyle>
            <a:lvl1pPr marL="0" indent="0" algn="ctr">
              <a:buNone/>
              <a:defRPr sz="1400" cap="all" baseline="0">
                <a:solidFill>
                  <a:schemeClr val="bg1"/>
                </a:solidFill>
                <a:latin typeface="+mj-lt"/>
              </a:defRPr>
            </a:lvl1pPr>
            <a:lvl2pPr>
              <a:buNone/>
              <a:defRPr/>
            </a:lvl2pPr>
            <a:lvl3pPr>
              <a:buNone/>
              <a:defRPr/>
            </a:lvl3pPr>
            <a:lvl4pPr>
              <a:buNone/>
              <a:defRPr/>
            </a:lvl4pPr>
            <a:lvl5pPr>
              <a:buNone/>
              <a:defRPr/>
            </a:lvl5pPr>
          </a:lstStyle>
          <a:p>
            <a:pPr lvl="0"/>
            <a:r>
              <a:rPr lang="en-GB"/>
              <a:t>CLICK TO EDIT MASTER TEXT STYLES</a:t>
            </a:r>
            <a:endParaRPr lang="en-US"/>
          </a:p>
        </p:txBody>
      </p:sp>
      <p:pic>
        <p:nvPicPr>
          <p:cNvPr id="33" name="Picture 32">
            <a:extLst>
              <a:ext uri="{FF2B5EF4-FFF2-40B4-BE49-F238E27FC236}">
                <a16:creationId xmlns:a16="http://schemas.microsoft.com/office/drawing/2014/main" id="{B4F42A9A-6597-E348-A34B-59E841A5826C}"/>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329858750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Statement Slide">
    <p:bg>
      <p:bgPr>
        <a:solidFill>
          <a:schemeClr val="accent5"/>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D55D16-9CD5-5A49-86C0-3488879A82A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51049" t="63160" b="11871"/>
          <a:stretch/>
        </p:blipFill>
        <p:spPr>
          <a:xfrm>
            <a:off x="-1" y="0"/>
            <a:ext cx="7442791" cy="5143500"/>
          </a:xfrm>
          <a:prstGeom prst="rect">
            <a:avLst/>
          </a:prstGeom>
        </p:spPr>
      </p:pic>
      <p:sp>
        <p:nvSpPr>
          <p:cNvPr id="2" name="Title 1"/>
          <p:cNvSpPr>
            <a:spLocks noGrp="1"/>
          </p:cNvSpPr>
          <p:nvPr>
            <p:ph type="ctrTitle" hasCustomPrompt="1"/>
          </p:nvPr>
        </p:nvSpPr>
        <p:spPr>
          <a:xfrm>
            <a:off x="541867" y="500063"/>
            <a:ext cx="5500687" cy="4247494"/>
          </a:xfrm>
          <a:prstGeom prst="rect">
            <a:avLst/>
          </a:prstGeom>
        </p:spPr>
        <p:txBody>
          <a:bodyPr lIns="0" tIns="0" rIns="0" bIns="0" anchor="ctr" anchorCtr="0"/>
          <a:lstStyle>
            <a:lvl1pPr algn="l">
              <a:lnSpc>
                <a:spcPts val="3200"/>
              </a:lnSpc>
              <a:defRPr sz="3000">
                <a:solidFill>
                  <a:schemeClr val="accent5"/>
                </a:solidFill>
              </a:defRPr>
            </a:lvl1pPr>
          </a:lstStyle>
          <a:p>
            <a:r>
              <a:rPr lang="en-GB"/>
              <a:t>Click to edit master title style</a:t>
            </a:r>
            <a:endParaRPr lang="en-US"/>
          </a:p>
        </p:txBody>
      </p:sp>
      <p:pic>
        <p:nvPicPr>
          <p:cNvPr id="8" name="Picture 7">
            <a:extLst>
              <a:ext uri="{FF2B5EF4-FFF2-40B4-BE49-F238E27FC236}">
                <a16:creationId xmlns:a16="http://schemas.microsoft.com/office/drawing/2014/main" id="{4DA558A3-A3C5-634E-B09E-0EA8BF5EFCE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553001" y="4224528"/>
            <a:ext cx="1134457" cy="523029"/>
          </a:xfrm>
          <a:prstGeom prst="rect">
            <a:avLst/>
          </a:prstGeom>
        </p:spPr>
      </p:pic>
    </p:spTree>
    <p:extLst>
      <p:ext uri="{BB962C8B-B14F-4D97-AF65-F5344CB8AC3E}">
        <p14:creationId xmlns:p14="http://schemas.microsoft.com/office/powerpoint/2010/main" val="299277880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Heavy Text">
    <p:bg>
      <p:bgRef idx="1001">
        <a:schemeClr val="bg1"/>
      </p:bgRef>
    </p:bg>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16604CA4-4E47-1047-BDC1-189DC6CDD5BF}"/>
              </a:ext>
            </a:extLst>
          </p:cNvPr>
          <p:cNvSpPr>
            <a:spLocks noGrp="1"/>
          </p:cNvSpPr>
          <p:nvPr>
            <p:ph type="body" sz="quarter" idx="15" hasCustomPrompt="1"/>
          </p:nvPr>
        </p:nvSpPr>
        <p:spPr>
          <a:xfrm>
            <a:off x="539916" y="1436434"/>
            <a:ext cx="8079151" cy="2775802"/>
          </a:xfrm>
          <a:prstGeom prst="rect">
            <a:avLst/>
          </a:prstGeom>
        </p:spPr>
        <p:txBody>
          <a:bodyPr lIns="0" tIns="0" rIns="0" bIns="0" numCol="1" spcCol="360000">
            <a:normAutofit/>
          </a:bodyPr>
          <a:lstStyle>
            <a:lvl1pPr>
              <a:lnSpc>
                <a:spcPct val="150000"/>
              </a:lnSpc>
              <a:buClr>
                <a:schemeClr val="bg2"/>
              </a:buClr>
              <a:buNone/>
              <a:defRPr sz="1400">
                <a:latin typeface="+mj-lt"/>
              </a:defRPr>
            </a:lvl1pPr>
            <a:lvl2pPr>
              <a:lnSpc>
                <a:spcPct val="150000"/>
              </a:lnSpc>
              <a:buClr>
                <a:schemeClr val="bg2"/>
              </a:buClr>
              <a:buNone/>
              <a:defRPr sz="1200">
                <a:latin typeface="+mj-lt"/>
              </a:defRPr>
            </a:lvl2pPr>
            <a:lvl3pPr>
              <a:lnSpc>
                <a:spcPct val="150000"/>
              </a:lnSpc>
              <a:buClr>
                <a:schemeClr val="bg2"/>
              </a:buClr>
              <a:buNone/>
              <a:defRPr sz="1100">
                <a:latin typeface="+mj-lt"/>
              </a:defRPr>
            </a:lvl3pPr>
            <a:lvl4pPr>
              <a:lnSpc>
                <a:spcPct val="150000"/>
              </a:lnSpc>
              <a:buClr>
                <a:schemeClr val="bg2"/>
              </a:buClr>
              <a:buNone/>
              <a:defRPr sz="1000">
                <a:latin typeface="+mj-lt"/>
              </a:defRPr>
            </a:lvl4pPr>
            <a:lvl5pPr>
              <a:lnSpc>
                <a:spcPct val="150000"/>
              </a:lnSpc>
              <a:buClr>
                <a:schemeClr val="bg2"/>
              </a:buClr>
              <a:buNone/>
              <a:defRPr sz="800">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itle 1">
            <a:extLst>
              <a:ext uri="{FF2B5EF4-FFF2-40B4-BE49-F238E27FC236}">
                <a16:creationId xmlns:a16="http://schemas.microsoft.com/office/drawing/2014/main" id="{BD2D56D5-8860-D848-A197-7DA9A378E204}"/>
              </a:ext>
            </a:extLst>
          </p:cNvPr>
          <p:cNvSpPr>
            <a:spLocks noGrp="1"/>
          </p:cNvSpPr>
          <p:nvPr>
            <p:ph type="ctrTitle" hasCustomPrompt="1"/>
          </p:nvPr>
        </p:nvSpPr>
        <p:spPr>
          <a:xfrm>
            <a:off x="539914" y="557153"/>
            <a:ext cx="8079151" cy="273844"/>
          </a:xfrm>
          <a:prstGeom prst="rect">
            <a:avLst/>
          </a:prstGeom>
        </p:spPr>
        <p:txBody>
          <a:bodyPr lIns="0" tIns="0" rIns="0" bIns="0" anchor="t" anchorCtr="0">
            <a:normAutofit/>
          </a:bodyPr>
          <a:lstStyle>
            <a:lvl1pPr algn="l">
              <a:lnSpc>
                <a:spcPts val="2600"/>
              </a:lnSpc>
              <a:defRPr sz="2400">
                <a:solidFill>
                  <a:schemeClr val="accent5"/>
                </a:solidFill>
              </a:defRPr>
            </a:lvl1pPr>
          </a:lstStyle>
          <a:p>
            <a:r>
              <a:rPr lang="en-GB"/>
              <a:t>Click to edit master title style</a:t>
            </a:r>
            <a:endParaRPr lang="en-US"/>
          </a:p>
        </p:txBody>
      </p:sp>
      <p:sp>
        <p:nvSpPr>
          <p:cNvPr id="12" name="Subtitle 2">
            <a:extLst>
              <a:ext uri="{FF2B5EF4-FFF2-40B4-BE49-F238E27FC236}">
                <a16:creationId xmlns:a16="http://schemas.microsoft.com/office/drawing/2014/main" id="{2E5499AE-7498-9844-80D9-AD2E93FEFF6B}"/>
              </a:ext>
            </a:extLst>
          </p:cNvPr>
          <p:cNvSpPr>
            <a:spLocks noGrp="1"/>
          </p:cNvSpPr>
          <p:nvPr>
            <p:ph type="subTitle" idx="1"/>
          </p:nvPr>
        </p:nvSpPr>
        <p:spPr>
          <a:xfrm>
            <a:off x="539915" y="987076"/>
            <a:ext cx="8079153" cy="273844"/>
          </a:xfrm>
          <a:prstGeom prst="rect">
            <a:avLst/>
          </a:prstGeom>
        </p:spPr>
        <p:txBody>
          <a:bodyPr lIns="0" tIns="0" rIns="0" bIns="0" anchor="t" anchorCtr="0">
            <a:normAutofit/>
          </a:bodyPr>
          <a:lstStyle>
            <a:lvl1pPr marL="0" indent="0" algn="l">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8" name="Picture 7">
            <a:extLst>
              <a:ext uri="{FF2B5EF4-FFF2-40B4-BE49-F238E27FC236}">
                <a16:creationId xmlns:a16="http://schemas.microsoft.com/office/drawing/2014/main" id="{7410A026-A710-E040-8080-353A1DA9641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7" name="Picture 6">
            <a:extLst>
              <a:ext uri="{FF2B5EF4-FFF2-40B4-BE49-F238E27FC236}">
                <a16:creationId xmlns:a16="http://schemas.microsoft.com/office/drawing/2014/main" id="{C9BCDBA3-B06B-8442-9A2D-C85FF2663F4C}"/>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25397872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Pull Out Slide">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6B9F8C-C92C-9A4C-BE34-E4EEBD21DCA4}"/>
              </a:ext>
            </a:extLst>
          </p:cNvPr>
          <p:cNvSpPr>
            <a:spLocks noGrp="1"/>
          </p:cNvSpPr>
          <p:nvPr>
            <p:ph type="ctrTitle" hasCustomPrompt="1"/>
          </p:nvPr>
        </p:nvSpPr>
        <p:spPr>
          <a:xfrm>
            <a:off x="539915" y="557153"/>
            <a:ext cx="4431700" cy="273844"/>
          </a:xfrm>
          <a:prstGeom prst="rect">
            <a:avLst/>
          </a:prstGeom>
        </p:spPr>
        <p:txBody>
          <a:bodyPr lIns="0" tIns="0" rIns="0" bIns="0" anchor="t" anchorCtr="0">
            <a:normAutofit/>
          </a:bodyPr>
          <a:lstStyle>
            <a:lvl1pPr algn="l">
              <a:lnSpc>
                <a:spcPts val="2600"/>
              </a:lnSpc>
              <a:defRPr sz="2400">
                <a:solidFill>
                  <a:schemeClr val="accent5"/>
                </a:solidFill>
              </a:defRPr>
            </a:lvl1pPr>
          </a:lstStyle>
          <a:p>
            <a:r>
              <a:rPr lang="en-GB"/>
              <a:t>Click to edit master title style</a:t>
            </a:r>
            <a:endParaRPr lang="en-US"/>
          </a:p>
        </p:txBody>
      </p:sp>
      <p:sp>
        <p:nvSpPr>
          <p:cNvPr id="14" name="Subtitle 2">
            <a:extLst>
              <a:ext uri="{FF2B5EF4-FFF2-40B4-BE49-F238E27FC236}">
                <a16:creationId xmlns:a16="http://schemas.microsoft.com/office/drawing/2014/main" id="{6D91A3FE-22F3-FE40-A954-17C5E2F9F362}"/>
              </a:ext>
            </a:extLst>
          </p:cNvPr>
          <p:cNvSpPr>
            <a:spLocks noGrp="1"/>
          </p:cNvSpPr>
          <p:nvPr>
            <p:ph type="subTitle" idx="1"/>
          </p:nvPr>
        </p:nvSpPr>
        <p:spPr>
          <a:xfrm>
            <a:off x="539915" y="987076"/>
            <a:ext cx="4431701" cy="273844"/>
          </a:xfrm>
          <a:prstGeom prst="rect">
            <a:avLst/>
          </a:prstGeom>
        </p:spPr>
        <p:txBody>
          <a:bodyPr lIns="0" tIns="0" rIns="0" bIns="0" anchor="t" anchorCtr="0">
            <a:normAutofit/>
          </a:bodyPr>
          <a:lstStyle>
            <a:lvl1pPr marL="0" indent="0" algn="l">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5" name="Text Placeholder 4">
            <a:extLst>
              <a:ext uri="{FF2B5EF4-FFF2-40B4-BE49-F238E27FC236}">
                <a16:creationId xmlns:a16="http://schemas.microsoft.com/office/drawing/2014/main" id="{B63DF57F-7028-2343-9F2E-BF862A78A551}"/>
              </a:ext>
            </a:extLst>
          </p:cNvPr>
          <p:cNvSpPr>
            <a:spLocks noGrp="1"/>
          </p:cNvSpPr>
          <p:nvPr>
            <p:ph type="body" sz="quarter" idx="16" hasCustomPrompt="1"/>
          </p:nvPr>
        </p:nvSpPr>
        <p:spPr>
          <a:xfrm>
            <a:off x="539915" y="1436434"/>
            <a:ext cx="8109116" cy="2775802"/>
          </a:xfrm>
          <a:prstGeom prst="rect">
            <a:avLst/>
          </a:prstGeom>
        </p:spPr>
        <p:txBody>
          <a:bodyPr lIns="0" tIns="0" rIns="0" bIns="0" numCol="1" spcCol="360000">
            <a:normAutofit/>
          </a:bodyPr>
          <a:lstStyle>
            <a:lvl1pPr>
              <a:lnSpc>
                <a:spcPct val="150000"/>
              </a:lnSpc>
              <a:buClr>
                <a:schemeClr val="bg2"/>
              </a:buClr>
              <a:buFont typeface="Arial" panose="020B0604020202020204" pitchFamily="34" charset="0"/>
              <a:buChar char="•"/>
              <a:defRPr sz="1600">
                <a:latin typeface="+mj-lt"/>
              </a:defRPr>
            </a:lvl1pPr>
            <a:lvl2pPr>
              <a:lnSpc>
                <a:spcPct val="150000"/>
              </a:lnSpc>
              <a:buClr>
                <a:schemeClr val="bg2"/>
              </a:buClr>
              <a:buFont typeface="Arial" panose="020B0604020202020204" pitchFamily="34" charset="0"/>
              <a:buChar char="•"/>
              <a:defRPr sz="1600">
                <a:latin typeface="+mj-lt"/>
              </a:defRPr>
            </a:lvl2pPr>
            <a:lvl3pPr>
              <a:lnSpc>
                <a:spcPct val="150000"/>
              </a:lnSpc>
              <a:buClr>
                <a:schemeClr val="bg2"/>
              </a:buClr>
              <a:buFont typeface="Arial" panose="020B0604020202020204" pitchFamily="34" charset="0"/>
              <a:buChar char="•"/>
              <a:defRPr sz="1600">
                <a:latin typeface="+mj-lt"/>
              </a:defRPr>
            </a:lvl3pPr>
            <a:lvl4pPr>
              <a:lnSpc>
                <a:spcPct val="150000"/>
              </a:lnSpc>
              <a:buClr>
                <a:schemeClr val="bg2"/>
              </a:buClr>
              <a:buFont typeface="Arial" panose="020B0604020202020204" pitchFamily="34" charset="0"/>
              <a:buChar char="•"/>
              <a:defRPr sz="1600">
                <a:latin typeface="+mj-lt"/>
              </a:defRPr>
            </a:lvl4pPr>
            <a:lvl5pPr>
              <a:lnSpc>
                <a:spcPct val="150000"/>
              </a:lnSpc>
              <a:buClr>
                <a:schemeClr val="bg2"/>
              </a:buClr>
              <a:buFont typeface="Arial" panose="020B0604020202020204" pitchFamily="34" charset="0"/>
              <a:buChar char="•"/>
              <a:defRPr sz="1600">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8" name="Picture 7">
            <a:extLst>
              <a:ext uri="{FF2B5EF4-FFF2-40B4-BE49-F238E27FC236}">
                <a16:creationId xmlns:a16="http://schemas.microsoft.com/office/drawing/2014/main" id="{1EA49A3D-3F53-1549-BD81-76E76B2100D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7" name="Picture 6">
            <a:extLst>
              <a:ext uri="{FF2B5EF4-FFF2-40B4-BE49-F238E27FC236}">
                <a16:creationId xmlns:a16="http://schemas.microsoft.com/office/drawing/2014/main" id="{05764A10-37E6-8F49-858D-E0F161F1E1BF}"/>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26611352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Pull out and Image Slide">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7ABA59C-6DE0-FC4F-B741-66C99E4B490E}"/>
              </a:ext>
            </a:extLst>
          </p:cNvPr>
          <p:cNvSpPr>
            <a:spLocks noGrp="1"/>
          </p:cNvSpPr>
          <p:nvPr>
            <p:ph type="pic" sz="quarter" idx="13"/>
          </p:nvPr>
        </p:nvSpPr>
        <p:spPr>
          <a:xfrm>
            <a:off x="5526252" y="554636"/>
            <a:ext cx="3077833" cy="3387776"/>
          </a:xfrm>
          <a:prstGeom prst="rect">
            <a:avLst/>
          </a:prstGeom>
        </p:spPr>
        <p:txBody>
          <a:bodyPr/>
          <a:lstStyle/>
          <a:p>
            <a:r>
              <a:rPr lang="en-US"/>
              <a:t>Click icon to add picture</a:t>
            </a:r>
          </a:p>
        </p:txBody>
      </p:sp>
      <p:sp>
        <p:nvSpPr>
          <p:cNvPr id="13" name="Title 1">
            <a:extLst>
              <a:ext uri="{FF2B5EF4-FFF2-40B4-BE49-F238E27FC236}">
                <a16:creationId xmlns:a16="http://schemas.microsoft.com/office/drawing/2014/main" id="{20FE44AE-D1CC-824F-9AC5-DCD8635E4667}"/>
              </a:ext>
            </a:extLst>
          </p:cNvPr>
          <p:cNvSpPr>
            <a:spLocks noGrp="1"/>
          </p:cNvSpPr>
          <p:nvPr>
            <p:ph type="ctrTitle" hasCustomPrompt="1"/>
          </p:nvPr>
        </p:nvSpPr>
        <p:spPr>
          <a:xfrm>
            <a:off x="539915" y="557153"/>
            <a:ext cx="4431700" cy="273844"/>
          </a:xfrm>
          <a:prstGeom prst="rect">
            <a:avLst/>
          </a:prstGeom>
        </p:spPr>
        <p:txBody>
          <a:bodyPr lIns="0" tIns="0" rIns="0" bIns="0" anchor="t" anchorCtr="0">
            <a:normAutofit/>
          </a:bodyPr>
          <a:lstStyle>
            <a:lvl1pPr algn="l">
              <a:lnSpc>
                <a:spcPts val="2600"/>
              </a:lnSpc>
              <a:defRPr sz="2400">
                <a:solidFill>
                  <a:schemeClr val="accent5"/>
                </a:solidFill>
              </a:defRPr>
            </a:lvl1pPr>
          </a:lstStyle>
          <a:p>
            <a:r>
              <a:rPr lang="en-GB"/>
              <a:t>Click to edit master title style</a:t>
            </a:r>
            <a:endParaRPr lang="en-US"/>
          </a:p>
        </p:txBody>
      </p:sp>
      <p:sp>
        <p:nvSpPr>
          <p:cNvPr id="14" name="Subtitle 2">
            <a:extLst>
              <a:ext uri="{FF2B5EF4-FFF2-40B4-BE49-F238E27FC236}">
                <a16:creationId xmlns:a16="http://schemas.microsoft.com/office/drawing/2014/main" id="{FCFEDC5F-D89F-9C4C-81D6-7947AEB14244}"/>
              </a:ext>
            </a:extLst>
          </p:cNvPr>
          <p:cNvSpPr>
            <a:spLocks noGrp="1"/>
          </p:cNvSpPr>
          <p:nvPr>
            <p:ph type="subTitle" idx="1"/>
          </p:nvPr>
        </p:nvSpPr>
        <p:spPr>
          <a:xfrm>
            <a:off x="539915" y="987076"/>
            <a:ext cx="4431701" cy="273844"/>
          </a:xfrm>
          <a:prstGeom prst="rect">
            <a:avLst/>
          </a:prstGeom>
        </p:spPr>
        <p:txBody>
          <a:bodyPr lIns="0" tIns="0" rIns="0" bIns="0" anchor="t" anchorCtr="0">
            <a:normAutofit/>
          </a:bodyPr>
          <a:lstStyle>
            <a:lvl1pPr marL="0" indent="0" algn="l">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6" name="Text Placeholder 4">
            <a:extLst>
              <a:ext uri="{FF2B5EF4-FFF2-40B4-BE49-F238E27FC236}">
                <a16:creationId xmlns:a16="http://schemas.microsoft.com/office/drawing/2014/main" id="{E3D2C18D-64F9-6D40-8EAF-98AAD5FA35DF}"/>
              </a:ext>
            </a:extLst>
          </p:cNvPr>
          <p:cNvSpPr>
            <a:spLocks noGrp="1"/>
          </p:cNvSpPr>
          <p:nvPr>
            <p:ph type="body" sz="quarter" idx="16"/>
          </p:nvPr>
        </p:nvSpPr>
        <p:spPr>
          <a:xfrm>
            <a:off x="539915" y="1436434"/>
            <a:ext cx="4431700" cy="2775802"/>
          </a:xfrm>
          <a:prstGeom prst="rect">
            <a:avLst/>
          </a:prstGeom>
        </p:spPr>
        <p:txBody>
          <a:bodyPr lIns="0" tIns="0" rIns="0" bIns="0" numCol="1" spcCol="360000">
            <a:normAutofit/>
          </a:bodyPr>
          <a:lstStyle>
            <a:lvl1pPr>
              <a:lnSpc>
                <a:spcPct val="150000"/>
              </a:lnSpc>
              <a:buClr>
                <a:schemeClr val="bg2"/>
              </a:buClr>
              <a:buFont typeface="Arial" panose="020B0604020202020204" pitchFamily="34" charset="0"/>
              <a:buChar char="•"/>
              <a:defRPr sz="1600">
                <a:latin typeface="+mj-lt"/>
              </a:defRPr>
            </a:lvl1pPr>
            <a:lvl2pPr>
              <a:lnSpc>
                <a:spcPct val="150000"/>
              </a:lnSpc>
              <a:buClr>
                <a:schemeClr val="bg2"/>
              </a:buClr>
              <a:buFont typeface="Arial" panose="020B0604020202020204" pitchFamily="34" charset="0"/>
              <a:buChar char="•"/>
              <a:defRPr sz="1600">
                <a:latin typeface="+mj-lt"/>
              </a:defRPr>
            </a:lvl2pPr>
            <a:lvl3pPr>
              <a:lnSpc>
                <a:spcPct val="150000"/>
              </a:lnSpc>
              <a:buClr>
                <a:schemeClr val="bg2"/>
              </a:buClr>
              <a:buFont typeface="Arial" panose="020B0604020202020204" pitchFamily="34" charset="0"/>
              <a:buChar char="•"/>
              <a:defRPr sz="1600">
                <a:latin typeface="+mj-lt"/>
              </a:defRPr>
            </a:lvl3pPr>
            <a:lvl4pPr>
              <a:lnSpc>
                <a:spcPct val="150000"/>
              </a:lnSpc>
              <a:buClr>
                <a:schemeClr val="bg2"/>
              </a:buClr>
              <a:buFont typeface="Arial" panose="020B0604020202020204" pitchFamily="34" charset="0"/>
              <a:buChar char="•"/>
              <a:defRPr sz="1600">
                <a:latin typeface="+mj-lt"/>
              </a:defRPr>
            </a:lvl4pPr>
            <a:lvl5pPr>
              <a:lnSpc>
                <a:spcPct val="150000"/>
              </a:lnSpc>
              <a:buClr>
                <a:schemeClr val="bg2"/>
              </a:buClr>
              <a:buFont typeface="Arial" panose="020B0604020202020204" pitchFamily="34" charset="0"/>
              <a:buChar char="•"/>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0679D0B0-3821-AC44-A256-1A20892361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9" name="Picture 8">
            <a:extLst>
              <a:ext uri="{FF2B5EF4-FFF2-40B4-BE49-F238E27FC236}">
                <a16:creationId xmlns:a16="http://schemas.microsoft.com/office/drawing/2014/main" id="{440CB0A3-BD0B-4749-8420-A3A8BAAB444F}"/>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64376923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Profile Slide">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60407E-8034-8541-A28B-94B25A4538B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6157" t="73376" r="-12078" b="-2688"/>
          <a:stretch/>
        </p:blipFill>
        <p:spPr>
          <a:xfrm>
            <a:off x="0" y="0"/>
            <a:ext cx="7468086" cy="2831444"/>
          </a:xfrm>
          <a:prstGeom prst="rect">
            <a:avLst/>
          </a:prstGeom>
        </p:spPr>
      </p:pic>
      <p:sp>
        <p:nvSpPr>
          <p:cNvPr id="5" name="Text Placeholder 4">
            <a:extLst>
              <a:ext uri="{FF2B5EF4-FFF2-40B4-BE49-F238E27FC236}">
                <a16:creationId xmlns:a16="http://schemas.microsoft.com/office/drawing/2014/main" id="{7ABF1A74-B5BF-3D42-A4A1-9B2ABD2A6830}"/>
              </a:ext>
            </a:extLst>
          </p:cNvPr>
          <p:cNvSpPr>
            <a:spLocks noGrp="1"/>
          </p:cNvSpPr>
          <p:nvPr>
            <p:ph type="body" sz="quarter" idx="15"/>
          </p:nvPr>
        </p:nvSpPr>
        <p:spPr>
          <a:xfrm>
            <a:off x="2133339" y="2602349"/>
            <a:ext cx="2667261" cy="1606418"/>
          </a:xfrm>
          <a:prstGeom prst="rect">
            <a:avLst/>
          </a:prstGeom>
        </p:spPr>
        <p:txBody>
          <a:bodyPr lIns="0" tIns="0" rIns="0" bIns="0">
            <a:normAutofit/>
          </a:bodyPr>
          <a:lstStyle>
            <a:lvl1pPr>
              <a:buClr>
                <a:schemeClr val="bg2"/>
              </a:buClr>
              <a:buFont typeface="Arial" panose="020B0604020202020204" pitchFamily="34" charset="0"/>
              <a:buNone/>
              <a:defRPr sz="1200">
                <a:latin typeface="+mj-lt"/>
              </a:defRPr>
            </a:lvl1pPr>
            <a:lvl2pPr>
              <a:buClr>
                <a:schemeClr val="bg2"/>
              </a:buClr>
              <a:buFont typeface="Arial" panose="020B0604020202020204" pitchFamily="34" charset="0"/>
              <a:buChar char="•"/>
              <a:defRPr sz="1200">
                <a:latin typeface="+mj-lt"/>
              </a:defRPr>
            </a:lvl2pPr>
            <a:lvl3pPr>
              <a:buClr>
                <a:schemeClr val="bg2"/>
              </a:buClr>
              <a:buFont typeface="Arial" panose="020B0604020202020204" pitchFamily="34" charset="0"/>
              <a:buChar char="•"/>
              <a:defRPr sz="1200">
                <a:latin typeface="+mj-lt"/>
              </a:defRPr>
            </a:lvl3pPr>
            <a:lvl4pPr>
              <a:buClr>
                <a:schemeClr val="bg2"/>
              </a:buClr>
              <a:buFont typeface="Arial" panose="020B0604020202020204" pitchFamily="34" charset="0"/>
              <a:buChar char="•"/>
              <a:defRPr sz="1200">
                <a:latin typeface="+mj-lt"/>
              </a:defRPr>
            </a:lvl4pPr>
            <a:lvl5pPr>
              <a:buClr>
                <a:schemeClr val="bg2"/>
              </a:buClr>
              <a:buFont typeface="Arial" panose="020B0604020202020204" pitchFamily="34" charset="0"/>
              <a:buChar cha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2196F4A6-477C-2841-A79F-613736E4B4E5}"/>
              </a:ext>
            </a:extLst>
          </p:cNvPr>
          <p:cNvSpPr>
            <a:spLocks noGrp="1"/>
          </p:cNvSpPr>
          <p:nvPr>
            <p:ph type="ctrTitle" hasCustomPrompt="1"/>
          </p:nvPr>
        </p:nvSpPr>
        <p:spPr>
          <a:xfrm>
            <a:off x="2130075" y="530831"/>
            <a:ext cx="2332568" cy="679378"/>
          </a:xfrm>
          <a:prstGeom prst="rect">
            <a:avLst/>
          </a:prstGeom>
        </p:spPr>
        <p:txBody>
          <a:bodyPr lIns="0" tIns="0" rIns="0" bIns="0" anchor="b" anchorCtr="0">
            <a:normAutofit/>
          </a:bodyPr>
          <a:lstStyle>
            <a:lvl1pPr algn="l">
              <a:lnSpc>
                <a:spcPts val="2600"/>
              </a:lnSpc>
              <a:defRPr sz="2400">
                <a:solidFill>
                  <a:schemeClr val="bg1"/>
                </a:solidFill>
              </a:defRPr>
            </a:lvl1pPr>
          </a:lstStyle>
          <a:p>
            <a:r>
              <a:rPr lang="en-GB"/>
              <a:t>Click to edit master title style</a:t>
            </a:r>
            <a:endParaRPr lang="en-US"/>
          </a:p>
        </p:txBody>
      </p:sp>
      <p:sp>
        <p:nvSpPr>
          <p:cNvPr id="12" name="Subtitle 2">
            <a:extLst>
              <a:ext uri="{FF2B5EF4-FFF2-40B4-BE49-F238E27FC236}">
                <a16:creationId xmlns:a16="http://schemas.microsoft.com/office/drawing/2014/main" id="{394BDDF3-DCED-EA4F-89C3-B82BFD270515}"/>
              </a:ext>
            </a:extLst>
          </p:cNvPr>
          <p:cNvSpPr>
            <a:spLocks noGrp="1"/>
          </p:cNvSpPr>
          <p:nvPr>
            <p:ph type="subTitle" idx="1"/>
          </p:nvPr>
        </p:nvSpPr>
        <p:spPr>
          <a:xfrm>
            <a:off x="2130075" y="1377323"/>
            <a:ext cx="2332569" cy="536143"/>
          </a:xfrm>
          <a:prstGeom prst="rect">
            <a:avLst/>
          </a:prstGeom>
        </p:spPr>
        <p:txBody>
          <a:bodyPr lIns="0" tIns="0" rIns="0" bIns="0" anchor="t" anchorCtr="0">
            <a:normAutofit/>
          </a:bodyPr>
          <a:lstStyle>
            <a:lvl1pPr marL="0" indent="0" algn="l">
              <a:lnSpc>
                <a:spcPts val="1600"/>
              </a:lnSpc>
              <a:buNone/>
              <a:defRPr sz="1400" b="1">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Picture Placeholder 3">
            <a:extLst>
              <a:ext uri="{FF2B5EF4-FFF2-40B4-BE49-F238E27FC236}">
                <a16:creationId xmlns:a16="http://schemas.microsoft.com/office/drawing/2014/main" id="{DD30D954-1D58-BE41-988F-5423FEF45590}"/>
              </a:ext>
            </a:extLst>
          </p:cNvPr>
          <p:cNvSpPr>
            <a:spLocks noGrp="1"/>
          </p:cNvSpPr>
          <p:nvPr>
            <p:ph type="pic" sz="quarter" idx="16"/>
          </p:nvPr>
        </p:nvSpPr>
        <p:spPr>
          <a:xfrm>
            <a:off x="541867" y="541867"/>
            <a:ext cx="1285875" cy="1285875"/>
          </a:xfrm>
          <a:prstGeom prst="rect">
            <a:avLst/>
          </a:prstGeom>
        </p:spPr>
        <p:txBody>
          <a:bodyPr/>
          <a:lstStyle/>
          <a:p>
            <a:r>
              <a:rPr lang="en-US"/>
              <a:t>Click icon to add picture</a:t>
            </a:r>
          </a:p>
        </p:txBody>
      </p:sp>
      <p:sp>
        <p:nvSpPr>
          <p:cNvPr id="15" name="Picture Placeholder 3">
            <a:extLst>
              <a:ext uri="{FF2B5EF4-FFF2-40B4-BE49-F238E27FC236}">
                <a16:creationId xmlns:a16="http://schemas.microsoft.com/office/drawing/2014/main" id="{2B38F6E8-6334-3144-BCE5-9FD9F58CCA00}"/>
              </a:ext>
            </a:extLst>
          </p:cNvPr>
          <p:cNvSpPr>
            <a:spLocks noGrp="1"/>
          </p:cNvSpPr>
          <p:nvPr>
            <p:ph type="pic" sz="quarter" idx="17"/>
          </p:nvPr>
        </p:nvSpPr>
        <p:spPr>
          <a:xfrm>
            <a:off x="541867" y="2922892"/>
            <a:ext cx="1285875" cy="1285875"/>
          </a:xfrm>
          <a:prstGeom prst="rect">
            <a:avLst/>
          </a:prstGeom>
        </p:spPr>
        <p:txBody>
          <a:bodyPr/>
          <a:lstStyle/>
          <a:p>
            <a:r>
              <a:rPr lang="en-US"/>
              <a:t>Click icon to add picture</a:t>
            </a:r>
          </a:p>
        </p:txBody>
      </p:sp>
      <p:sp>
        <p:nvSpPr>
          <p:cNvPr id="16" name="Picture Placeholder 3">
            <a:extLst>
              <a:ext uri="{FF2B5EF4-FFF2-40B4-BE49-F238E27FC236}">
                <a16:creationId xmlns:a16="http://schemas.microsoft.com/office/drawing/2014/main" id="{B88EBA61-0EEC-754C-B3E9-C105D5C84A63}"/>
              </a:ext>
            </a:extLst>
          </p:cNvPr>
          <p:cNvSpPr>
            <a:spLocks noGrp="1"/>
          </p:cNvSpPr>
          <p:nvPr>
            <p:ph type="pic" sz="quarter" idx="18"/>
          </p:nvPr>
        </p:nvSpPr>
        <p:spPr>
          <a:xfrm>
            <a:off x="5486400" y="530831"/>
            <a:ext cx="3114193" cy="3677936"/>
          </a:xfrm>
          <a:prstGeom prst="rect">
            <a:avLst/>
          </a:prstGeom>
        </p:spPr>
        <p:txBody>
          <a:bodyPr/>
          <a:lstStyle/>
          <a:p>
            <a:r>
              <a:rPr lang="en-US"/>
              <a:t>Click icon to add picture</a:t>
            </a:r>
          </a:p>
        </p:txBody>
      </p:sp>
      <p:pic>
        <p:nvPicPr>
          <p:cNvPr id="13" name="Picture 12">
            <a:extLst>
              <a:ext uri="{FF2B5EF4-FFF2-40B4-BE49-F238E27FC236}">
                <a16:creationId xmlns:a16="http://schemas.microsoft.com/office/drawing/2014/main" id="{82D510DE-4ABD-AE4C-8B1E-FE6B4C5A019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17" name="Picture 16">
            <a:extLst>
              <a:ext uri="{FF2B5EF4-FFF2-40B4-BE49-F238E27FC236}">
                <a16:creationId xmlns:a16="http://schemas.microsoft.com/office/drawing/2014/main" id="{6469F71F-0628-824E-A7CC-7AD4B5D74B51}"/>
              </a:ext>
            </a:extLst>
          </p:cNvPr>
          <p:cNvPicPr>
            <a:picLocks noChangeAspect="1"/>
          </p:cNvPicPr>
          <p:nvPr userDrawn="1"/>
        </p:nvPicPr>
        <p:blipFill>
          <a:blip r:embed="rId4"/>
          <a:stretch>
            <a:fillRect/>
          </a:stretch>
        </p:blipFill>
        <p:spPr>
          <a:xfrm>
            <a:off x="0" y="4547848"/>
            <a:ext cx="7697037" cy="595651"/>
          </a:xfrm>
          <a:prstGeom prst="rect">
            <a:avLst/>
          </a:prstGeom>
        </p:spPr>
      </p:pic>
    </p:spTree>
    <p:extLst>
      <p:ext uri="{BB962C8B-B14F-4D97-AF65-F5344CB8AC3E}">
        <p14:creationId xmlns:p14="http://schemas.microsoft.com/office/powerpoint/2010/main" val="412840370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Free Area Slide">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680CEE-AA86-534B-AF41-99FE5106A35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6" name="Picture 5">
            <a:extLst>
              <a:ext uri="{FF2B5EF4-FFF2-40B4-BE49-F238E27FC236}">
                <a16:creationId xmlns:a16="http://schemas.microsoft.com/office/drawing/2014/main" id="{52AB53FA-2B1F-0846-944A-20B1D730146C}"/>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155009554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Full Image Slid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FAC1FFC-357F-2142-A344-818DEA78CC16}"/>
              </a:ext>
            </a:extLst>
          </p:cNvPr>
          <p:cNvSpPr>
            <a:spLocks noGrp="1"/>
          </p:cNvSpPr>
          <p:nvPr>
            <p:ph type="pic" sz="quarter" idx="10"/>
          </p:nvPr>
        </p:nvSpPr>
        <p:spPr>
          <a:xfrm>
            <a:off x="0" y="0"/>
            <a:ext cx="9144000" cy="5153025"/>
          </a:xfrm>
          <a:prstGeom prst="rect">
            <a:avLst/>
          </a:prstGeom>
        </p:spPr>
        <p:txBody>
          <a:bodyPr/>
          <a:lstStyle/>
          <a:p>
            <a:r>
              <a:rPr lang="en-US"/>
              <a:t>Click icon to add picture</a:t>
            </a:r>
          </a:p>
        </p:txBody>
      </p:sp>
      <p:pic>
        <p:nvPicPr>
          <p:cNvPr id="5" name="Picture 4">
            <a:extLst>
              <a:ext uri="{FF2B5EF4-FFF2-40B4-BE49-F238E27FC236}">
                <a16:creationId xmlns:a16="http://schemas.microsoft.com/office/drawing/2014/main" id="{FDDEDAB3-311B-A847-AB1F-C5032881B78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50739" y="4547849"/>
            <a:ext cx="898960" cy="414455"/>
          </a:xfrm>
          <a:prstGeom prst="rect">
            <a:avLst/>
          </a:prstGeom>
        </p:spPr>
      </p:pic>
      <p:pic>
        <p:nvPicPr>
          <p:cNvPr id="7" name="Picture 6">
            <a:extLst>
              <a:ext uri="{FF2B5EF4-FFF2-40B4-BE49-F238E27FC236}">
                <a16:creationId xmlns:a16="http://schemas.microsoft.com/office/drawing/2014/main" id="{2687C3C6-86FD-894D-93FC-3AAB25E152FF}"/>
              </a:ext>
            </a:extLst>
          </p:cNvPr>
          <p:cNvPicPr>
            <a:picLocks noChangeAspect="1"/>
          </p:cNvPicPr>
          <p:nvPr userDrawn="1"/>
        </p:nvPicPr>
        <p:blipFill>
          <a:blip r:embed="rId3"/>
          <a:stretch>
            <a:fillRect/>
          </a:stretch>
        </p:blipFill>
        <p:spPr>
          <a:xfrm>
            <a:off x="0" y="4547848"/>
            <a:ext cx="7697037" cy="595651"/>
          </a:xfrm>
          <a:prstGeom prst="rect">
            <a:avLst/>
          </a:prstGeom>
        </p:spPr>
      </p:pic>
    </p:spTree>
    <p:extLst>
      <p:ext uri="{BB962C8B-B14F-4D97-AF65-F5344CB8AC3E}">
        <p14:creationId xmlns:p14="http://schemas.microsoft.com/office/powerpoint/2010/main" val="414620961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Aerial Shot Slide">
    <p:bg>
      <p:bgRef idx="1001">
        <a:schemeClr val="bg1"/>
      </p:bgRef>
    </p:bg>
    <p:spTree>
      <p:nvGrpSpPr>
        <p:cNvPr id="1" name=""/>
        <p:cNvGrpSpPr/>
        <p:nvPr/>
      </p:nvGrpSpPr>
      <p:grpSpPr>
        <a:xfrm>
          <a:off x="0" y="0"/>
          <a:ext cx="0" cy="0"/>
          <a:chOff x="0" y="0"/>
          <a:chExt cx="0" cy="0"/>
        </a:xfrm>
      </p:grpSpPr>
      <p:pic>
        <p:nvPicPr>
          <p:cNvPr id="4" name="Picture 3" descr="A screenshot of a video game&#10;&#10;Description automatically generated with medium confidence">
            <a:extLst>
              <a:ext uri="{FF2B5EF4-FFF2-40B4-BE49-F238E27FC236}">
                <a16:creationId xmlns:a16="http://schemas.microsoft.com/office/drawing/2014/main" id="{B7306B5E-2089-8643-91B0-038540E8F1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79984079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_Quadram Elevations Slide">
    <p:bg>
      <p:bgRef idx="1001">
        <a:schemeClr val="bg1"/>
      </p:bgRef>
    </p:bg>
    <p:spTree>
      <p:nvGrpSpPr>
        <p:cNvPr id="1" name=""/>
        <p:cNvGrpSpPr/>
        <p:nvPr/>
      </p:nvGrpSpPr>
      <p:grpSpPr>
        <a:xfrm>
          <a:off x="0" y="0"/>
          <a:ext cx="0" cy="0"/>
          <a:chOff x="0" y="0"/>
          <a:chExt cx="0" cy="0"/>
        </a:xfrm>
      </p:grpSpPr>
      <p:pic>
        <p:nvPicPr>
          <p:cNvPr id="6" name="Picture 5" descr="A picture containing website&#10;&#10;Description automatically generated">
            <a:extLst>
              <a:ext uri="{FF2B5EF4-FFF2-40B4-BE49-F238E27FC236}">
                <a16:creationId xmlns:a16="http://schemas.microsoft.com/office/drawing/2014/main" id="{2D68EF98-B480-5448-AC58-B0AC07D1B1A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68153666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End Slide">
    <p:bg>
      <p:bgPr>
        <a:solidFill>
          <a:schemeClr val="accent5"/>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ABF1A74-B5BF-3D42-A4A1-9B2ABD2A6830}"/>
              </a:ext>
            </a:extLst>
          </p:cNvPr>
          <p:cNvSpPr>
            <a:spLocks noGrp="1"/>
          </p:cNvSpPr>
          <p:nvPr>
            <p:ph type="body" sz="quarter" idx="15"/>
          </p:nvPr>
        </p:nvSpPr>
        <p:spPr>
          <a:xfrm>
            <a:off x="628380" y="2270123"/>
            <a:ext cx="4357688" cy="998010"/>
          </a:xfrm>
          <a:prstGeom prst="rect">
            <a:avLst/>
          </a:prstGeom>
        </p:spPr>
        <p:txBody>
          <a:bodyPr lIns="0" tIns="0" rIns="0" bIns="0"/>
          <a:lstStyle>
            <a:lvl1pPr>
              <a:buClr>
                <a:schemeClr val="bg2"/>
              </a:buClr>
              <a:buNone/>
              <a:defRPr sz="1200" b="1">
                <a:solidFill>
                  <a:schemeClr val="bg1"/>
                </a:solidFill>
                <a:latin typeface="+mn-lt"/>
              </a:defRPr>
            </a:lvl1pPr>
            <a:lvl2pPr>
              <a:buClr>
                <a:schemeClr val="bg2"/>
              </a:buClr>
              <a:buNone/>
              <a:defRPr sz="1200">
                <a:solidFill>
                  <a:schemeClr val="bg1"/>
                </a:solidFill>
                <a:latin typeface="+mj-lt"/>
              </a:defRPr>
            </a:lvl2pPr>
            <a:lvl3pPr>
              <a:buClr>
                <a:schemeClr val="bg2"/>
              </a:buClr>
              <a:buNone/>
              <a:defRPr sz="1100">
                <a:solidFill>
                  <a:schemeClr val="bg1"/>
                </a:solidFill>
                <a:latin typeface="+mj-lt"/>
              </a:defRPr>
            </a:lvl3pPr>
            <a:lvl4pPr>
              <a:buClr>
                <a:schemeClr val="bg2"/>
              </a:buClr>
              <a:buNone/>
              <a:defRPr sz="1000">
                <a:solidFill>
                  <a:schemeClr val="bg1"/>
                </a:solidFill>
                <a:latin typeface="+mj-lt"/>
              </a:defRPr>
            </a:lvl4pPr>
            <a:lvl5pPr>
              <a:buClr>
                <a:schemeClr val="bg2"/>
              </a:buClr>
              <a:buNone/>
              <a:defRPr sz="800">
                <a:solidFill>
                  <a:schemeClr val="bg1"/>
                </a:solidFill>
                <a:latin typeface="+mj-lt"/>
              </a:defRPr>
            </a:lvl5pPr>
          </a:lstStyle>
          <a:p>
            <a:pPr lvl="0"/>
            <a:r>
              <a:rPr lang="en-US"/>
              <a:t>Click to edit Master text styles</a:t>
            </a:r>
          </a:p>
          <a:p>
            <a:pPr lvl="1"/>
            <a:r>
              <a:rPr lang="en-US"/>
              <a:t>Second level</a:t>
            </a:r>
          </a:p>
        </p:txBody>
      </p:sp>
      <p:sp>
        <p:nvSpPr>
          <p:cNvPr id="4" name="TextBox 3">
            <a:extLst>
              <a:ext uri="{FF2B5EF4-FFF2-40B4-BE49-F238E27FC236}">
                <a16:creationId xmlns:a16="http://schemas.microsoft.com/office/drawing/2014/main" id="{F4A82A18-0556-9C4E-A4E5-77911D60BCCE}"/>
              </a:ext>
            </a:extLst>
          </p:cNvPr>
          <p:cNvSpPr txBox="1"/>
          <p:nvPr userDrawn="1"/>
        </p:nvSpPr>
        <p:spPr>
          <a:xfrm>
            <a:off x="628378" y="853123"/>
            <a:ext cx="4561687" cy="707886"/>
          </a:xfrm>
          <a:prstGeom prst="rect">
            <a:avLst/>
          </a:prstGeom>
          <a:noFill/>
        </p:spPr>
        <p:txBody>
          <a:bodyPr wrap="square" rtlCol="0">
            <a:spAutoFit/>
          </a:bodyPr>
          <a:lstStyle/>
          <a:p>
            <a:r>
              <a:rPr lang="en-US" sz="4000">
                <a:solidFill>
                  <a:schemeClr val="bg1"/>
                </a:solidFill>
                <a:latin typeface="+mj-lt"/>
              </a:rPr>
              <a:t>Thank you</a:t>
            </a:r>
          </a:p>
        </p:txBody>
      </p:sp>
      <p:sp>
        <p:nvSpPr>
          <p:cNvPr id="10" name="TextBox 9">
            <a:extLst>
              <a:ext uri="{FF2B5EF4-FFF2-40B4-BE49-F238E27FC236}">
                <a16:creationId xmlns:a16="http://schemas.microsoft.com/office/drawing/2014/main" id="{2FA2037A-5357-6647-B0C0-FCF84A4A1700}"/>
              </a:ext>
            </a:extLst>
          </p:cNvPr>
          <p:cNvSpPr txBox="1"/>
          <p:nvPr userDrawn="1"/>
        </p:nvSpPr>
        <p:spPr>
          <a:xfrm>
            <a:off x="628378" y="4101226"/>
            <a:ext cx="1572210" cy="738664"/>
          </a:xfrm>
          <a:prstGeom prst="rect">
            <a:avLst/>
          </a:prstGeom>
          <a:noFill/>
        </p:spPr>
        <p:txBody>
          <a:bodyPr wrap="square" lIns="0" tIns="0" rIns="0" bIns="0" rtlCol="0">
            <a:spAutoFit/>
          </a:bodyPr>
          <a:lstStyle/>
          <a:p>
            <a:r>
              <a:rPr lang="en-US" sz="1200" err="1">
                <a:solidFill>
                  <a:schemeClr val="bg1"/>
                </a:solidFill>
                <a:latin typeface="+mj-lt"/>
              </a:rPr>
              <a:t>Quadram</a:t>
            </a:r>
            <a:r>
              <a:rPr lang="en-US" sz="1200">
                <a:solidFill>
                  <a:schemeClr val="bg1"/>
                </a:solidFill>
                <a:latin typeface="+mj-lt"/>
              </a:rPr>
              <a:t> Institute </a:t>
            </a:r>
          </a:p>
          <a:p>
            <a:r>
              <a:rPr lang="en-US" sz="1200">
                <a:solidFill>
                  <a:schemeClr val="bg1"/>
                </a:solidFill>
                <a:latin typeface="+mj-lt"/>
              </a:rPr>
              <a:t>Norwich Research Park </a:t>
            </a:r>
          </a:p>
          <a:p>
            <a:r>
              <a:rPr lang="en-US" sz="1200">
                <a:solidFill>
                  <a:schemeClr val="bg1"/>
                </a:solidFill>
                <a:latin typeface="+mj-lt"/>
              </a:rPr>
              <a:t>Norfolk NR4 7UQ</a:t>
            </a:r>
          </a:p>
          <a:p>
            <a:endParaRPr lang="en-US" sz="1200">
              <a:solidFill>
                <a:schemeClr val="bg1"/>
              </a:solidFill>
              <a:latin typeface="+mj-lt"/>
            </a:endParaRPr>
          </a:p>
        </p:txBody>
      </p:sp>
      <p:pic>
        <p:nvPicPr>
          <p:cNvPr id="13" name="Picture 12">
            <a:extLst>
              <a:ext uri="{FF2B5EF4-FFF2-40B4-BE49-F238E27FC236}">
                <a16:creationId xmlns:a16="http://schemas.microsoft.com/office/drawing/2014/main" id="{56E32891-A6F5-E046-B7D1-F2A3F5CE52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958123" y="3950266"/>
            <a:ext cx="1729335" cy="797291"/>
          </a:xfrm>
          <a:prstGeom prst="rect">
            <a:avLst/>
          </a:prstGeom>
        </p:spPr>
      </p:pic>
      <p:pic>
        <p:nvPicPr>
          <p:cNvPr id="14" name="Picture 13">
            <a:extLst>
              <a:ext uri="{FF2B5EF4-FFF2-40B4-BE49-F238E27FC236}">
                <a16:creationId xmlns:a16="http://schemas.microsoft.com/office/drawing/2014/main" id="{8B902213-1CC0-E04E-AC70-3B91141AAF8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285377" y="4526987"/>
            <a:ext cx="788718" cy="150232"/>
          </a:xfrm>
          <a:prstGeom prst="rect">
            <a:avLst/>
          </a:prstGeom>
        </p:spPr>
      </p:pic>
      <p:sp>
        <p:nvSpPr>
          <p:cNvPr id="9" name="TextBox 8">
            <a:extLst>
              <a:ext uri="{FF2B5EF4-FFF2-40B4-BE49-F238E27FC236}">
                <a16:creationId xmlns:a16="http://schemas.microsoft.com/office/drawing/2014/main" id="{D03E056A-3F97-814F-B390-9C8B67F26167}"/>
              </a:ext>
            </a:extLst>
          </p:cNvPr>
          <p:cNvSpPr txBox="1"/>
          <p:nvPr userDrawn="1"/>
        </p:nvSpPr>
        <p:spPr>
          <a:xfrm>
            <a:off x="4511289" y="4101226"/>
            <a:ext cx="1729335" cy="646331"/>
          </a:xfrm>
          <a:prstGeom prst="rect">
            <a:avLst/>
          </a:prstGeom>
          <a:noFill/>
        </p:spPr>
        <p:txBody>
          <a:bodyPr wrap="square">
            <a:spAutoFit/>
          </a:bodyPr>
          <a:lstStyle/>
          <a:p>
            <a:r>
              <a:rPr lang="en-US" sz="1200" b="1" err="1">
                <a:solidFill>
                  <a:schemeClr val="bg2"/>
                </a:solidFill>
                <a:latin typeface="+mn-lt"/>
              </a:rPr>
              <a:t>quadram.ac.uk</a:t>
            </a:r>
            <a:endParaRPr lang="en-US" sz="1200" b="1">
              <a:solidFill>
                <a:schemeClr val="bg2"/>
              </a:solidFill>
              <a:latin typeface="+mn-lt"/>
            </a:endParaRPr>
          </a:p>
          <a:p>
            <a:endParaRPr lang="en-US" sz="1200" b="1">
              <a:solidFill>
                <a:schemeClr val="bg2"/>
              </a:solidFill>
              <a:latin typeface="+mn-lt"/>
            </a:endParaRPr>
          </a:p>
          <a:p>
            <a:r>
              <a:rPr lang="en-US" sz="1200" b="1">
                <a:solidFill>
                  <a:schemeClr val="bg2"/>
                </a:solidFill>
                <a:latin typeface="+mn-lt"/>
              </a:rPr>
              <a:t>Follow us</a:t>
            </a:r>
          </a:p>
        </p:txBody>
      </p:sp>
      <p:cxnSp>
        <p:nvCxnSpPr>
          <p:cNvPr id="7" name="Straight Connector 6">
            <a:extLst>
              <a:ext uri="{FF2B5EF4-FFF2-40B4-BE49-F238E27FC236}">
                <a16:creationId xmlns:a16="http://schemas.microsoft.com/office/drawing/2014/main" id="{C91DB0C4-5397-B04A-B9C0-803115F90E30}"/>
              </a:ext>
            </a:extLst>
          </p:cNvPr>
          <p:cNvCxnSpPr>
            <a:cxnSpLocks/>
          </p:cNvCxnSpPr>
          <p:nvPr userDrawn="1"/>
        </p:nvCxnSpPr>
        <p:spPr>
          <a:xfrm>
            <a:off x="0" y="1651444"/>
            <a:ext cx="3466682" cy="0"/>
          </a:xfrm>
          <a:prstGeom prst="line">
            <a:avLst/>
          </a:prstGeom>
          <a:ln w="76200">
            <a:solidFill>
              <a:srgbClr val="B5BD00"/>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5B3965BB-58A8-AD48-A804-E4F8C483FEA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133746" y="4526987"/>
            <a:ext cx="159424" cy="156554"/>
          </a:xfrm>
          <a:prstGeom prst="rect">
            <a:avLst/>
          </a:prstGeom>
        </p:spPr>
      </p:pic>
    </p:spTree>
    <p:extLst>
      <p:ext uri="{BB962C8B-B14F-4D97-AF65-F5344CB8AC3E}">
        <p14:creationId xmlns:p14="http://schemas.microsoft.com/office/powerpoint/2010/main" val="2322154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8897674"/>
      </p:ext>
    </p:extLst>
  </p:cSld>
  <p:clrMap bg1="lt1" tx1="dk1" bg2="lt2" tx2="dk2" accent1="accent1" accent2="accent2" accent3="accent3" accent4="accent4" accent5="accent5" accent6="accent6" hlink="hlink" folHlink="folHlink"/>
  <p:sldLayoutIdLst>
    <p:sldLayoutId id="2147483661" r:id="rId1"/>
    <p:sldLayoutId id="2147483687" r:id="rId2"/>
    <p:sldLayoutId id="2147483688" r:id="rId3"/>
    <p:sldLayoutId id="2147483689" r:id="rId4"/>
    <p:sldLayoutId id="2147483690" r:id="rId5"/>
    <p:sldLayoutId id="2147483691" r:id="rId6"/>
    <p:sldLayoutId id="2147483692" r:id="rId7"/>
    <p:sldLayoutId id="2147483668" r:id="rId8"/>
    <p:sldLayoutId id="2147483663" r:id="rId9"/>
    <p:sldLayoutId id="2147483669" r:id="rId10"/>
    <p:sldLayoutId id="2147483670" r:id="rId11"/>
    <p:sldLayoutId id="2147483684" r:id="rId12"/>
    <p:sldLayoutId id="2147483672" r:id="rId13"/>
    <p:sldLayoutId id="2147483674" r:id="rId14"/>
    <p:sldLayoutId id="2147483685" r:id="rId15"/>
    <p:sldLayoutId id="2147483686" r:id="rId16"/>
    <p:sldLayoutId id="2147483676" r:id="rId17"/>
    <p:sldLayoutId id="2147483677" r:id="rId18"/>
    <p:sldLayoutId id="2147483678" r:id="rId19"/>
    <p:sldLayoutId id="2147483679" r:id="rId20"/>
    <p:sldLayoutId id="2147483675" r:id="rId21"/>
  </p:sldLayoutIdLst>
  <p:txStyles>
    <p:titleStyle>
      <a:lvl1pPr algn="l" defTabSz="685800" rtl="0" eaLnBrk="1" latinLnBrk="0" hangingPunct="1">
        <a:lnSpc>
          <a:spcPct val="90000"/>
        </a:lnSpc>
        <a:spcBef>
          <a:spcPct val="0"/>
        </a:spcBef>
        <a:buNone/>
        <a:defRPr sz="3300" kern="1200" baseline="0">
          <a:solidFill>
            <a:schemeClr val="accent5"/>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microsoft.com/office/2007/relationships/hdphoto" Target="../media/hdphoto1.wdp"/><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microsoft.com/office/2007/relationships/hdphoto" Target="../media/hdphoto1.wdp"/><Relationship Id="rId5" Type="http://schemas.openxmlformats.org/officeDocument/2006/relationships/image" Target="../media/image18.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 Id="rId9" Type="http://schemas.microsoft.com/office/2007/relationships/hdphoto" Target="../media/hdphoto1.wdp"/></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pn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microsoft.com/office/2007/relationships/hdphoto" Target="../media/hdphoto1.wdp"/><Relationship Id="rId5" Type="http://schemas.openxmlformats.org/officeDocument/2006/relationships/image" Target="../media/image1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jpe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14">
            <a:extLst>
              <a:ext uri="{FF2B5EF4-FFF2-40B4-BE49-F238E27FC236}">
                <a16:creationId xmlns:a16="http://schemas.microsoft.com/office/drawing/2014/main" id="{02B6DA99-1866-4C8E-979F-74C92A72B8A0}"/>
              </a:ext>
            </a:extLst>
          </p:cNvPr>
          <p:cNvSpPr>
            <a:spLocks noGrp="1"/>
          </p:cNvSpPr>
          <p:nvPr>
            <p:ph type="subTitle" idx="1"/>
          </p:nvPr>
        </p:nvSpPr>
        <p:spPr>
          <a:xfrm>
            <a:off x="419762" y="1901861"/>
            <a:ext cx="5994686" cy="496579"/>
          </a:xfrm>
        </p:spPr>
        <p:txBody>
          <a:bodyPr>
            <a:noAutofit/>
          </a:bodyPr>
          <a:lstStyle/>
          <a:p>
            <a:pPr>
              <a:lnSpc>
                <a:spcPct val="100000"/>
              </a:lnSpc>
            </a:pPr>
            <a:r>
              <a:rPr lang="en-US" sz="2500">
                <a:solidFill>
                  <a:schemeClr val="bg1"/>
                </a:solidFill>
                <a:cs typeface="Calibri Light"/>
              </a:rPr>
              <a:t>Powering Microbial Genomics Research</a:t>
            </a:r>
          </a:p>
        </p:txBody>
      </p:sp>
      <p:sp>
        <p:nvSpPr>
          <p:cNvPr id="2" name="Text Placeholder 2">
            <a:extLst>
              <a:ext uri="{FF2B5EF4-FFF2-40B4-BE49-F238E27FC236}">
                <a16:creationId xmlns:a16="http://schemas.microsoft.com/office/drawing/2014/main" id="{73F15D7E-5706-2766-1C67-24E1C9A196F5}"/>
              </a:ext>
            </a:extLst>
          </p:cNvPr>
          <p:cNvSpPr txBox="1">
            <a:spLocks/>
          </p:cNvSpPr>
          <p:nvPr/>
        </p:nvSpPr>
        <p:spPr>
          <a:xfrm>
            <a:off x="419762" y="2993349"/>
            <a:ext cx="4434342" cy="93167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buNone/>
            </a:pPr>
            <a:r>
              <a:rPr lang="en-US" sz="1600" b="1">
                <a:solidFill>
                  <a:schemeClr val="bg1"/>
                </a:solidFill>
                <a:latin typeface="+mj-lt"/>
                <a:ea typeface="TT Norms"/>
                <a:cs typeface="TT Norms"/>
                <a:sym typeface="TT Norms"/>
              </a:rPr>
              <a:t>Lisa Marchioretto</a:t>
            </a:r>
          </a:p>
          <a:p>
            <a:pPr marL="0" indent="0" algn="r">
              <a:buNone/>
            </a:pPr>
            <a:r>
              <a:rPr lang="en-US" sz="1200">
                <a:solidFill>
                  <a:schemeClr val="bg1"/>
                </a:solidFill>
                <a:latin typeface="+mj-lt"/>
                <a:ea typeface="TT Norms"/>
                <a:cs typeface="TT Norms"/>
                <a:sym typeface="TT Norms"/>
              </a:rPr>
              <a:t>CLIMB Operations Manager</a:t>
            </a:r>
            <a:br>
              <a:rPr lang="en-US" sz="1200">
                <a:solidFill>
                  <a:schemeClr val="bg1"/>
                </a:solidFill>
                <a:latin typeface="+mj-lt"/>
                <a:ea typeface="TT Norms"/>
                <a:cs typeface="TT Norms"/>
                <a:sym typeface="TT Norms"/>
              </a:rPr>
            </a:br>
            <a:r>
              <a:rPr lang="en-US" sz="1200">
                <a:solidFill>
                  <a:schemeClr val="bg1"/>
                </a:solidFill>
                <a:latin typeface="+mj-lt"/>
                <a:ea typeface="TT Norms"/>
                <a:cs typeface="TT Norms"/>
                <a:sym typeface="TT Norms"/>
              </a:rPr>
              <a:t>AMAST Network and Partnerships Manager</a:t>
            </a:r>
            <a:endParaRPr lang="en-US" sz="1600">
              <a:solidFill>
                <a:schemeClr val="bg1"/>
              </a:solidFill>
              <a:latin typeface="+mj-lt"/>
              <a:ea typeface="TT Norms"/>
              <a:cs typeface="TT Norms"/>
              <a:sym typeface="TT Norms"/>
            </a:endParaRPr>
          </a:p>
        </p:txBody>
      </p:sp>
      <p:sp>
        <p:nvSpPr>
          <p:cNvPr id="14" name="Freeform 30">
            <a:extLst>
              <a:ext uri="{FF2B5EF4-FFF2-40B4-BE49-F238E27FC236}">
                <a16:creationId xmlns:a16="http://schemas.microsoft.com/office/drawing/2014/main" id="{A398D0DB-362B-1723-9987-2FE902819F6E}"/>
              </a:ext>
            </a:extLst>
          </p:cNvPr>
          <p:cNvSpPr/>
          <p:nvPr/>
        </p:nvSpPr>
        <p:spPr>
          <a:xfrm>
            <a:off x="3094692" y="4057328"/>
            <a:ext cx="1759412" cy="609229"/>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3">
              <a:lum bright="70000" contrast="-70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a:blipFill>
        </p:spPr>
        <p:txBody>
          <a:bodyPr/>
          <a:lstStyle/>
          <a:p>
            <a:endParaRPr lang="en-GB"/>
          </a:p>
        </p:txBody>
      </p:sp>
      <p:sp>
        <p:nvSpPr>
          <p:cNvPr id="15" name="Subtitle 14">
            <a:extLst>
              <a:ext uri="{FF2B5EF4-FFF2-40B4-BE49-F238E27FC236}">
                <a16:creationId xmlns:a16="http://schemas.microsoft.com/office/drawing/2014/main" id="{128B94F7-BEBC-8FA0-94A2-D78A5010DAC1}"/>
              </a:ext>
            </a:extLst>
          </p:cNvPr>
          <p:cNvSpPr txBox="1">
            <a:spLocks/>
          </p:cNvSpPr>
          <p:nvPr/>
        </p:nvSpPr>
        <p:spPr>
          <a:xfrm>
            <a:off x="419762" y="830690"/>
            <a:ext cx="5994686" cy="1167128"/>
          </a:xfrm>
          <a:prstGeom prst="rect">
            <a:avLst/>
          </a:prstGeom>
        </p:spPr>
        <p:txBody>
          <a:bodyPr lIns="0" tIns="0" rIns="0" bIns="0" anchor="t" anchorCtr="0">
            <a:noAutofit/>
          </a:bodyPr>
          <a:lstStyle>
            <a:lvl1pPr marL="0" indent="0" algn="l" defTabSz="685800" rtl="0" eaLnBrk="1" latinLnBrk="0" hangingPunct="1">
              <a:lnSpc>
                <a:spcPts val="1600"/>
              </a:lnSpc>
              <a:spcBef>
                <a:spcPts val="750"/>
              </a:spcBef>
              <a:buFont typeface="Arial" panose="020B0604020202020204" pitchFamily="34" charset="0"/>
              <a:buNone/>
              <a:defRPr sz="1400" kern="1200" baseline="0">
                <a:solidFill>
                  <a:schemeClr val="bg2"/>
                </a:solidFill>
                <a:latin typeface="+mj-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baseline="0">
                <a:solidFill>
                  <a:schemeClr val="accent5"/>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baseline="0">
                <a:solidFill>
                  <a:schemeClr val="accent5"/>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baseline="0">
                <a:solidFill>
                  <a:schemeClr val="accent5"/>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baseline="0">
                <a:solidFill>
                  <a:schemeClr val="accent5"/>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pPr>
            <a:r>
              <a:rPr lang="en-US" sz="7200">
                <a:solidFill>
                  <a:schemeClr val="bg1"/>
                </a:solidFill>
                <a:latin typeface="+mn-lt"/>
                <a:cs typeface="Calibri Light"/>
              </a:rPr>
              <a:t>CLIMB</a:t>
            </a:r>
          </a:p>
        </p:txBody>
      </p:sp>
    </p:spTree>
    <p:extLst>
      <p:ext uri="{BB962C8B-B14F-4D97-AF65-F5344CB8AC3E}">
        <p14:creationId xmlns:p14="http://schemas.microsoft.com/office/powerpoint/2010/main" val="4062087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0B2EF36B-0FE5-C647-869F-4B89C572CCF3}"/>
              </a:ext>
            </a:extLst>
          </p:cNvPr>
          <p:cNvSpPr>
            <a:spLocks noGrp="1"/>
          </p:cNvSpPr>
          <p:nvPr>
            <p:ph type="ctrTitle"/>
          </p:nvPr>
        </p:nvSpPr>
        <p:spPr>
          <a:xfrm>
            <a:off x="541867" y="500063"/>
            <a:ext cx="5500687" cy="858837"/>
          </a:xfrm>
        </p:spPr>
        <p:txBody>
          <a:bodyPr/>
          <a:lstStyle/>
          <a:p>
            <a:r>
              <a:rPr lang="en-US" b="1"/>
              <a:t>Mission and Values</a:t>
            </a:r>
          </a:p>
        </p:txBody>
      </p:sp>
      <p:sp>
        <p:nvSpPr>
          <p:cNvPr id="2" name="Text Placeholder 2">
            <a:extLst>
              <a:ext uri="{FF2B5EF4-FFF2-40B4-BE49-F238E27FC236}">
                <a16:creationId xmlns:a16="http://schemas.microsoft.com/office/drawing/2014/main" id="{D087705C-1CEA-FB8B-45E0-E18F442A83C3}"/>
              </a:ext>
            </a:extLst>
          </p:cNvPr>
          <p:cNvSpPr txBox="1">
            <a:spLocks/>
          </p:cNvSpPr>
          <p:nvPr/>
        </p:nvSpPr>
        <p:spPr>
          <a:xfrm>
            <a:off x="539915" y="1436434"/>
            <a:ext cx="5738965" cy="277580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200">
                <a:solidFill>
                  <a:srgbClr val="333F48"/>
                </a:solidFill>
                <a:latin typeface="+mj-lt"/>
                <a:ea typeface="TT Norms"/>
                <a:cs typeface="TT Norms"/>
                <a:sym typeface="TT Norms"/>
              </a:rPr>
              <a:t>CLIMB exists to </a:t>
            </a:r>
            <a:r>
              <a:rPr lang="en-US" sz="2200" err="1">
                <a:solidFill>
                  <a:srgbClr val="333F48"/>
                </a:solidFill>
                <a:latin typeface="+mj-lt"/>
                <a:ea typeface="TT Norms"/>
                <a:cs typeface="TT Norms"/>
                <a:sym typeface="TT Norms"/>
              </a:rPr>
              <a:t>democratise</a:t>
            </a:r>
            <a:r>
              <a:rPr lang="en-US" sz="2200">
                <a:solidFill>
                  <a:srgbClr val="333F48"/>
                </a:solidFill>
                <a:latin typeface="+mj-lt"/>
                <a:ea typeface="TT Norms"/>
                <a:cs typeface="TT Norms"/>
                <a:sym typeface="TT Norms"/>
              </a:rPr>
              <a:t> access to cutting-edge computational resources for all bioinformaticians, no matter their career level. </a:t>
            </a:r>
          </a:p>
          <a:p>
            <a:pPr marL="0" indent="0">
              <a:buNone/>
            </a:pPr>
            <a:endParaRPr lang="en-US" sz="2200">
              <a:solidFill>
                <a:srgbClr val="333F48"/>
              </a:solidFill>
              <a:latin typeface="+mj-lt"/>
              <a:ea typeface="TT Norms"/>
              <a:cs typeface="TT Norms"/>
              <a:sym typeface="TT Norms"/>
            </a:endParaRPr>
          </a:p>
          <a:p>
            <a:pPr marL="0" indent="0">
              <a:buNone/>
            </a:pPr>
            <a:r>
              <a:rPr lang="en-US" sz="2200">
                <a:solidFill>
                  <a:srgbClr val="333F48"/>
                </a:solidFill>
                <a:latin typeface="+mj-lt"/>
                <a:ea typeface="TT Norms"/>
                <a:cs typeface="TT Norms"/>
                <a:sym typeface="TT Norms"/>
              </a:rPr>
              <a:t>We aim to accelerate scientific discovery by providing researchers with the infrastructure, tools, and support needed to </a:t>
            </a:r>
            <a:r>
              <a:rPr lang="en-US" sz="2200" err="1">
                <a:solidFill>
                  <a:srgbClr val="333F48"/>
                </a:solidFill>
                <a:latin typeface="+mj-lt"/>
                <a:ea typeface="TT Norms"/>
                <a:cs typeface="TT Norms"/>
                <a:sym typeface="TT Norms"/>
              </a:rPr>
              <a:t>analyse</a:t>
            </a:r>
            <a:r>
              <a:rPr lang="en-US" sz="2200">
                <a:solidFill>
                  <a:srgbClr val="333F48"/>
                </a:solidFill>
                <a:latin typeface="+mj-lt"/>
                <a:ea typeface="TT Norms"/>
                <a:cs typeface="TT Norms"/>
                <a:sym typeface="TT Norms"/>
              </a:rPr>
              <a:t> their data efficiently and effectively.</a:t>
            </a:r>
          </a:p>
        </p:txBody>
      </p:sp>
      <p:sp>
        <p:nvSpPr>
          <p:cNvPr id="4" name="Freeform 30">
            <a:extLst>
              <a:ext uri="{FF2B5EF4-FFF2-40B4-BE49-F238E27FC236}">
                <a16:creationId xmlns:a16="http://schemas.microsoft.com/office/drawing/2014/main" id="{5892F58B-DB20-1430-D8E8-1267BAD619D7}"/>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3">
              <a:lum bright="70000" contrast="-70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3590815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0AB9C7F-0A77-A11C-7033-207773D963B7}"/>
              </a:ext>
            </a:extLst>
          </p:cNvPr>
          <p:cNvGrpSpPr/>
          <p:nvPr/>
        </p:nvGrpSpPr>
        <p:grpSpPr>
          <a:xfrm>
            <a:off x="-815884" y="1237820"/>
            <a:ext cx="10775767" cy="2576904"/>
            <a:chOff x="-801177" y="3763528"/>
            <a:chExt cx="19897984" cy="4758380"/>
          </a:xfrm>
        </p:grpSpPr>
        <p:sp>
          <p:nvSpPr>
            <p:cNvPr id="3" name="Freeform 2">
              <a:extLst>
                <a:ext uri="{FF2B5EF4-FFF2-40B4-BE49-F238E27FC236}">
                  <a16:creationId xmlns:a16="http://schemas.microsoft.com/office/drawing/2014/main" id="{349BCA56-30DD-D0C5-4053-7DD6552DB115}"/>
                </a:ext>
              </a:extLst>
            </p:cNvPr>
            <p:cNvSpPr/>
            <p:nvPr/>
          </p:nvSpPr>
          <p:spPr>
            <a:xfrm>
              <a:off x="-801177" y="5237284"/>
              <a:ext cx="19897984" cy="2686228"/>
            </a:xfrm>
            <a:custGeom>
              <a:avLst/>
              <a:gdLst/>
              <a:ahLst/>
              <a:cxnLst/>
              <a:rect l="l" t="t" r="r" b="b"/>
              <a:pathLst>
                <a:path w="19897984" h="2686228">
                  <a:moveTo>
                    <a:pt x="0" y="0"/>
                  </a:moveTo>
                  <a:lnTo>
                    <a:pt x="19897984" y="0"/>
                  </a:lnTo>
                  <a:lnTo>
                    <a:pt x="19897984" y="2686227"/>
                  </a:lnTo>
                  <a:lnTo>
                    <a:pt x="0" y="26862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grpSp>
          <p:nvGrpSpPr>
            <p:cNvPr id="4" name="Group 3">
              <a:extLst>
                <a:ext uri="{FF2B5EF4-FFF2-40B4-BE49-F238E27FC236}">
                  <a16:creationId xmlns:a16="http://schemas.microsoft.com/office/drawing/2014/main" id="{DDC91E05-5C96-67BD-0493-1D1E0C5179EB}"/>
                </a:ext>
              </a:extLst>
            </p:cNvPr>
            <p:cNvGrpSpPr/>
            <p:nvPr/>
          </p:nvGrpSpPr>
          <p:grpSpPr>
            <a:xfrm>
              <a:off x="1429767" y="5036453"/>
              <a:ext cx="1100173" cy="1100173"/>
              <a:chOff x="0" y="0"/>
              <a:chExt cx="812800" cy="812800"/>
            </a:xfrm>
          </p:grpSpPr>
          <p:sp>
            <p:nvSpPr>
              <p:cNvPr id="37" name="Freeform 4">
                <a:extLst>
                  <a:ext uri="{FF2B5EF4-FFF2-40B4-BE49-F238E27FC236}">
                    <a16:creationId xmlns:a16="http://schemas.microsoft.com/office/drawing/2014/main" id="{245C5CA1-E4D9-0CAF-ABEA-0CEC338FDE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48"/>
              </a:solidFill>
            </p:spPr>
            <p:txBody>
              <a:bodyPr/>
              <a:lstStyle/>
              <a:p>
                <a:endParaRPr lang="en-GB"/>
              </a:p>
            </p:txBody>
          </p:sp>
          <p:sp>
            <p:nvSpPr>
              <p:cNvPr id="38" name="TextBox 5">
                <a:extLst>
                  <a:ext uri="{FF2B5EF4-FFF2-40B4-BE49-F238E27FC236}">
                    <a16:creationId xmlns:a16="http://schemas.microsoft.com/office/drawing/2014/main" id="{94055831-C1C7-BF8B-6835-4CDE0EBE77EE}"/>
                  </a:ext>
                </a:extLst>
              </p:cNvPr>
              <p:cNvSpPr txBox="1"/>
              <p:nvPr/>
            </p:nvSpPr>
            <p:spPr>
              <a:xfrm>
                <a:off x="76200" y="9525"/>
                <a:ext cx="660400" cy="727075"/>
              </a:xfrm>
              <a:prstGeom prst="rect">
                <a:avLst/>
              </a:prstGeom>
            </p:spPr>
            <p:txBody>
              <a:bodyPr lIns="50800" tIns="50800" rIns="50800" bIns="50800" rtlCol="0" anchor="ctr"/>
              <a:lstStyle/>
              <a:p>
                <a:pPr algn="ctr">
                  <a:lnSpc>
                    <a:spcPts val="3750"/>
                  </a:lnSpc>
                </a:pPr>
                <a:endParaRPr/>
              </a:p>
            </p:txBody>
          </p:sp>
        </p:grpSp>
        <p:grpSp>
          <p:nvGrpSpPr>
            <p:cNvPr id="5" name="Group 6">
              <a:extLst>
                <a:ext uri="{FF2B5EF4-FFF2-40B4-BE49-F238E27FC236}">
                  <a16:creationId xmlns:a16="http://schemas.microsoft.com/office/drawing/2014/main" id="{9FE3591A-D170-464E-FE70-7445BD5AC99B}"/>
                </a:ext>
              </a:extLst>
            </p:cNvPr>
            <p:cNvGrpSpPr/>
            <p:nvPr/>
          </p:nvGrpSpPr>
          <p:grpSpPr>
            <a:xfrm>
              <a:off x="4147502" y="4351565"/>
              <a:ext cx="1100173" cy="1100173"/>
              <a:chOff x="0" y="0"/>
              <a:chExt cx="812800" cy="812800"/>
            </a:xfrm>
          </p:grpSpPr>
          <p:sp>
            <p:nvSpPr>
              <p:cNvPr id="35" name="Freeform 7">
                <a:extLst>
                  <a:ext uri="{FF2B5EF4-FFF2-40B4-BE49-F238E27FC236}">
                    <a16:creationId xmlns:a16="http://schemas.microsoft.com/office/drawing/2014/main" id="{6C920A31-9D62-8A81-CA5C-EADCDC5BC0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48"/>
              </a:solidFill>
            </p:spPr>
            <p:txBody>
              <a:bodyPr/>
              <a:lstStyle/>
              <a:p>
                <a:endParaRPr lang="en-GB"/>
              </a:p>
            </p:txBody>
          </p:sp>
          <p:sp>
            <p:nvSpPr>
              <p:cNvPr id="36" name="TextBox 8">
                <a:extLst>
                  <a:ext uri="{FF2B5EF4-FFF2-40B4-BE49-F238E27FC236}">
                    <a16:creationId xmlns:a16="http://schemas.microsoft.com/office/drawing/2014/main" id="{147E4761-4BE7-369F-4D32-A341BBEEC3A8}"/>
                  </a:ext>
                </a:extLst>
              </p:cNvPr>
              <p:cNvSpPr txBox="1"/>
              <p:nvPr/>
            </p:nvSpPr>
            <p:spPr>
              <a:xfrm>
                <a:off x="76200" y="9525"/>
                <a:ext cx="660400" cy="727075"/>
              </a:xfrm>
              <a:prstGeom prst="rect">
                <a:avLst/>
              </a:prstGeom>
            </p:spPr>
            <p:txBody>
              <a:bodyPr lIns="50800" tIns="50800" rIns="50800" bIns="50800" rtlCol="0" anchor="ctr"/>
              <a:lstStyle/>
              <a:p>
                <a:pPr algn="ctr">
                  <a:lnSpc>
                    <a:spcPts val="3750"/>
                  </a:lnSpc>
                </a:pPr>
                <a:endParaRPr/>
              </a:p>
            </p:txBody>
          </p:sp>
        </p:grpSp>
        <p:grpSp>
          <p:nvGrpSpPr>
            <p:cNvPr id="6" name="Group 9">
              <a:extLst>
                <a:ext uri="{FF2B5EF4-FFF2-40B4-BE49-F238E27FC236}">
                  <a16:creationId xmlns:a16="http://schemas.microsoft.com/office/drawing/2014/main" id="{CA5E9641-20C1-16FC-50D7-1A4B831B1112}"/>
                </a:ext>
              </a:extLst>
            </p:cNvPr>
            <p:cNvGrpSpPr/>
            <p:nvPr/>
          </p:nvGrpSpPr>
          <p:grpSpPr>
            <a:xfrm>
              <a:off x="7031468" y="3972475"/>
              <a:ext cx="1100173" cy="1100173"/>
              <a:chOff x="0" y="0"/>
              <a:chExt cx="812800" cy="812800"/>
            </a:xfrm>
          </p:grpSpPr>
          <p:sp>
            <p:nvSpPr>
              <p:cNvPr id="33" name="Freeform 10">
                <a:extLst>
                  <a:ext uri="{FF2B5EF4-FFF2-40B4-BE49-F238E27FC236}">
                    <a16:creationId xmlns:a16="http://schemas.microsoft.com/office/drawing/2014/main" id="{9F109041-86DC-E967-4375-61C700ACE0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48"/>
              </a:solidFill>
            </p:spPr>
            <p:txBody>
              <a:bodyPr/>
              <a:lstStyle/>
              <a:p>
                <a:endParaRPr lang="en-GB"/>
              </a:p>
            </p:txBody>
          </p:sp>
          <p:sp>
            <p:nvSpPr>
              <p:cNvPr id="34" name="TextBox 11">
                <a:extLst>
                  <a:ext uri="{FF2B5EF4-FFF2-40B4-BE49-F238E27FC236}">
                    <a16:creationId xmlns:a16="http://schemas.microsoft.com/office/drawing/2014/main" id="{334E5B97-4960-E0A0-98F1-6F8C50D85D65}"/>
                  </a:ext>
                </a:extLst>
              </p:cNvPr>
              <p:cNvSpPr txBox="1"/>
              <p:nvPr/>
            </p:nvSpPr>
            <p:spPr>
              <a:xfrm>
                <a:off x="76200" y="9525"/>
                <a:ext cx="660400" cy="727075"/>
              </a:xfrm>
              <a:prstGeom prst="rect">
                <a:avLst/>
              </a:prstGeom>
            </p:spPr>
            <p:txBody>
              <a:bodyPr lIns="50800" tIns="50800" rIns="50800" bIns="50800" rtlCol="0" anchor="ctr"/>
              <a:lstStyle/>
              <a:p>
                <a:pPr algn="ctr">
                  <a:lnSpc>
                    <a:spcPts val="3750"/>
                  </a:lnSpc>
                </a:pPr>
                <a:endParaRPr/>
              </a:p>
            </p:txBody>
          </p:sp>
        </p:grpSp>
        <p:grpSp>
          <p:nvGrpSpPr>
            <p:cNvPr id="7" name="Group 12">
              <a:extLst>
                <a:ext uri="{FF2B5EF4-FFF2-40B4-BE49-F238E27FC236}">
                  <a16:creationId xmlns:a16="http://schemas.microsoft.com/office/drawing/2014/main" id="{FEB84A9F-659A-DC2A-DE9C-D42608130C60}"/>
                </a:ext>
              </a:extLst>
            </p:cNvPr>
            <p:cNvGrpSpPr/>
            <p:nvPr/>
          </p:nvGrpSpPr>
          <p:grpSpPr>
            <a:xfrm>
              <a:off x="9942333" y="3763528"/>
              <a:ext cx="1100173" cy="1100173"/>
              <a:chOff x="0" y="0"/>
              <a:chExt cx="812800" cy="812800"/>
            </a:xfrm>
          </p:grpSpPr>
          <p:sp>
            <p:nvSpPr>
              <p:cNvPr id="31" name="Freeform 13">
                <a:extLst>
                  <a:ext uri="{FF2B5EF4-FFF2-40B4-BE49-F238E27FC236}">
                    <a16:creationId xmlns:a16="http://schemas.microsoft.com/office/drawing/2014/main" id="{10413C33-C216-054F-B85D-DCBE4F376B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48"/>
              </a:solidFill>
            </p:spPr>
            <p:txBody>
              <a:bodyPr/>
              <a:lstStyle/>
              <a:p>
                <a:endParaRPr lang="en-GB"/>
              </a:p>
            </p:txBody>
          </p:sp>
          <p:sp>
            <p:nvSpPr>
              <p:cNvPr id="32" name="TextBox 14">
                <a:extLst>
                  <a:ext uri="{FF2B5EF4-FFF2-40B4-BE49-F238E27FC236}">
                    <a16:creationId xmlns:a16="http://schemas.microsoft.com/office/drawing/2014/main" id="{6320B3CE-CC06-BAF6-9152-DADC8D9646F5}"/>
                  </a:ext>
                </a:extLst>
              </p:cNvPr>
              <p:cNvSpPr txBox="1"/>
              <p:nvPr/>
            </p:nvSpPr>
            <p:spPr>
              <a:xfrm>
                <a:off x="76200" y="9525"/>
                <a:ext cx="660400" cy="727075"/>
              </a:xfrm>
              <a:prstGeom prst="rect">
                <a:avLst/>
              </a:prstGeom>
            </p:spPr>
            <p:txBody>
              <a:bodyPr lIns="50800" tIns="50800" rIns="50800" bIns="50800" rtlCol="0" anchor="ctr"/>
              <a:lstStyle/>
              <a:p>
                <a:pPr algn="ctr">
                  <a:lnSpc>
                    <a:spcPts val="3750"/>
                  </a:lnSpc>
                </a:pPr>
                <a:endParaRPr/>
              </a:p>
            </p:txBody>
          </p:sp>
        </p:grpSp>
        <p:sp>
          <p:nvSpPr>
            <p:cNvPr id="8" name="Freeform 26">
              <a:extLst>
                <a:ext uri="{FF2B5EF4-FFF2-40B4-BE49-F238E27FC236}">
                  <a16:creationId xmlns:a16="http://schemas.microsoft.com/office/drawing/2014/main" id="{5B7F3B8C-2E22-49D0-FE11-78A864A1DBD0}"/>
                </a:ext>
              </a:extLst>
            </p:cNvPr>
            <p:cNvSpPr/>
            <p:nvPr/>
          </p:nvSpPr>
          <p:spPr>
            <a:xfrm rot="-3685790">
              <a:off x="2973111" y="4589833"/>
              <a:ext cx="855233" cy="974625"/>
            </a:xfrm>
            <a:custGeom>
              <a:avLst/>
              <a:gdLst/>
              <a:ahLst/>
              <a:cxnLst/>
              <a:rect l="l" t="t" r="r" b="b"/>
              <a:pathLst>
                <a:path w="855233" h="974625">
                  <a:moveTo>
                    <a:pt x="0" y="0"/>
                  </a:moveTo>
                  <a:lnTo>
                    <a:pt x="855233" y="0"/>
                  </a:lnTo>
                  <a:lnTo>
                    <a:pt x="855233" y="974625"/>
                  </a:lnTo>
                  <a:lnTo>
                    <a:pt x="0" y="974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 name="Freeform 27">
              <a:extLst>
                <a:ext uri="{FF2B5EF4-FFF2-40B4-BE49-F238E27FC236}">
                  <a16:creationId xmlns:a16="http://schemas.microsoft.com/office/drawing/2014/main" id="{7327F953-5B5C-4960-6BA5-223ED366A059}"/>
                </a:ext>
              </a:extLst>
            </p:cNvPr>
            <p:cNvSpPr/>
            <p:nvPr/>
          </p:nvSpPr>
          <p:spPr>
            <a:xfrm rot="-3685790">
              <a:off x="5710280" y="4084234"/>
              <a:ext cx="855233" cy="974625"/>
            </a:xfrm>
            <a:custGeom>
              <a:avLst/>
              <a:gdLst/>
              <a:ahLst/>
              <a:cxnLst/>
              <a:rect l="l" t="t" r="r" b="b"/>
              <a:pathLst>
                <a:path w="855233" h="974625">
                  <a:moveTo>
                    <a:pt x="0" y="0"/>
                  </a:moveTo>
                  <a:lnTo>
                    <a:pt x="855233" y="0"/>
                  </a:lnTo>
                  <a:lnTo>
                    <a:pt x="855233" y="974625"/>
                  </a:lnTo>
                  <a:lnTo>
                    <a:pt x="0" y="974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28">
              <a:extLst>
                <a:ext uri="{FF2B5EF4-FFF2-40B4-BE49-F238E27FC236}">
                  <a16:creationId xmlns:a16="http://schemas.microsoft.com/office/drawing/2014/main" id="{459231D0-82F9-ECB7-9BE3-D2E6D5B42E9A}"/>
                </a:ext>
              </a:extLst>
            </p:cNvPr>
            <p:cNvSpPr/>
            <p:nvPr/>
          </p:nvSpPr>
          <p:spPr>
            <a:xfrm rot="-3267709">
              <a:off x="8621215" y="3803687"/>
              <a:ext cx="855233" cy="974625"/>
            </a:xfrm>
            <a:custGeom>
              <a:avLst/>
              <a:gdLst/>
              <a:ahLst/>
              <a:cxnLst/>
              <a:rect l="l" t="t" r="r" b="b"/>
              <a:pathLst>
                <a:path w="855233" h="974625">
                  <a:moveTo>
                    <a:pt x="0" y="0"/>
                  </a:moveTo>
                  <a:lnTo>
                    <a:pt x="855233" y="0"/>
                  </a:lnTo>
                  <a:lnTo>
                    <a:pt x="855233" y="974625"/>
                  </a:lnTo>
                  <a:lnTo>
                    <a:pt x="0" y="974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1" name="TextBox 29">
              <a:extLst>
                <a:ext uri="{FF2B5EF4-FFF2-40B4-BE49-F238E27FC236}">
                  <a16:creationId xmlns:a16="http://schemas.microsoft.com/office/drawing/2014/main" id="{516E9194-BA16-F58D-3FEC-BB6108DFC3AD}"/>
                </a:ext>
              </a:extLst>
            </p:cNvPr>
            <p:cNvSpPr txBox="1"/>
            <p:nvPr/>
          </p:nvSpPr>
          <p:spPr>
            <a:xfrm>
              <a:off x="1452976" y="5363155"/>
              <a:ext cx="1052736" cy="454659"/>
            </a:xfrm>
            <a:prstGeom prst="rect">
              <a:avLst/>
            </a:prstGeom>
          </p:spPr>
          <p:txBody>
            <a:bodyPr lIns="0" tIns="0" rIns="0" bIns="0" rtlCol="0" anchor="t">
              <a:spAutoFit/>
            </a:bodyPr>
            <a:lstStyle/>
            <a:p>
              <a:pPr algn="ctr"/>
              <a:r>
                <a:rPr lang="en-US" sz="1600" b="1">
                  <a:solidFill>
                    <a:srgbClr val="F7F9FC"/>
                  </a:solidFill>
                  <a:latin typeface="TT Norms Bold"/>
                  <a:ea typeface="TT Norms Bold"/>
                  <a:cs typeface="TT Norms Bold"/>
                  <a:sym typeface="TT Norms Bold"/>
                </a:rPr>
                <a:t>2014</a:t>
              </a:r>
            </a:p>
          </p:txBody>
        </p:sp>
        <p:sp>
          <p:nvSpPr>
            <p:cNvPr id="12" name="TextBox 30">
              <a:extLst>
                <a:ext uri="{FF2B5EF4-FFF2-40B4-BE49-F238E27FC236}">
                  <a16:creationId xmlns:a16="http://schemas.microsoft.com/office/drawing/2014/main" id="{53CEA5EE-4D1D-30F7-5978-8CD03DFF9DC5}"/>
                </a:ext>
              </a:extLst>
            </p:cNvPr>
            <p:cNvSpPr txBox="1"/>
            <p:nvPr/>
          </p:nvSpPr>
          <p:spPr>
            <a:xfrm>
              <a:off x="1003997" y="7455012"/>
              <a:ext cx="1951716" cy="795654"/>
            </a:xfrm>
            <a:prstGeom prst="rect">
              <a:avLst/>
            </a:prstGeom>
          </p:spPr>
          <p:txBody>
            <a:bodyPr lIns="0" tIns="0" rIns="0" bIns="0" rtlCol="0" anchor="t">
              <a:spAutoFit/>
            </a:bodyPr>
            <a:lstStyle/>
            <a:p>
              <a:pPr algn="ctr"/>
              <a:r>
                <a:rPr lang="en-US" sz="1400" spc="11">
                  <a:solidFill>
                    <a:srgbClr val="333F48"/>
                  </a:solidFill>
                  <a:latin typeface="+mj-lt"/>
                  <a:ea typeface="TT Norms"/>
                  <a:cs typeface="TT Norms"/>
                  <a:sym typeface="TT Norms"/>
                </a:rPr>
                <a:t>MRC-CLIMB begins</a:t>
              </a:r>
            </a:p>
          </p:txBody>
        </p:sp>
        <p:grpSp>
          <p:nvGrpSpPr>
            <p:cNvPr id="13" name="Group 32">
              <a:extLst>
                <a:ext uri="{FF2B5EF4-FFF2-40B4-BE49-F238E27FC236}">
                  <a16:creationId xmlns:a16="http://schemas.microsoft.com/office/drawing/2014/main" id="{4B90EA3F-2B2A-E90D-E7CA-4D5CB81F24DA}"/>
                </a:ext>
              </a:extLst>
            </p:cNvPr>
            <p:cNvGrpSpPr/>
            <p:nvPr/>
          </p:nvGrpSpPr>
          <p:grpSpPr>
            <a:xfrm>
              <a:off x="12896608" y="3976972"/>
              <a:ext cx="1100173" cy="1100173"/>
              <a:chOff x="0" y="0"/>
              <a:chExt cx="812800" cy="812800"/>
            </a:xfrm>
          </p:grpSpPr>
          <p:sp>
            <p:nvSpPr>
              <p:cNvPr id="29" name="Freeform 33">
                <a:extLst>
                  <a:ext uri="{FF2B5EF4-FFF2-40B4-BE49-F238E27FC236}">
                    <a16:creationId xmlns:a16="http://schemas.microsoft.com/office/drawing/2014/main" id="{5EAEEDFE-5B0F-F486-A779-1CD5F00B9D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48"/>
              </a:solidFill>
            </p:spPr>
            <p:txBody>
              <a:bodyPr/>
              <a:lstStyle/>
              <a:p>
                <a:endParaRPr lang="en-GB"/>
              </a:p>
            </p:txBody>
          </p:sp>
          <p:sp>
            <p:nvSpPr>
              <p:cNvPr id="30" name="TextBox 34">
                <a:extLst>
                  <a:ext uri="{FF2B5EF4-FFF2-40B4-BE49-F238E27FC236}">
                    <a16:creationId xmlns:a16="http://schemas.microsoft.com/office/drawing/2014/main" id="{6807A5FC-BC50-7B3E-525F-1178341B9EB2}"/>
                  </a:ext>
                </a:extLst>
              </p:cNvPr>
              <p:cNvSpPr txBox="1"/>
              <p:nvPr/>
            </p:nvSpPr>
            <p:spPr>
              <a:xfrm>
                <a:off x="76200" y="9525"/>
                <a:ext cx="660400" cy="727075"/>
              </a:xfrm>
              <a:prstGeom prst="rect">
                <a:avLst/>
              </a:prstGeom>
            </p:spPr>
            <p:txBody>
              <a:bodyPr lIns="50800" tIns="50800" rIns="50800" bIns="50800" rtlCol="0" anchor="ctr"/>
              <a:lstStyle/>
              <a:p>
                <a:pPr algn="ctr">
                  <a:lnSpc>
                    <a:spcPts val="3750"/>
                  </a:lnSpc>
                </a:pPr>
                <a:endParaRPr/>
              </a:p>
            </p:txBody>
          </p:sp>
        </p:grpSp>
        <p:grpSp>
          <p:nvGrpSpPr>
            <p:cNvPr id="14" name="Group 35">
              <a:extLst>
                <a:ext uri="{FF2B5EF4-FFF2-40B4-BE49-F238E27FC236}">
                  <a16:creationId xmlns:a16="http://schemas.microsoft.com/office/drawing/2014/main" id="{1BC84C6D-7841-2C6B-1B95-E6ED7B52EF03}"/>
                </a:ext>
              </a:extLst>
            </p:cNvPr>
            <p:cNvGrpSpPr/>
            <p:nvPr/>
          </p:nvGrpSpPr>
          <p:grpSpPr>
            <a:xfrm>
              <a:off x="15746554" y="4372125"/>
              <a:ext cx="1100173" cy="1100173"/>
              <a:chOff x="0" y="0"/>
              <a:chExt cx="812800" cy="812800"/>
            </a:xfrm>
          </p:grpSpPr>
          <p:sp>
            <p:nvSpPr>
              <p:cNvPr id="27" name="Freeform 36">
                <a:extLst>
                  <a:ext uri="{FF2B5EF4-FFF2-40B4-BE49-F238E27FC236}">
                    <a16:creationId xmlns:a16="http://schemas.microsoft.com/office/drawing/2014/main" id="{4D283B40-B324-2DE3-1A34-691240BF18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48"/>
              </a:solidFill>
            </p:spPr>
            <p:txBody>
              <a:bodyPr/>
              <a:lstStyle/>
              <a:p>
                <a:endParaRPr lang="en-GB"/>
              </a:p>
            </p:txBody>
          </p:sp>
          <p:sp>
            <p:nvSpPr>
              <p:cNvPr id="28" name="TextBox 37">
                <a:extLst>
                  <a:ext uri="{FF2B5EF4-FFF2-40B4-BE49-F238E27FC236}">
                    <a16:creationId xmlns:a16="http://schemas.microsoft.com/office/drawing/2014/main" id="{71FD1586-282A-CE7C-F506-D7DD0C1F0D13}"/>
                  </a:ext>
                </a:extLst>
              </p:cNvPr>
              <p:cNvSpPr txBox="1"/>
              <p:nvPr/>
            </p:nvSpPr>
            <p:spPr>
              <a:xfrm>
                <a:off x="76200" y="9525"/>
                <a:ext cx="660400" cy="727075"/>
              </a:xfrm>
              <a:prstGeom prst="rect">
                <a:avLst/>
              </a:prstGeom>
            </p:spPr>
            <p:txBody>
              <a:bodyPr lIns="50800" tIns="50800" rIns="50800" bIns="50800" rtlCol="0" anchor="ctr"/>
              <a:lstStyle/>
              <a:p>
                <a:pPr algn="ctr">
                  <a:lnSpc>
                    <a:spcPts val="3750"/>
                  </a:lnSpc>
                </a:pPr>
                <a:endParaRPr/>
              </a:p>
            </p:txBody>
          </p:sp>
        </p:grpSp>
        <p:sp>
          <p:nvSpPr>
            <p:cNvPr id="15" name="Freeform 38">
              <a:extLst>
                <a:ext uri="{FF2B5EF4-FFF2-40B4-BE49-F238E27FC236}">
                  <a16:creationId xmlns:a16="http://schemas.microsoft.com/office/drawing/2014/main" id="{64B23D79-D1E1-3F7E-FDCF-09A0C3D7DD06}"/>
                </a:ext>
              </a:extLst>
            </p:cNvPr>
            <p:cNvSpPr/>
            <p:nvPr/>
          </p:nvSpPr>
          <p:spPr>
            <a:xfrm rot="-3211437">
              <a:off x="11537178" y="3709359"/>
              <a:ext cx="855233" cy="974625"/>
            </a:xfrm>
            <a:custGeom>
              <a:avLst/>
              <a:gdLst/>
              <a:ahLst/>
              <a:cxnLst/>
              <a:rect l="l" t="t" r="r" b="b"/>
              <a:pathLst>
                <a:path w="855233" h="974625">
                  <a:moveTo>
                    <a:pt x="0" y="0"/>
                  </a:moveTo>
                  <a:lnTo>
                    <a:pt x="855234" y="0"/>
                  </a:lnTo>
                  <a:lnTo>
                    <a:pt x="855234" y="974625"/>
                  </a:lnTo>
                  <a:lnTo>
                    <a:pt x="0" y="974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6" name="Freeform 39">
              <a:extLst>
                <a:ext uri="{FF2B5EF4-FFF2-40B4-BE49-F238E27FC236}">
                  <a16:creationId xmlns:a16="http://schemas.microsoft.com/office/drawing/2014/main" id="{3D246051-86D2-E9B9-0825-CFAAF81A3B3A}"/>
                </a:ext>
              </a:extLst>
            </p:cNvPr>
            <p:cNvSpPr/>
            <p:nvPr/>
          </p:nvSpPr>
          <p:spPr>
            <a:xfrm rot="-2433804">
              <a:off x="14477163" y="3941554"/>
              <a:ext cx="855233" cy="974625"/>
            </a:xfrm>
            <a:custGeom>
              <a:avLst/>
              <a:gdLst/>
              <a:ahLst/>
              <a:cxnLst/>
              <a:rect l="l" t="t" r="r" b="b"/>
              <a:pathLst>
                <a:path w="855233" h="974625">
                  <a:moveTo>
                    <a:pt x="0" y="0"/>
                  </a:moveTo>
                  <a:lnTo>
                    <a:pt x="855233" y="0"/>
                  </a:lnTo>
                  <a:lnTo>
                    <a:pt x="855233" y="974625"/>
                  </a:lnTo>
                  <a:lnTo>
                    <a:pt x="0" y="974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7" name="TextBox 40">
              <a:extLst>
                <a:ext uri="{FF2B5EF4-FFF2-40B4-BE49-F238E27FC236}">
                  <a16:creationId xmlns:a16="http://schemas.microsoft.com/office/drawing/2014/main" id="{88193AD3-EB2F-A507-3DFB-5F7D2DF59C72}"/>
                </a:ext>
              </a:extLst>
            </p:cNvPr>
            <p:cNvSpPr txBox="1"/>
            <p:nvPr/>
          </p:nvSpPr>
          <p:spPr>
            <a:xfrm>
              <a:off x="4164631" y="4691561"/>
              <a:ext cx="1052736" cy="454659"/>
            </a:xfrm>
            <a:prstGeom prst="rect">
              <a:avLst/>
            </a:prstGeom>
          </p:spPr>
          <p:txBody>
            <a:bodyPr lIns="0" tIns="0" rIns="0" bIns="0" rtlCol="0" anchor="t">
              <a:spAutoFit/>
            </a:bodyPr>
            <a:lstStyle/>
            <a:p>
              <a:pPr algn="ctr"/>
              <a:r>
                <a:rPr lang="en-US" sz="1600" b="1">
                  <a:solidFill>
                    <a:srgbClr val="F7F9FC"/>
                  </a:solidFill>
                  <a:latin typeface="TT Norms Bold"/>
                  <a:ea typeface="TT Norms Bold"/>
                  <a:cs typeface="TT Norms Bold"/>
                  <a:sym typeface="TT Norms Bold"/>
                </a:rPr>
                <a:t>2016</a:t>
              </a:r>
            </a:p>
          </p:txBody>
        </p:sp>
        <p:sp>
          <p:nvSpPr>
            <p:cNvPr id="18" name="TextBox 41">
              <a:extLst>
                <a:ext uri="{FF2B5EF4-FFF2-40B4-BE49-F238E27FC236}">
                  <a16:creationId xmlns:a16="http://schemas.microsoft.com/office/drawing/2014/main" id="{46B52F08-00D1-2A8D-BCE5-99FFA76879DA}"/>
                </a:ext>
              </a:extLst>
            </p:cNvPr>
            <p:cNvSpPr txBox="1"/>
            <p:nvPr/>
          </p:nvSpPr>
          <p:spPr>
            <a:xfrm>
              <a:off x="7068727" y="4304958"/>
              <a:ext cx="1052736" cy="454659"/>
            </a:xfrm>
            <a:prstGeom prst="rect">
              <a:avLst/>
            </a:prstGeom>
          </p:spPr>
          <p:txBody>
            <a:bodyPr lIns="0" tIns="0" rIns="0" bIns="0" rtlCol="0" anchor="t">
              <a:spAutoFit/>
            </a:bodyPr>
            <a:lstStyle/>
            <a:p>
              <a:pPr algn="ctr"/>
              <a:r>
                <a:rPr lang="en-US" sz="1600" b="1">
                  <a:solidFill>
                    <a:srgbClr val="F7F9FC"/>
                  </a:solidFill>
                  <a:latin typeface="TT Norms Bold"/>
                  <a:ea typeface="TT Norms Bold"/>
                  <a:cs typeface="TT Norms Bold"/>
                  <a:sym typeface="TT Norms Bold"/>
                </a:rPr>
                <a:t>2017</a:t>
              </a:r>
            </a:p>
          </p:txBody>
        </p:sp>
        <p:sp>
          <p:nvSpPr>
            <p:cNvPr id="19" name="TextBox 42">
              <a:extLst>
                <a:ext uri="{FF2B5EF4-FFF2-40B4-BE49-F238E27FC236}">
                  <a16:creationId xmlns:a16="http://schemas.microsoft.com/office/drawing/2014/main" id="{4578709C-B6C2-2D28-1FE4-70D31F6FB053}"/>
                </a:ext>
              </a:extLst>
            </p:cNvPr>
            <p:cNvSpPr txBox="1"/>
            <p:nvPr/>
          </p:nvSpPr>
          <p:spPr>
            <a:xfrm>
              <a:off x="9965542" y="4107943"/>
              <a:ext cx="1052736" cy="454659"/>
            </a:xfrm>
            <a:prstGeom prst="rect">
              <a:avLst/>
            </a:prstGeom>
          </p:spPr>
          <p:txBody>
            <a:bodyPr lIns="0" tIns="0" rIns="0" bIns="0" rtlCol="0" anchor="t">
              <a:spAutoFit/>
            </a:bodyPr>
            <a:lstStyle/>
            <a:p>
              <a:pPr algn="ctr"/>
              <a:r>
                <a:rPr lang="en-US" sz="1600" b="1">
                  <a:solidFill>
                    <a:srgbClr val="F7F9FC"/>
                  </a:solidFill>
                  <a:latin typeface="TT Norms Bold"/>
                  <a:ea typeface="TT Norms Bold"/>
                  <a:cs typeface="TT Norms Bold"/>
                  <a:sym typeface="TT Norms Bold"/>
                </a:rPr>
                <a:t>2019</a:t>
              </a:r>
            </a:p>
          </p:txBody>
        </p:sp>
        <p:sp>
          <p:nvSpPr>
            <p:cNvPr id="20" name="TextBox 43">
              <a:extLst>
                <a:ext uri="{FF2B5EF4-FFF2-40B4-BE49-F238E27FC236}">
                  <a16:creationId xmlns:a16="http://schemas.microsoft.com/office/drawing/2014/main" id="{FBAE280C-5745-6B6A-BB03-E9A69CB14F2C}"/>
                </a:ext>
              </a:extLst>
            </p:cNvPr>
            <p:cNvSpPr txBox="1"/>
            <p:nvPr/>
          </p:nvSpPr>
          <p:spPr>
            <a:xfrm>
              <a:off x="12922689" y="4300541"/>
              <a:ext cx="1052736" cy="454659"/>
            </a:xfrm>
            <a:prstGeom prst="rect">
              <a:avLst/>
            </a:prstGeom>
          </p:spPr>
          <p:txBody>
            <a:bodyPr lIns="0" tIns="0" rIns="0" bIns="0" rtlCol="0" anchor="t">
              <a:spAutoFit/>
            </a:bodyPr>
            <a:lstStyle/>
            <a:p>
              <a:pPr algn="ctr"/>
              <a:r>
                <a:rPr lang="en-US" sz="1600" b="1">
                  <a:solidFill>
                    <a:srgbClr val="F7F9FC"/>
                  </a:solidFill>
                  <a:latin typeface="TT Norms Bold"/>
                  <a:ea typeface="TT Norms Bold"/>
                  <a:cs typeface="TT Norms Bold"/>
                  <a:sym typeface="TT Norms Bold"/>
                </a:rPr>
                <a:t>2020</a:t>
              </a:r>
            </a:p>
          </p:txBody>
        </p:sp>
        <p:sp>
          <p:nvSpPr>
            <p:cNvPr id="21" name="TextBox 44">
              <a:extLst>
                <a:ext uri="{FF2B5EF4-FFF2-40B4-BE49-F238E27FC236}">
                  <a16:creationId xmlns:a16="http://schemas.microsoft.com/office/drawing/2014/main" id="{9F75DE71-D66B-DE20-4818-9EF73556A7AE}"/>
                </a:ext>
              </a:extLst>
            </p:cNvPr>
            <p:cNvSpPr txBox="1"/>
            <p:nvPr/>
          </p:nvSpPr>
          <p:spPr>
            <a:xfrm>
              <a:off x="15760693" y="4695692"/>
              <a:ext cx="1052736" cy="454659"/>
            </a:xfrm>
            <a:prstGeom prst="rect">
              <a:avLst/>
            </a:prstGeom>
          </p:spPr>
          <p:txBody>
            <a:bodyPr lIns="0" tIns="0" rIns="0" bIns="0" rtlCol="0" anchor="t">
              <a:spAutoFit/>
            </a:bodyPr>
            <a:lstStyle/>
            <a:p>
              <a:pPr algn="ctr"/>
              <a:r>
                <a:rPr lang="en-US" sz="1600" b="1">
                  <a:solidFill>
                    <a:srgbClr val="F7F9FC"/>
                  </a:solidFill>
                  <a:latin typeface="TT Norms Bold"/>
                  <a:ea typeface="TT Norms Bold"/>
                  <a:cs typeface="TT Norms Bold"/>
                  <a:sym typeface="TT Norms Bold"/>
                </a:rPr>
                <a:t>2025</a:t>
              </a:r>
            </a:p>
          </p:txBody>
        </p:sp>
        <p:sp>
          <p:nvSpPr>
            <p:cNvPr id="22" name="TextBox 45">
              <a:extLst>
                <a:ext uri="{FF2B5EF4-FFF2-40B4-BE49-F238E27FC236}">
                  <a16:creationId xmlns:a16="http://schemas.microsoft.com/office/drawing/2014/main" id="{6745EE82-0F93-326F-003A-A78038253B6E}"/>
                </a:ext>
              </a:extLst>
            </p:cNvPr>
            <p:cNvSpPr txBox="1"/>
            <p:nvPr/>
          </p:nvSpPr>
          <p:spPr>
            <a:xfrm>
              <a:off x="3657311" y="6869411"/>
              <a:ext cx="2278271" cy="1193482"/>
            </a:xfrm>
            <a:prstGeom prst="rect">
              <a:avLst/>
            </a:prstGeom>
          </p:spPr>
          <p:txBody>
            <a:bodyPr wrap="square" lIns="0" tIns="0" rIns="0" bIns="0" rtlCol="0" anchor="t">
              <a:spAutoFit/>
            </a:bodyPr>
            <a:lstStyle/>
            <a:p>
              <a:pPr algn="ctr"/>
              <a:r>
                <a:rPr lang="en-US" sz="1400" spc="11">
                  <a:solidFill>
                    <a:srgbClr val="333F48"/>
                  </a:solidFill>
                  <a:latin typeface="+mj-lt"/>
                  <a:ea typeface="TT Norms"/>
                  <a:cs typeface="TT Norms"/>
                  <a:sym typeface="TT Norms"/>
                </a:rPr>
                <a:t>CLIMB  opens to UK microbiology community</a:t>
              </a:r>
            </a:p>
          </p:txBody>
        </p:sp>
        <p:sp>
          <p:nvSpPr>
            <p:cNvPr id="23" name="TextBox 46">
              <a:extLst>
                <a:ext uri="{FF2B5EF4-FFF2-40B4-BE49-F238E27FC236}">
                  <a16:creationId xmlns:a16="http://schemas.microsoft.com/office/drawing/2014/main" id="{744FF748-D624-E8D2-0078-EBCF697C413A}"/>
                </a:ext>
              </a:extLst>
            </p:cNvPr>
            <p:cNvSpPr txBox="1"/>
            <p:nvPr/>
          </p:nvSpPr>
          <p:spPr>
            <a:xfrm>
              <a:off x="6608445" y="6366174"/>
              <a:ext cx="1951716" cy="1989136"/>
            </a:xfrm>
            <a:prstGeom prst="rect">
              <a:avLst/>
            </a:prstGeom>
          </p:spPr>
          <p:txBody>
            <a:bodyPr lIns="0" tIns="0" rIns="0" bIns="0" rtlCol="0" anchor="t">
              <a:spAutoFit/>
            </a:bodyPr>
            <a:lstStyle/>
            <a:p>
              <a:pPr algn="ctr"/>
              <a:r>
                <a:rPr lang="en-US" sz="1400" spc="11">
                  <a:solidFill>
                    <a:srgbClr val="333F48"/>
                  </a:solidFill>
                  <a:latin typeface="+mj-lt"/>
                  <a:ea typeface="TT Norms"/>
                  <a:cs typeface="TT Norms"/>
                  <a:sym typeface="TT Norms"/>
                </a:rPr>
                <a:t>Wins HPCwire Readers’ Choice Awards for the first time</a:t>
              </a:r>
            </a:p>
          </p:txBody>
        </p:sp>
        <p:sp>
          <p:nvSpPr>
            <p:cNvPr id="24" name="TextBox 47">
              <a:extLst>
                <a:ext uri="{FF2B5EF4-FFF2-40B4-BE49-F238E27FC236}">
                  <a16:creationId xmlns:a16="http://schemas.microsoft.com/office/drawing/2014/main" id="{91FF5D97-51EA-6D9D-84DF-E697D48AB833}"/>
                </a:ext>
              </a:extLst>
            </p:cNvPr>
            <p:cNvSpPr txBox="1"/>
            <p:nvPr/>
          </p:nvSpPr>
          <p:spPr>
            <a:xfrm>
              <a:off x="9484296" y="6303337"/>
              <a:ext cx="1951716" cy="1591308"/>
            </a:xfrm>
            <a:prstGeom prst="rect">
              <a:avLst/>
            </a:prstGeom>
          </p:spPr>
          <p:txBody>
            <a:bodyPr lIns="0" tIns="0" rIns="0" bIns="0" rtlCol="0" anchor="t">
              <a:spAutoFit/>
            </a:bodyPr>
            <a:lstStyle/>
            <a:p>
              <a:pPr algn="ctr"/>
              <a:r>
                <a:rPr lang="en-US" sz="1400" spc="11">
                  <a:solidFill>
                    <a:srgbClr val="333F48"/>
                  </a:solidFill>
                  <a:latin typeface="+mj-lt"/>
                  <a:ea typeface="TT Norms"/>
                  <a:cs typeface="TT Norms"/>
                  <a:sym typeface="TT Norms"/>
                </a:rPr>
                <a:t>Reaches 1,400+ users across 80+ UK institutions</a:t>
              </a:r>
            </a:p>
          </p:txBody>
        </p:sp>
        <p:sp>
          <p:nvSpPr>
            <p:cNvPr id="25" name="TextBox 48">
              <a:extLst>
                <a:ext uri="{FF2B5EF4-FFF2-40B4-BE49-F238E27FC236}">
                  <a16:creationId xmlns:a16="http://schemas.microsoft.com/office/drawing/2014/main" id="{8AEFB1D3-ADCA-7BF5-1477-F5B3AB6E6B39}"/>
                </a:ext>
              </a:extLst>
            </p:cNvPr>
            <p:cNvSpPr txBox="1"/>
            <p:nvPr/>
          </p:nvSpPr>
          <p:spPr>
            <a:xfrm>
              <a:off x="12359936" y="6532772"/>
              <a:ext cx="1903094" cy="1989136"/>
            </a:xfrm>
            <a:prstGeom prst="rect">
              <a:avLst/>
            </a:prstGeom>
          </p:spPr>
          <p:txBody>
            <a:bodyPr lIns="0" tIns="0" rIns="0" bIns="0" rtlCol="0" anchor="t">
              <a:spAutoFit/>
            </a:bodyPr>
            <a:lstStyle/>
            <a:p>
              <a:pPr algn="ctr"/>
              <a:r>
                <a:rPr lang="en-US" sz="1400" spc="11">
                  <a:solidFill>
                    <a:srgbClr val="333F48"/>
                  </a:solidFill>
                  <a:latin typeface="+mj-lt"/>
                  <a:ea typeface="TT Norms"/>
                  <a:cs typeface="TT Norms"/>
                  <a:sym typeface="TT Norms"/>
                </a:rPr>
                <a:t>CLIMB-Big-Data begins; crucial role in COVID-19 response</a:t>
              </a:r>
            </a:p>
          </p:txBody>
        </p:sp>
        <p:sp>
          <p:nvSpPr>
            <p:cNvPr id="26" name="TextBox 49">
              <a:extLst>
                <a:ext uri="{FF2B5EF4-FFF2-40B4-BE49-F238E27FC236}">
                  <a16:creationId xmlns:a16="http://schemas.microsoft.com/office/drawing/2014/main" id="{C907A01E-EBF7-45BF-DA98-14EBE44C48BE}"/>
                </a:ext>
              </a:extLst>
            </p:cNvPr>
            <p:cNvSpPr txBox="1"/>
            <p:nvPr/>
          </p:nvSpPr>
          <p:spPr>
            <a:xfrm>
              <a:off x="15264154" y="6799901"/>
              <a:ext cx="2077778" cy="1591308"/>
            </a:xfrm>
            <a:prstGeom prst="rect">
              <a:avLst/>
            </a:prstGeom>
          </p:spPr>
          <p:txBody>
            <a:bodyPr lIns="0" tIns="0" rIns="0" bIns="0" rtlCol="0" anchor="t">
              <a:spAutoFit/>
            </a:bodyPr>
            <a:lstStyle/>
            <a:p>
              <a:pPr algn="ctr"/>
              <a:r>
                <a:rPr lang="en-US" sz="1400" spc="11">
                  <a:solidFill>
                    <a:srgbClr val="333F48"/>
                  </a:solidFill>
                  <a:latin typeface="+mj-lt"/>
                  <a:ea typeface="TT Norms"/>
                  <a:cs typeface="TT Norms"/>
                  <a:sym typeface="TT Norms"/>
                </a:rPr>
                <a:t>Transitioning to self-sustainability model</a:t>
              </a:r>
            </a:p>
          </p:txBody>
        </p:sp>
      </p:grpSp>
      <p:sp>
        <p:nvSpPr>
          <p:cNvPr id="39" name="Title 3">
            <a:extLst>
              <a:ext uri="{FF2B5EF4-FFF2-40B4-BE49-F238E27FC236}">
                <a16:creationId xmlns:a16="http://schemas.microsoft.com/office/drawing/2014/main" id="{25E2CF37-F980-0F26-7CCC-30C50A9B1BCB}"/>
              </a:ext>
            </a:extLst>
          </p:cNvPr>
          <p:cNvSpPr txBox="1">
            <a:spLocks/>
          </p:cNvSpPr>
          <p:nvPr/>
        </p:nvSpPr>
        <p:spPr>
          <a:xfrm>
            <a:off x="353484" y="385848"/>
            <a:ext cx="4431700" cy="536390"/>
          </a:xfrm>
          <a:prstGeom prst="rect">
            <a:avLst/>
          </a:prstGeom>
        </p:spPr>
        <p:txBody>
          <a:bodyPr>
            <a:noAutofit/>
          </a:bodyPr>
          <a:lstStyle>
            <a:lvl1pPr algn="l" defTabSz="685800" rtl="0" eaLnBrk="1" latinLnBrk="0" hangingPunct="1">
              <a:lnSpc>
                <a:spcPct val="90000"/>
              </a:lnSpc>
              <a:spcBef>
                <a:spcPct val="0"/>
              </a:spcBef>
              <a:buNone/>
              <a:defRPr sz="3300" kern="1200" baseline="0">
                <a:solidFill>
                  <a:schemeClr val="accent5"/>
                </a:solidFill>
                <a:latin typeface="+mj-lt"/>
                <a:ea typeface="+mj-ea"/>
                <a:cs typeface="+mj-cs"/>
              </a:defRPr>
            </a:lvl1pPr>
          </a:lstStyle>
          <a:p>
            <a:r>
              <a:rPr lang="en-US" sz="3000" b="1"/>
              <a:t>CLIMB Timeline</a:t>
            </a:r>
          </a:p>
        </p:txBody>
      </p:sp>
      <p:sp>
        <p:nvSpPr>
          <p:cNvPr id="45" name="Freeform 17">
            <a:extLst>
              <a:ext uri="{FF2B5EF4-FFF2-40B4-BE49-F238E27FC236}">
                <a16:creationId xmlns:a16="http://schemas.microsoft.com/office/drawing/2014/main" id="{98D9916F-62E4-D4A7-77F2-AB7AA803607F}"/>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47" name="Freeform 30">
            <a:extLst>
              <a:ext uri="{FF2B5EF4-FFF2-40B4-BE49-F238E27FC236}">
                <a16:creationId xmlns:a16="http://schemas.microsoft.com/office/drawing/2014/main" id="{B06AE604-1050-92A5-578D-BA4EC662C78F}"/>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7">
              <a:lum bright="70000" contrast="-70000"/>
              <a:extLst>
                <a:ext uri="{BEBA8EAE-BF5A-486C-A8C5-ECC9F3942E4B}">
                  <a14:imgProps xmlns:a14="http://schemas.microsoft.com/office/drawing/2010/main">
                    <a14:imgLayer r:embed="rId8">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4193609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CD317-7220-5FD0-6F08-9D1B07B9D925}"/>
            </a:ext>
          </a:extLst>
        </p:cNvPr>
        <p:cNvGrpSpPr/>
        <p:nvPr/>
      </p:nvGrpSpPr>
      <p:grpSpPr>
        <a:xfrm>
          <a:off x="0" y="0"/>
          <a:ext cx="0" cy="0"/>
          <a:chOff x="0" y="0"/>
          <a:chExt cx="0" cy="0"/>
        </a:xfrm>
      </p:grpSpPr>
      <p:sp>
        <p:nvSpPr>
          <p:cNvPr id="20" name="Freeform 9">
            <a:extLst>
              <a:ext uri="{FF2B5EF4-FFF2-40B4-BE49-F238E27FC236}">
                <a16:creationId xmlns:a16="http://schemas.microsoft.com/office/drawing/2014/main" id="{E2D50073-45F3-1071-402D-8FB7DA9644FC}"/>
              </a:ext>
            </a:extLst>
          </p:cNvPr>
          <p:cNvSpPr/>
          <p:nvPr/>
        </p:nvSpPr>
        <p:spPr>
          <a:xfrm rot="10970558">
            <a:off x="7358137" y="-990884"/>
            <a:ext cx="5147519" cy="6136593"/>
          </a:xfrm>
          <a:custGeom>
            <a:avLst/>
            <a:gdLst/>
            <a:ahLst/>
            <a:cxnLst/>
            <a:rect l="l" t="t" r="r" b="b"/>
            <a:pathLst>
              <a:path w="787882" h="998288">
                <a:moveTo>
                  <a:pt x="410020" y="10934"/>
                </a:moveTo>
                <a:lnTo>
                  <a:pt x="784262" y="957614"/>
                </a:lnTo>
                <a:cubicBezTo>
                  <a:pt x="787882" y="966772"/>
                  <a:pt x="786735" y="977128"/>
                  <a:pt x="781197" y="985271"/>
                </a:cubicBezTo>
                <a:cubicBezTo>
                  <a:pt x="775660" y="993414"/>
                  <a:pt x="766451" y="998289"/>
                  <a:pt x="756604" y="998289"/>
                </a:cubicBezTo>
                <a:lnTo>
                  <a:pt x="31278" y="998289"/>
                </a:lnTo>
                <a:cubicBezTo>
                  <a:pt x="21431" y="998289"/>
                  <a:pt x="12222" y="993414"/>
                  <a:pt x="6685" y="985271"/>
                </a:cubicBezTo>
                <a:cubicBezTo>
                  <a:pt x="1148" y="977128"/>
                  <a:pt x="0" y="966772"/>
                  <a:pt x="3620" y="957614"/>
                </a:cubicBezTo>
                <a:lnTo>
                  <a:pt x="377862" y="10934"/>
                </a:lnTo>
                <a:cubicBezTo>
                  <a:pt x="380470" y="4336"/>
                  <a:pt x="386846" y="0"/>
                  <a:pt x="393941" y="0"/>
                </a:cubicBezTo>
                <a:cubicBezTo>
                  <a:pt x="401036" y="0"/>
                  <a:pt x="407412" y="4336"/>
                  <a:pt x="410020" y="10934"/>
                </a:cubicBezTo>
                <a:close/>
              </a:path>
            </a:pathLst>
          </a:custGeom>
          <a:solidFill>
            <a:srgbClr val="B5BD00"/>
          </a:solidFill>
        </p:spPr>
        <p:txBody>
          <a:bodyPr/>
          <a:lstStyle/>
          <a:p>
            <a:endParaRPr lang="en-GB"/>
          </a:p>
        </p:txBody>
      </p:sp>
      <p:sp>
        <p:nvSpPr>
          <p:cNvPr id="4" name="Title 3">
            <a:extLst>
              <a:ext uri="{FF2B5EF4-FFF2-40B4-BE49-F238E27FC236}">
                <a16:creationId xmlns:a16="http://schemas.microsoft.com/office/drawing/2014/main" id="{B1C9F557-5376-2348-F0FD-2923DF9ECFE7}"/>
              </a:ext>
            </a:extLst>
          </p:cNvPr>
          <p:cNvSpPr>
            <a:spLocks noGrp="1"/>
          </p:cNvSpPr>
          <p:nvPr>
            <p:ph type="ctrTitle"/>
          </p:nvPr>
        </p:nvSpPr>
        <p:spPr>
          <a:xfrm>
            <a:off x="353484" y="473984"/>
            <a:ext cx="4431700" cy="273844"/>
          </a:xfrm>
        </p:spPr>
        <p:txBody>
          <a:bodyPr>
            <a:noAutofit/>
          </a:bodyPr>
          <a:lstStyle/>
          <a:p>
            <a:r>
              <a:rPr lang="en-US" sz="3000" b="1"/>
              <a:t>What does CLIMB offer?</a:t>
            </a:r>
          </a:p>
        </p:txBody>
      </p:sp>
      <p:grpSp>
        <p:nvGrpSpPr>
          <p:cNvPr id="10" name="Group 11">
            <a:extLst>
              <a:ext uri="{FF2B5EF4-FFF2-40B4-BE49-F238E27FC236}">
                <a16:creationId xmlns:a16="http://schemas.microsoft.com/office/drawing/2014/main" id="{7A0B7516-DA78-6E8A-20BA-61458FCEBA20}"/>
              </a:ext>
            </a:extLst>
          </p:cNvPr>
          <p:cNvGrpSpPr/>
          <p:nvPr/>
        </p:nvGrpSpPr>
        <p:grpSpPr>
          <a:xfrm>
            <a:off x="-1344058" y="1170219"/>
            <a:ext cx="10788240" cy="3354889"/>
            <a:chOff x="0" y="0"/>
            <a:chExt cx="1800779" cy="534181"/>
          </a:xfrm>
        </p:grpSpPr>
        <p:sp>
          <p:nvSpPr>
            <p:cNvPr id="11" name="Freeform 12">
              <a:extLst>
                <a:ext uri="{FF2B5EF4-FFF2-40B4-BE49-F238E27FC236}">
                  <a16:creationId xmlns:a16="http://schemas.microsoft.com/office/drawing/2014/main" id="{F9DC951B-D34C-D133-8D20-7E4F0176956E}"/>
                </a:ext>
              </a:extLst>
            </p:cNvPr>
            <p:cNvSpPr/>
            <p:nvPr/>
          </p:nvSpPr>
          <p:spPr>
            <a:xfrm>
              <a:off x="2892" y="0"/>
              <a:ext cx="1794995" cy="534181"/>
            </a:xfrm>
            <a:custGeom>
              <a:avLst/>
              <a:gdLst/>
              <a:ahLst/>
              <a:cxnLst/>
              <a:rect l="l" t="t" r="r" b="b"/>
              <a:pathLst>
                <a:path w="1794995" h="534181">
                  <a:moveTo>
                    <a:pt x="1584168" y="0"/>
                  </a:moveTo>
                  <a:lnTo>
                    <a:pt x="7626" y="0"/>
                  </a:lnTo>
                  <a:cubicBezTo>
                    <a:pt x="5242" y="0"/>
                    <a:pt x="3009" y="1172"/>
                    <a:pt x="1656" y="3136"/>
                  </a:cubicBezTo>
                  <a:cubicBezTo>
                    <a:pt x="302" y="5099"/>
                    <a:pt x="0" y="7602"/>
                    <a:pt x="848" y="9831"/>
                  </a:cubicBezTo>
                  <a:lnTo>
                    <a:pt x="196568" y="524349"/>
                  </a:lnTo>
                  <a:cubicBezTo>
                    <a:pt x="198820" y="530268"/>
                    <a:pt x="204494" y="534181"/>
                    <a:pt x="210826" y="534181"/>
                  </a:cubicBezTo>
                  <a:lnTo>
                    <a:pt x="1787368" y="534181"/>
                  </a:lnTo>
                  <a:cubicBezTo>
                    <a:pt x="1789753" y="534181"/>
                    <a:pt x="1791985" y="533008"/>
                    <a:pt x="1793339" y="531045"/>
                  </a:cubicBezTo>
                  <a:cubicBezTo>
                    <a:pt x="1794693" y="529082"/>
                    <a:pt x="1794995" y="526578"/>
                    <a:pt x="1794147" y="524349"/>
                  </a:cubicBezTo>
                  <a:lnTo>
                    <a:pt x="1598426" y="9831"/>
                  </a:lnTo>
                  <a:cubicBezTo>
                    <a:pt x="1596175" y="3912"/>
                    <a:pt x="1590501" y="0"/>
                    <a:pt x="1584168" y="0"/>
                  </a:cubicBezTo>
                  <a:close/>
                </a:path>
              </a:pathLst>
            </a:custGeom>
            <a:solidFill>
              <a:schemeClr val="accent5"/>
            </a:solidFill>
          </p:spPr>
          <p:txBody>
            <a:bodyPr/>
            <a:lstStyle/>
            <a:p>
              <a:endParaRPr lang="en-GB" sz="1400">
                <a:solidFill>
                  <a:srgbClr val="333F48"/>
                </a:solidFill>
                <a:latin typeface="+mj-lt"/>
              </a:endParaRPr>
            </a:p>
          </p:txBody>
        </p:sp>
        <p:sp>
          <p:nvSpPr>
            <p:cNvPr id="12" name="TextBox 13">
              <a:extLst>
                <a:ext uri="{FF2B5EF4-FFF2-40B4-BE49-F238E27FC236}">
                  <a16:creationId xmlns:a16="http://schemas.microsoft.com/office/drawing/2014/main" id="{9AB277E6-8DBD-D49B-1E40-F4DF02484B4F}"/>
                </a:ext>
              </a:extLst>
            </p:cNvPr>
            <p:cNvSpPr txBox="1"/>
            <p:nvPr/>
          </p:nvSpPr>
          <p:spPr>
            <a:xfrm>
              <a:off x="101600" y="-66675"/>
              <a:ext cx="1597579" cy="600856"/>
            </a:xfrm>
            <a:prstGeom prst="rect">
              <a:avLst/>
            </a:prstGeom>
          </p:spPr>
          <p:txBody>
            <a:bodyPr lIns="50800" tIns="50800" rIns="50800" bIns="50800" rtlCol="0" anchor="ctr"/>
            <a:lstStyle/>
            <a:p>
              <a:pPr algn="ctr"/>
              <a:endParaRPr sz="1400">
                <a:solidFill>
                  <a:srgbClr val="333F48"/>
                </a:solidFill>
                <a:latin typeface="+mj-lt"/>
              </a:endParaRPr>
            </a:p>
          </p:txBody>
        </p:sp>
      </p:grpSp>
      <p:sp>
        <p:nvSpPr>
          <p:cNvPr id="13" name="TextBox 20">
            <a:extLst>
              <a:ext uri="{FF2B5EF4-FFF2-40B4-BE49-F238E27FC236}">
                <a16:creationId xmlns:a16="http://schemas.microsoft.com/office/drawing/2014/main" id="{E10AE076-FFD2-FB08-8346-E2AB3E4825F0}"/>
              </a:ext>
            </a:extLst>
          </p:cNvPr>
          <p:cNvSpPr txBox="1"/>
          <p:nvPr/>
        </p:nvSpPr>
        <p:spPr>
          <a:xfrm>
            <a:off x="353484" y="1501678"/>
            <a:ext cx="2515967" cy="307777"/>
          </a:xfrm>
          <a:prstGeom prst="rect">
            <a:avLst/>
          </a:prstGeom>
        </p:spPr>
        <p:txBody>
          <a:bodyPr wrap="square" lIns="0" tIns="0" rIns="0" bIns="0" rtlCol="0" anchor="t">
            <a:spAutoFit/>
          </a:bodyPr>
          <a:lstStyle/>
          <a:p>
            <a:pPr algn="l"/>
            <a:r>
              <a:rPr lang="en-US" sz="2000" b="1">
                <a:solidFill>
                  <a:srgbClr val="FFFFFF"/>
                </a:solidFill>
                <a:latin typeface="+mj-lt"/>
                <a:ea typeface="TT Norms Bold"/>
                <a:cs typeface="TT Norms Bold"/>
                <a:sym typeface="TT Norms Bold"/>
              </a:rPr>
              <a:t>Notebook Servers</a:t>
            </a:r>
          </a:p>
        </p:txBody>
      </p:sp>
      <p:sp>
        <p:nvSpPr>
          <p:cNvPr id="14" name="TextBox 21">
            <a:extLst>
              <a:ext uri="{FF2B5EF4-FFF2-40B4-BE49-F238E27FC236}">
                <a16:creationId xmlns:a16="http://schemas.microsoft.com/office/drawing/2014/main" id="{5B09B527-3433-F2B4-6E94-469D7DEF2AFE}"/>
              </a:ext>
            </a:extLst>
          </p:cNvPr>
          <p:cNvSpPr txBox="1"/>
          <p:nvPr/>
        </p:nvSpPr>
        <p:spPr>
          <a:xfrm>
            <a:off x="104095" y="2073588"/>
            <a:ext cx="3077516" cy="1384995"/>
          </a:xfrm>
          <a:prstGeom prst="rect">
            <a:avLst/>
          </a:prstGeom>
        </p:spPr>
        <p:txBody>
          <a:bodyPr wrap="square" lIns="0" tIns="0" rIns="0" bIns="0" rtlCol="0" anchor="t">
            <a:spAutoFit/>
          </a:bodyPr>
          <a:lstStyle/>
          <a:p>
            <a:pPr marL="496575" lvl="1" indent="-248288" algn="l">
              <a:buFont typeface="Arial"/>
              <a:buChar char="•"/>
            </a:pPr>
            <a:r>
              <a:rPr lang="en-US" spc="11" err="1">
                <a:solidFill>
                  <a:srgbClr val="FFFFFF"/>
                </a:solidFill>
                <a:latin typeface="+mj-lt"/>
                <a:ea typeface="TT Norms"/>
                <a:cs typeface="TT Norms"/>
                <a:sym typeface="TT Norms"/>
              </a:rPr>
              <a:t>Jupyter</a:t>
            </a:r>
            <a:r>
              <a:rPr lang="en-US" spc="11">
                <a:solidFill>
                  <a:srgbClr val="FFFFFF"/>
                </a:solidFill>
                <a:latin typeface="+mj-lt"/>
                <a:ea typeface="TT Norms"/>
                <a:cs typeface="TT Norms"/>
                <a:sym typeface="TT Norms"/>
              </a:rPr>
              <a:t>-based interface</a:t>
            </a:r>
          </a:p>
          <a:p>
            <a:pPr marL="496575" lvl="1" indent="-248288" algn="l">
              <a:buFont typeface="Arial"/>
              <a:buChar char="•"/>
            </a:pPr>
            <a:r>
              <a:rPr lang="en-US" spc="11">
                <a:solidFill>
                  <a:srgbClr val="FFFFFF"/>
                </a:solidFill>
                <a:latin typeface="+mj-lt"/>
                <a:ea typeface="TT Norms"/>
                <a:cs typeface="TT Norms"/>
                <a:sym typeface="TT Norms"/>
              </a:rPr>
              <a:t>Flexible CPU and RAM allocation</a:t>
            </a:r>
          </a:p>
          <a:p>
            <a:pPr marL="496575" lvl="1" indent="-248288" algn="l">
              <a:buFont typeface="Arial"/>
              <a:buChar char="•"/>
            </a:pPr>
            <a:r>
              <a:rPr lang="en-US" spc="11">
                <a:solidFill>
                  <a:srgbClr val="FFFFFF"/>
                </a:solidFill>
                <a:latin typeface="+mj-lt"/>
                <a:ea typeface="TT Norms"/>
                <a:cs typeface="TT Norms"/>
                <a:sym typeface="TT Norms"/>
              </a:rPr>
              <a:t>GPU options</a:t>
            </a:r>
          </a:p>
          <a:p>
            <a:pPr marL="496575" lvl="1" indent="-248288" algn="l">
              <a:buFont typeface="Arial"/>
              <a:buChar char="•"/>
            </a:pPr>
            <a:r>
              <a:rPr lang="en-US" spc="11">
                <a:solidFill>
                  <a:srgbClr val="FFFFFF"/>
                </a:solidFill>
                <a:latin typeface="+mj-lt"/>
                <a:ea typeface="TT Norms"/>
                <a:cs typeface="TT Norms"/>
                <a:sym typeface="TT Norms"/>
              </a:rPr>
              <a:t>Collaborative features</a:t>
            </a:r>
          </a:p>
        </p:txBody>
      </p:sp>
      <p:sp>
        <p:nvSpPr>
          <p:cNvPr id="15" name="TextBox 22">
            <a:extLst>
              <a:ext uri="{FF2B5EF4-FFF2-40B4-BE49-F238E27FC236}">
                <a16:creationId xmlns:a16="http://schemas.microsoft.com/office/drawing/2014/main" id="{5409F5A4-7672-1F18-5313-BDF436C4ECB9}"/>
              </a:ext>
            </a:extLst>
          </p:cNvPr>
          <p:cNvSpPr txBox="1"/>
          <p:nvPr/>
        </p:nvSpPr>
        <p:spPr>
          <a:xfrm>
            <a:off x="3132401" y="1501678"/>
            <a:ext cx="2515967" cy="307777"/>
          </a:xfrm>
          <a:prstGeom prst="rect">
            <a:avLst/>
          </a:prstGeom>
        </p:spPr>
        <p:txBody>
          <a:bodyPr wrap="square" lIns="0" tIns="0" rIns="0" bIns="0" rtlCol="0" anchor="t">
            <a:spAutoFit/>
          </a:bodyPr>
          <a:lstStyle/>
          <a:p>
            <a:pPr algn="l"/>
            <a:r>
              <a:rPr lang="en-US" sz="2000" b="1">
                <a:solidFill>
                  <a:srgbClr val="FFFFFF"/>
                </a:solidFill>
                <a:latin typeface="+mj-lt"/>
                <a:ea typeface="TT Norms Bold"/>
                <a:cs typeface="TT Norms Bold"/>
                <a:sym typeface="TT Norms Bold"/>
              </a:rPr>
              <a:t>Storage Solutions</a:t>
            </a:r>
          </a:p>
        </p:txBody>
      </p:sp>
      <p:sp>
        <p:nvSpPr>
          <p:cNvPr id="16" name="TextBox 23">
            <a:extLst>
              <a:ext uri="{FF2B5EF4-FFF2-40B4-BE49-F238E27FC236}">
                <a16:creationId xmlns:a16="http://schemas.microsoft.com/office/drawing/2014/main" id="{A6A80EE0-A128-E10B-3E47-9E6F7DCFD514}"/>
              </a:ext>
            </a:extLst>
          </p:cNvPr>
          <p:cNvSpPr txBox="1"/>
          <p:nvPr/>
        </p:nvSpPr>
        <p:spPr>
          <a:xfrm>
            <a:off x="2884845" y="2073588"/>
            <a:ext cx="2651955" cy="830997"/>
          </a:xfrm>
          <a:prstGeom prst="rect">
            <a:avLst/>
          </a:prstGeom>
        </p:spPr>
        <p:txBody>
          <a:bodyPr wrap="square" lIns="0" tIns="0" rIns="0" bIns="0" rtlCol="0" anchor="t">
            <a:spAutoFit/>
          </a:bodyPr>
          <a:lstStyle/>
          <a:p>
            <a:pPr marL="496575" lvl="1" indent="-248288" algn="l">
              <a:buFont typeface="Arial"/>
              <a:buChar char="•"/>
            </a:pPr>
            <a:r>
              <a:rPr lang="en-US" spc="11">
                <a:solidFill>
                  <a:srgbClr val="FFFFFF"/>
                </a:solidFill>
                <a:latin typeface="+mj-lt"/>
                <a:ea typeface="TT Norms"/>
                <a:cs typeface="TT Norms"/>
                <a:sym typeface="TT Norms"/>
              </a:rPr>
              <a:t>Team Shared Storage</a:t>
            </a:r>
          </a:p>
          <a:p>
            <a:pPr marL="496575" lvl="1" indent="-248288" algn="l">
              <a:buFont typeface="Arial"/>
              <a:buChar char="•"/>
            </a:pPr>
            <a:r>
              <a:rPr lang="en-US" spc="11">
                <a:solidFill>
                  <a:srgbClr val="FFFFFF"/>
                </a:solidFill>
                <a:latin typeface="+mj-lt"/>
                <a:ea typeface="TT Norms"/>
                <a:cs typeface="TT Norms"/>
                <a:sym typeface="TT Norms"/>
              </a:rPr>
              <a:t>S3 Object Storage</a:t>
            </a:r>
          </a:p>
          <a:p>
            <a:pPr marL="496575" lvl="1" indent="-248288" algn="l">
              <a:buFont typeface="Arial"/>
              <a:buChar char="•"/>
            </a:pPr>
            <a:r>
              <a:rPr lang="en-US" spc="11">
                <a:solidFill>
                  <a:srgbClr val="FFFFFF"/>
                </a:solidFill>
                <a:latin typeface="+mj-lt"/>
                <a:ea typeface="TT Norms"/>
                <a:cs typeface="TT Norms"/>
                <a:sym typeface="TT Norms"/>
              </a:rPr>
              <a:t>Public Reference Data</a:t>
            </a:r>
          </a:p>
        </p:txBody>
      </p:sp>
      <p:sp>
        <p:nvSpPr>
          <p:cNvPr id="17" name="TextBox 24">
            <a:extLst>
              <a:ext uri="{FF2B5EF4-FFF2-40B4-BE49-F238E27FC236}">
                <a16:creationId xmlns:a16="http://schemas.microsoft.com/office/drawing/2014/main" id="{69F7EBAD-C270-51CF-4FFA-3D7DF615E044}"/>
              </a:ext>
            </a:extLst>
          </p:cNvPr>
          <p:cNvSpPr txBox="1"/>
          <p:nvPr/>
        </p:nvSpPr>
        <p:spPr>
          <a:xfrm>
            <a:off x="5862219" y="1501678"/>
            <a:ext cx="2825606" cy="307777"/>
          </a:xfrm>
          <a:prstGeom prst="rect">
            <a:avLst/>
          </a:prstGeom>
        </p:spPr>
        <p:txBody>
          <a:bodyPr wrap="square" lIns="0" tIns="0" rIns="0" bIns="0" rtlCol="0" anchor="t">
            <a:spAutoFit/>
          </a:bodyPr>
          <a:lstStyle/>
          <a:p>
            <a:pPr algn="l"/>
            <a:r>
              <a:rPr lang="en-US" sz="2000" b="1">
                <a:solidFill>
                  <a:srgbClr val="FFFFFF"/>
                </a:solidFill>
                <a:latin typeface="+mj-lt"/>
                <a:ea typeface="TT Norms Bold"/>
                <a:cs typeface="TT Norms Bold"/>
                <a:sym typeface="TT Norms Bold"/>
              </a:rPr>
              <a:t>Additional Resources</a:t>
            </a:r>
          </a:p>
        </p:txBody>
      </p:sp>
      <p:sp>
        <p:nvSpPr>
          <p:cNvPr id="18" name="TextBox 25">
            <a:extLst>
              <a:ext uri="{FF2B5EF4-FFF2-40B4-BE49-F238E27FC236}">
                <a16:creationId xmlns:a16="http://schemas.microsoft.com/office/drawing/2014/main" id="{B7C3EBBE-0152-0F7C-4AA8-8C8938510555}"/>
              </a:ext>
            </a:extLst>
          </p:cNvPr>
          <p:cNvSpPr txBox="1"/>
          <p:nvPr/>
        </p:nvSpPr>
        <p:spPr>
          <a:xfrm>
            <a:off x="5612829" y="2073588"/>
            <a:ext cx="2651955" cy="1384995"/>
          </a:xfrm>
          <a:prstGeom prst="rect">
            <a:avLst/>
          </a:prstGeom>
        </p:spPr>
        <p:txBody>
          <a:bodyPr wrap="square" lIns="0" tIns="0" rIns="0" bIns="0" rtlCol="0" anchor="t">
            <a:spAutoFit/>
          </a:bodyPr>
          <a:lstStyle/>
          <a:p>
            <a:pPr marL="496575" lvl="1" indent="-248288" algn="l">
              <a:buFont typeface="Arial"/>
              <a:buChar char="•"/>
            </a:pPr>
            <a:r>
              <a:rPr lang="en-US" spc="11">
                <a:solidFill>
                  <a:srgbClr val="FFFFFF"/>
                </a:solidFill>
                <a:latin typeface="+mj-lt"/>
                <a:ea typeface="TT Norms"/>
                <a:cs typeface="TT Norms"/>
                <a:sym typeface="TT Norms"/>
              </a:rPr>
              <a:t>R-Studio</a:t>
            </a:r>
          </a:p>
          <a:p>
            <a:pPr marL="496575" lvl="1" indent="-248288" algn="l">
              <a:buFont typeface="Arial"/>
              <a:buChar char="•"/>
            </a:pPr>
            <a:r>
              <a:rPr lang="en-US" spc="11" err="1">
                <a:solidFill>
                  <a:srgbClr val="FFFFFF"/>
                </a:solidFill>
                <a:latin typeface="+mj-lt"/>
                <a:ea typeface="TT Norms"/>
                <a:cs typeface="TT Norms"/>
                <a:sym typeface="TT Norms"/>
              </a:rPr>
              <a:t>Nextflow</a:t>
            </a:r>
            <a:r>
              <a:rPr lang="en-US" spc="11">
                <a:solidFill>
                  <a:srgbClr val="FFFFFF"/>
                </a:solidFill>
                <a:latin typeface="+mj-lt"/>
                <a:ea typeface="TT Norms"/>
                <a:cs typeface="TT Norms"/>
                <a:sym typeface="TT Norms"/>
              </a:rPr>
              <a:t> Integration - on Kubernetes infrastructure</a:t>
            </a:r>
          </a:p>
          <a:p>
            <a:pPr marL="496575" lvl="1" indent="-248288" algn="l">
              <a:buFont typeface="Arial"/>
              <a:buChar char="•"/>
            </a:pPr>
            <a:r>
              <a:rPr lang="en-US" spc="11">
                <a:solidFill>
                  <a:srgbClr val="FFFFFF"/>
                </a:solidFill>
                <a:latin typeface="+mj-lt"/>
                <a:ea typeface="TT Norms"/>
                <a:cs typeface="TT Norms"/>
                <a:sym typeface="TT Norms"/>
              </a:rPr>
              <a:t>Training Environments</a:t>
            </a:r>
          </a:p>
        </p:txBody>
      </p:sp>
      <p:sp>
        <p:nvSpPr>
          <p:cNvPr id="5" name="Freeform 17">
            <a:extLst>
              <a:ext uri="{FF2B5EF4-FFF2-40B4-BE49-F238E27FC236}">
                <a16:creationId xmlns:a16="http://schemas.microsoft.com/office/drawing/2014/main" id="{2E1A4123-E21B-29B6-BA86-BDC8EF303947}"/>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6" name="Freeform 30">
            <a:extLst>
              <a:ext uri="{FF2B5EF4-FFF2-40B4-BE49-F238E27FC236}">
                <a16:creationId xmlns:a16="http://schemas.microsoft.com/office/drawing/2014/main" id="{182D0932-9DFC-BCE8-7E38-C2EF0BD5DB3F}"/>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3">
              <a:lum bright="70000" contrast="-70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261641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EA9C7-6B0B-316A-748A-FE17DDF2FB5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51A0C19-6592-6BC9-6E29-C4C233D5F119}"/>
              </a:ext>
            </a:extLst>
          </p:cNvPr>
          <p:cNvPicPr>
            <a:picLocks noChangeAspect="1"/>
          </p:cNvPicPr>
          <p:nvPr/>
        </p:nvPicPr>
        <p:blipFill>
          <a:blip r:embed="rId3">
            <a:duotone>
              <a:schemeClr val="bg2">
                <a:shade val="45000"/>
                <a:satMod val="135000"/>
              </a:schemeClr>
              <a:prstClr val="white"/>
            </a:duotone>
          </a:blip>
          <a:srcRect b="6955"/>
          <a:stretch>
            <a:fillRect/>
          </a:stretch>
        </p:blipFill>
        <p:spPr>
          <a:xfrm>
            <a:off x="3809663" y="1381514"/>
            <a:ext cx="5170464" cy="2981939"/>
          </a:xfrm>
          <a:prstGeom prst="rect">
            <a:avLst/>
          </a:prstGeom>
        </p:spPr>
      </p:pic>
      <p:sp>
        <p:nvSpPr>
          <p:cNvPr id="2" name="Text Placeholder 1">
            <a:extLst>
              <a:ext uri="{FF2B5EF4-FFF2-40B4-BE49-F238E27FC236}">
                <a16:creationId xmlns:a16="http://schemas.microsoft.com/office/drawing/2014/main" id="{23847E0F-A80C-0CBB-B6B8-274B5C95C524}"/>
              </a:ext>
            </a:extLst>
          </p:cNvPr>
          <p:cNvSpPr>
            <a:spLocks noGrp="1"/>
          </p:cNvSpPr>
          <p:nvPr>
            <p:ph type="body" sz="quarter" idx="15"/>
          </p:nvPr>
        </p:nvSpPr>
        <p:spPr>
          <a:xfrm>
            <a:off x="539917" y="1707487"/>
            <a:ext cx="3939814" cy="2775802"/>
          </a:xfrm>
        </p:spPr>
        <p:txBody>
          <a:bodyPr>
            <a:normAutofit/>
          </a:bodyPr>
          <a:lstStyle/>
          <a:p>
            <a:pPr marL="285750" indent="-285750">
              <a:buFont typeface="Wingdings" panose="05000000000000000000" pitchFamily="2" charset="2"/>
              <a:buChar char="Ø"/>
            </a:pPr>
            <a:r>
              <a:rPr lang="en-GB" sz="1500"/>
              <a:t>2,500 Users in the last 10 years</a:t>
            </a:r>
          </a:p>
          <a:p>
            <a:pPr marL="285750" indent="-285750">
              <a:buFont typeface="Wingdings" panose="05000000000000000000" pitchFamily="2" charset="2"/>
              <a:buChar char="Ø"/>
            </a:pPr>
            <a:r>
              <a:rPr lang="en-GB" sz="1500"/>
              <a:t>350+ Papers</a:t>
            </a:r>
          </a:p>
          <a:p>
            <a:pPr marL="285750" indent="-285750">
              <a:buFont typeface="Wingdings" panose="05000000000000000000" pitchFamily="2" charset="2"/>
              <a:buChar char="Ø"/>
            </a:pPr>
            <a:r>
              <a:rPr lang="en-GB" sz="1500"/>
              <a:t>Enabler for £40M of research funding</a:t>
            </a:r>
          </a:p>
          <a:p>
            <a:pPr marL="285750" indent="-285750">
              <a:buFont typeface="Wingdings" panose="05000000000000000000" pitchFamily="2" charset="2"/>
              <a:buChar char="Ø"/>
            </a:pPr>
            <a:r>
              <a:rPr lang="en-GB" sz="1500"/>
              <a:t>3,000+ Scientists trained worldwide</a:t>
            </a:r>
          </a:p>
          <a:p>
            <a:pPr marL="285750" indent="-285750">
              <a:buFont typeface="Wingdings" panose="05000000000000000000" pitchFamily="2" charset="2"/>
              <a:buChar char="Ø"/>
            </a:pPr>
            <a:r>
              <a:rPr lang="en-GB" sz="1500"/>
              <a:t>4 Hackathons (</a:t>
            </a:r>
            <a:r>
              <a:rPr lang="en-GB" sz="1500" err="1"/>
              <a:t>Nextflow</a:t>
            </a:r>
            <a:r>
              <a:rPr lang="en-GB" sz="1500"/>
              <a:t>, </a:t>
            </a:r>
            <a:r>
              <a:rPr lang="en-GB" sz="1500" err="1"/>
              <a:t>AntiMicrobial</a:t>
            </a:r>
            <a:r>
              <a:rPr lang="en-GB" sz="1500"/>
              <a:t> Resistance, Pathogen Surveillance, Food Safety)</a:t>
            </a:r>
          </a:p>
          <a:p>
            <a:pPr marL="285750" indent="-285750">
              <a:buFont typeface="Wingdings" panose="05000000000000000000" pitchFamily="2" charset="2"/>
              <a:buChar char="Ø"/>
            </a:pPr>
            <a:endParaRPr lang="en-GB" sz="1500"/>
          </a:p>
        </p:txBody>
      </p:sp>
      <p:sp>
        <p:nvSpPr>
          <p:cNvPr id="3" name="Title 2">
            <a:extLst>
              <a:ext uri="{FF2B5EF4-FFF2-40B4-BE49-F238E27FC236}">
                <a16:creationId xmlns:a16="http://schemas.microsoft.com/office/drawing/2014/main" id="{80063024-293A-A5F7-FEA8-21EBC2E4AE40}"/>
              </a:ext>
            </a:extLst>
          </p:cNvPr>
          <p:cNvSpPr>
            <a:spLocks noGrp="1"/>
          </p:cNvSpPr>
          <p:nvPr>
            <p:ph type="ctrTitle"/>
          </p:nvPr>
        </p:nvSpPr>
        <p:spPr>
          <a:xfrm>
            <a:off x="539914" y="557152"/>
            <a:ext cx="8079151" cy="500947"/>
          </a:xfrm>
        </p:spPr>
        <p:txBody>
          <a:bodyPr>
            <a:noAutofit/>
          </a:bodyPr>
          <a:lstStyle/>
          <a:p>
            <a:r>
              <a:rPr lang="en-GB" sz="3000" b="1"/>
              <a:t>CLIMB Impact – Individual Teams and Users</a:t>
            </a:r>
          </a:p>
        </p:txBody>
      </p:sp>
      <p:sp>
        <p:nvSpPr>
          <p:cNvPr id="4" name="Subtitle 3">
            <a:extLst>
              <a:ext uri="{FF2B5EF4-FFF2-40B4-BE49-F238E27FC236}">
                <a16:creationId xmlns:a16="http://schemas.microsoft.com/office/drawing/2014/main" id="{9144280C-F46B-BEE3-3C37-5A26225FFE12}"/>
              </a:ext>
            </a:extLst>
          </p:cNvPr>
          <p:cNvSpPr>
            <a:spLocks noGrp="1"/>
          </p:cNvSpPr>
          <p:nvPr>
            <p:ph type="subTitle" idx="1"/>
          </p:nvPr>
        </p:nvSpPr>
        <p:spPr>
          <a:xfrm>
            <a:off x="539915" y="1058100"/>
            <a:ext cx="8079153" cy="273844"/>
          </a:xfrm>
        </p:spPr>
        <p:txBody>
          <a:bodyPr>
            <a:normAutofit/>
          </a:bodyPr>
          <a:lstStyle/>
          <a:p>
            <a:r>
              <a:rPr lang="en-GB" sz="2400"/>
              <a:t>Research, Training, Hackathons</a:t>
            </a:r>
          </a:p>
        </p:txBody>
      </p:sp>
      <p:sp>
        <p:nvSpPr>
          <p:cNvPr id="8" name="Freeform 17">
            <a:extLst>
              <a:ext uri="{FF2B5EF4-FFF2-40B4-BE49-F238E27FC236}">
                <a16:creationId xmlns:a16="http://schemas.microsoft.com/office/drawing/2014/main" id="{5143D942-87C6-A558-CA6F-1BAE864AAECB}"/>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9" name="Freeform 30">
            <a:extLst>
              <a:ext uri="{FF2B5EF4-FFF2-40B4-BE49-F238E27FC236}">
                <a16:creationId xmlns:a16="http://schemas.microsoft.com/office/drawing/2014/main" id="{8B74A4ED-2376-5D77-8839-64679FB765A7}"/>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4">
              <a:lum bright="70000" contrast="-70000"/>
              <a:extLst>
                <a:ext uri="{BEBA8EAE-BF5A-486C-A8C5-ECC9F3942E4B}">
                  <a14:imgProps xmlns:a14="http://schemas.microsoft.com/office/drawing/2010/main">
                    <a14:imgLayer r:embed="rId5">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148132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03086A44-C93F-7E19-E040-AB154FDBBCAF}"/>
              </a:ext>
            </a:extLst>
          </p:cNvPr>
          <p:cNvSpPr/>
          <p:nvPr/>
        </p:nvSpPr>
        <p:spPr>
          <a:xfrm rot="5400000">
            <a:off x="576652" y="1248214"/>
            <a:ext cx="212843" cy="191395"/>
          </a:xfrm>
          <a:custGeom>
            <a:avLst/>
            <a:gdLst/>
            <a:ahLst/>
            <a:cxnLst/>
            <a:rect l="l" t="t" r="r" b="b"/>
            <a:pathLst>
              <a:path w="691098" h="621460">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333F48"/>
          </a:solidFill>
        </p:spPr>
        <p:txBody>
          <a:bodyPr/>
          <a:lstStyle/>
          <a:p>
            <a:endParaRPr lang="en-GB" sz="900">
              <a:solidFill>
                <a:srgbClr val="333F48"/>
              </a:solidFill>
              <a:latin typeface="+mj-lt"/>
            </a:endParaRPr>
          </a:p>
        </p:txBody>
      </p:sp>
      <p:sp>
        <p:nvSpPr>
          <p:cNvPr id="6" name="Freeform 6">
            <a:extLst>
              <a:ext uri="{FF2B5EF4-FFF2-40B4-BE49-F238E27FC236}">
                <a16:creationId xmlns:a16="http://schemas.microsoft.com/office/drawing/2014/main" id="{AE683A18-5022-5A40-885A-AE230C620993}"/>
              </a:ext>
            </a:extLst>
          </p:cNvPr>
          <p:cNvSpPr/>
          <p:nvPr/>
        </p:nvSpPr>
        <p:spPr>
          <a:xfrm rot="5400000">
            <a:off x="576652" y="2386881"/>
            <a:ext cx="212843" cy="191395"/>
          </a:xfrm>
          <a:custGeom>
            <a:avLst/>
            <a:gdLst/>
            <a:ahLst/>
            <a:cxnLst/>
            <a:rect l="l" t="t" r="r" b="b"/>
            <a:pathLst>
              <a:path w="691098" h="621460">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333F48"/>
          </a:solidFill>
        </p:spPr>
        <p:txBody>
          <a:bodyPr/>
          <a:lstStyle/>
          <a:p>
            <a:endParaRPr lang="en-GB" sz="900">
              <a:solidFill>
                <a:srgbClr val="333F48"/>
              </a:solidFill>
              <a:latin typeface="+mj-lt"/>
            </a:endParaRPr>
          </a:p>
        </p:txBody>
      </p:sp>
      <p:sp>
        <p:nvSpPr>
          <p:cNvPr id="9" name="Freeform 9">
            <a:extLst>
              <a:ext uri="{FF2B5EF4-FFF2-40B4-BE49-F238E27FC236}">
                <a16:creationId xmlns:a16="http://schemas.microsoft.com/office/drawing/2014/main" id="{B75AD3A6-8899-6AE6-1244-846389F8E834}"/>
              </a:ext>
            </a:extLst>
          </p:cNvPr>
          <p:cNvSpPr/>
          <p:nvPr/>
        </p:nvSpPr>
        <p:spPr>
          <a:xfrm rot="5400000">
            <a:off x="576652" y="3509506"/>
            <a:ext cx="212843" cy="191395"/>
          </a:xfrm>
          <a:custGeom>
            <a:avLst/>
            <a:gdLst/>
            <a:ahLst/>
            <a:cxnLst/>
            <a:rect l="l" t="t" r="r" b="b"/>
            <a:pathLst>
              <a:path w="691098" h="621460">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333F48"/>
          </a:solidFill>
        </p:spPr>
        <p:txBody>
          <a:bodyPr/>
          <a:lstStyle/>
          <a:p>
            <a:endParaRPr lang="en-GB" sz="900">
              <a:solidFill>
                <a:srgbClr val="333F48"/>
              </a:solidFill>
              <a:latin typeface="+mj-lt"/>
            </a:endParaRPr>
          </a:p>
        </p:txBody>
      </p:sp>
      <p:sp>
        <p:nvSpPr>
          <p:cNvPr id="31" name="TextBox 38">
            <a:extLst>
              <a:ext uri="{FF2B5EF4-FFF2-40B4-BE49-F238E27FC236}">
                <a16:creationId xmlns:a16="http://schemas.microsoft.com/office/drawing/2014/main" id="{491B051F-3822-AA08-8C34-C9FBFDD4A368}"/>
              </a:ext>
            </a:extLst>
          </p:cNvPr>
          <p:cNvSpPr txBox="1"/>
          <p:nvPr/>
        </p:nvSpPr>
        <p:spPr>
          <a:xfrm>
            <a:off x="959850" y="1532746"/>
            <a:ext cx="5003792" cy="615553"/>
          </a:xfrm>
          <a:prstGeom prst="rect">
            <a:avLst/>
          </a:prstGeom>
        </p:spPr>
        <p:txBody>
          <a:bodyPr wrap="square" lIns="0" tIns="0" rIns="0" bIns="0" rtlCol="0" anchor="t">
            <a:spAutoFit/>
          </a:bodyPr>
          <a:lstStyle/>
          <a:p>
            <a:pPr>
              <a:lnSpc>
                <a:spcPts val="1610"/>
              </a:lnSpc>
            </a:pPr>
            <a:r>
              <a:rPr lang="en-US" sz="1500" spc="6">
                <a:solidFill>
                  <a:srgbClr val="333F48"/>
                </a:solidFill>
                <a:latin typeface="+mj-lt"/>
                <a:ea typeface="TT Norms"/>
                <a:cs typeface="TT Norms"/>
                <a:sym typeface="TT Norms"/>
              </a:rPr>
              <a:t>Core infrastructure for COG-UK, processing 3.5M genomes, strengthening UK’s leadership position in microbial bioinformatics</a:t>
            </a:r>
          </a:p>
        </p:txBody>
      </p:sp>
      <p:sp>
        <p:nvSpPr>
          <p:cNvPr id="32" name="TextBox 39">
            <a:extLst>
              <a:ext uri="{FF2B5EF4-FFF2-40B4-BE49-F238E27FC236}">
                <a16:creationId xmlns:a16="http://schemas.microsoft.com/office/drawing/2014/main" id="{72E43AA8-869F-77EE-5E82-DF1EAF78B555}"/>
              </a:ext>
            </a:extLst>
          </p:cNvPr>
          <p:cNvSpPr txBox="1"/>
          <p:nvPr/>
        </p:nvSpPr>
        <p:spPr>
          <a:xfrm>
            <a:off x="959850" y="2671413"/>
            <a:ext cx="5003792" cy="410369"/>
          </a:xfrm>
          <a:prstGeom prst="rect">
            <a:avLst/>
          </a:prstGeom>
        </p:spPr>
        <p:txBody>
          <a:bodyPr wrap="square" lIns="0" tIns="0" rIns="0" bIns="0" rtlCol="0" anchor="t">
            <a:spAutoFit/>
          </a:bodyPr>
          <a:lstStyle/>
          <a:p>
            <a:pPr>
              <a:lnSpc>
                <a:spcPts val="1610"/>
              </a:lnSpc>
            </a:pPr>
            <a:r>
              <a:rPr lang="en-US" sz="1500" spc="6">
                <a:solidFill>
                  <a:srgbClr val="333F48"/>
                </a:solidFill>
                <a:latin typeface="+mj-lt"/>
                <a:ea typeface="TT Norms"/>
                <a:cs typeface="TT Norms"/>
                <a:sym typeface="TT Norms"/>
              </a:rPr>
              <a:t>World-first metagenomics initiative by UKHSA to enhance health security through rapid pathogen detection and surveillance</a:t>
            </a:r>
          </a:p>
        </p:txBody>
      </p:sp>
      <p:sp>
        <p:nvSpPr>
          <p:cNvPr id="33" name="TextBox 40">
            <a:extLst>
              <a:ext uri="{FF2B5EF4-FFF2-40B4-BE49-F238E27FC236}">
                <a16:creationId xmlns:a16="http://schemas.microsoft.com/office/drawing/2014/main" id="{03B34892-3364-6B0D-687F-1C5A9F1709B2}"/>
              </a:ext>
            </a:extLst>
          </p:cNvPr>
          <p:cNvSpPr txBox="1"/>
          <p:nvPr/>
        </p:nvSpPr>
        <p:spPr>
          <a:xfrm>
            <a:off x="959850" y="2336518"/>
            <a:ext cx="2117711" cy="271998"/>
          </a:xfrm>
          <a:prstGeom prst="rect">
            <a:avLst/>
          </a:prstGeom>
        </p:spPr>
        <p:txBody>
          <a:bodyPr lIns="0" tIns="0" rIns="0" bIns="0" rtlCol="0" anchor="t">
            <a:spAutoFit/>
          </a:bodyPr>
          <a:lstStyle/>
          <a:p>
            <a:pPr>
              <a:lnSpc>
                <a:spcPts val="2250"/>
              </a:lnSpc>
            </a:pPr>
            <a:r>
              <a:rPr lang="en-US" sz="1500" b="1" err="1">
                <a:solidFill>
                  <a:srgbClr val="333F48"/>
                </a:solidFill>
                <a:latin typeface="+mj-lt"/>
                <a:ea typeface="TT Norms Bold"/>
                <a:cs typeface="TT Norms Bold"/>
                <a:sym typeface="TT Norms Bold"/>
              </a:rPr>
              <a:t>mSCAPE</a:t>
            </a:r>
            <a:endParaRPr lang="en-US" sz="1500" b="1">
              <a:solidFill>
                <a:srgbClr val="333F48"/>
              </a:solidFill>
              <a:latin typeface="+mj-lt"/>
              <a:ea typeface="TT Norms Bold"/>
              <a:cs typeface="TT Norms Bold"/>
              <a:sym typeface="TT Norms Bold"/>
            </a:endParaRPr>
          </a:p>
        </p:txBody>
      </p:sp>
      <p:sp>
        <p:nvSpPr>
          <p:cNvPr id="34" name="TextBox 41">
            <a:extLst>
              <a:ext uri="{FF2B5EF4-FFF2-40B4-BE49-F238E27FC236}">
                <a16:creationId xmlns:a16="http://schemas.microsoft.com/office/drawing/2014/main" id="{896231FD-1CA0-136B-EF86-21575269963F}"/>
              </a:ext>
            </a:extLst>
          </p:cNvPr>
          <p:cNvSpPr txBox="1"/>
          <p:nvPr/>
        </p:nvSpPr>
        <p:spPr>
          <a:xfrm>
            <a:off x="959850" y="3794038"/>
            <a:ext cx="5003792" cy="615553"/>
          </a:xfrm>
          <a:prstGeom prst="rect">
            <a:avLst/>
          </a:prstGeom>
        </p:spPr>
        <p:txBody>
          <a:bodyPr wrap="square" lIns="0" tIns="0" rIns="0" bIns="0" rtlCol="0" anchor="t">
            <a:spAutoFit/>
          </a:bodyPr>
          <a:lstStyle/>
          <a:p>
            <a:pPr>
              <a:lnSpc>
                <a:spcPts val="1610"/>
              </a:lnSpc>
            </a:pPr>
            <a:r>
              <a:rPr lang="en-US" sz="1500" spc="6">
                <a:solidFill>
                  <a:srgbClr val="333F48"/>
                </a:solidFill>
                <a:latin typeface="+mj-lt"/>
                <a:ea typeface="TT Norms"/>
                <a:cs typeface="TT Norms"/>
                <a:sym typeface="TT Norms"/>
              </a:rPr>
              <a:t>FSA-led research </a:t>
            </a:r>
            <a:r>
              <a:rPr lang="en-US" sz="1500" spc="6" err="1">
                <a:solidFill>
                  <a:srgbClr val="333F48"/>
                </a:solidFill>
                <a:latin typeface="+mj-lt"/>
                <a:ea typeface="TT Norms"/>
                <a:cs typeface="TT Norms"/>
                <a:sym typeface="TT Norms"/>
              </a:rPr>
              <a:t>programme</a:t>
            </a:r>
            <a:r>
              <a:rPr lang="en-US" sz="1500" spc="6">
                <a:solidFill>
                  <a:srgbClr val="333F48"/>
                </a:solidFill>
                <a:latin typeface="+mj-lt"/>
                <a:ea typeface="TT Norms"/>
                <a:cs typeface="TT Norms"/>
                <a:sym typeface="TT Norms"/>
              </a:rPr>
              <a:t> which aims to improve the detection and tracking of foodborne human pathogens and AMR through the whole agrifood systems</a:t>
            </a:r>
          </a:p>
        </p:txBody>
      </p:sp>
      <p:sp>
        <p:nvSpPr>
          <p:cNvPr id="35" name="TextBox 42">
            <a:extLst>
              <a:ext uri="{FF2B5EF4-FFF2-40B4-BE49-F238E27FC236}">
                <a16:creationId xmlns:a16="http://schemas.microsoft.com/office/drawing/2014/main" id="{BD0C2390-73ED-2289-7183-9C86A47AB02D}"/>
              </a:ext>
            </a:extLst>
          </p:cNvPr>
          <p:cNvSpPr txBox="1"/>
          <p:nvPr/>
        </p:nvSpPr>
        <p:spPr>
          <a:xfrm>
            <a:off x="959850" y="3459143"/>
            <a:ext cx="2117711" cy="271998"/>
          </a:xfrm>
          <a:prstGeom prst="rect">
            <a:avLst/>
          </a:prstGeom>
        </p:spPr>
        <p:txBody>
          <a:bodyPr lIns="0" tIns="0" rIns="0" bIns="0" rtlCol="0" anchor="t">
            <a:spAutoFit/>
          </a:bodyPr>
          <a:lstStyle/>
          <a:p>
            <a:pPr>
              <a:lnSpc>
                <a:spcPts val="2250"/>
              </a:lnSpc>
            </a:pPr>
            <a:r>
              <a:rPr lang="en-US" sz="1500" b="1">
                <a:solidFill>
                  <a:srgbClr val="333F48"/>
                </a:solidFill>
                <a:latin typeface="+mj-lt"/>
                <a:ea typeface="TT Norms Bold"/>
                <a:cs typeface="TT Norms Bold"/>
                <a:sym typeface="TT Norms Bold"/>
              </a:rPr>
              <a:t>PATH-SAFE</a:t>
            </a:r>
          </a:p>
        </p:txBody>
      </p:sp>
      <p:sp>
        <p:nvSpPr>
          <p:cNvPr id="36" name="TextBox 43">
            <a:extLst>
              <a:ext uri="{FF2B5EF4-FFF2-40B4-BE49-F238E27FC236}">
                <a16:creationId xmlns:a16="http://schemas.microsoft.com/office/drawing/2014/main" id="{09EE084B-8146-83F2-EC9B-168E54E1098A}"/>
              </a:ext>
            </a:extLst>
          </p:cNvPr>
          <p:cNvSpPr txBox="1"/>
          <p:nvPr/>
        </p:nvSpPr>
        <p:spPr>
          <a:xfrm>
            <a:off x="959850" y="1175887"/>
            <a:ext cx="2117711" cy="271998"/>
          </a:xfrm>
          <a:prstGeom prst="rect">
            <a:avLst/>
          </a:prstGeom>
        </p:spPr>
        <p:txBody>
          <a:bodyPr lIns="0" tIns="0" rIns="0" bIns="0" rtlCol="0" anchor="t">
            <a:spAutoFit/>
          </a:bodyPr>
          <a:lstStyle/>
          <a:p>
            <a:pPr>
              <a:lnSpc>
                <a:spcPts val="2250"/>
              </a:lnSpc>
            </a:pPr>
            <a:r>
              <a:rPr lang="en-US" sz="1500" b="1">
                <a:solidFill>
                  <a:srgbClr val="333F48"/>
                </a:solidFill>
                <a:latin typeface="+mj-lt"/>
                <a:ea typeface="TT Norms Bold"/>
                <a:cs typeface="TT Norms Bold"/>
                <a:sym typeface="TT Norms Bold"/>
              </a:rPr>
              <a:t>CLIMB-COVID</a:t>
            </a:r>
          </a:p>
        </p:txBody>
      </p:sp>
      <p:grpSp>
        <p:nvGrpSpPr>
          <p:cNvPr id="50" name="Group 4">
            <a:extLst>
              <a:ext uri="{FF2B5EF4-FFF2-40B4-BE49-F238E27FC236}">
                <a16:creationId xmlns:a16="http://schemas.microsoft.com/office/drawing/2014/main" id="{5E58E727-E67C-8D5B-8A71-A1B78E65BC9A}"/>
              </a:ext>
            </a:extLst>
          </p:cNvPr>
          <p:cNvGrpSpPr>
            <a:grpSpLocks noChangeAspect="1"/>
          </p:cNvGrpSpPr>
          <p:nvPr/>
        </p:nvGrpSpPr>
        <p:grpSpPr>
          <a:xfrm>
            <a:off x="6192271" y="395415"/>
            <a:ext cx="2382713" cy="4073287"/>
            <a:chOff x="-1270" y="0"/>
            <a:chExt cx="15748000" cy="26921461"/>
          </a:xfrm>
        </p:grpSpPr>
        <p:sp>
          <p:nvSpPr>
            <p:cNvPr id="51" name="Freeform 5">
              <a:extLst>
                <a:ext uri="{FF2B5EF4-FFF2-40B4-BE49-F238E27FC236}">
                  <a16:creationId xmlns:a16="http://schemas.microsoft.com/office/drawing/2014/main" id="{E67D2C3C-2995-6F6E-2E3D-7A46FD43C802}"/>
                </a:ext>
              </a:extLst>
            </p:cNvPr>
            <p:cNvSpPr/>
            <p:nvPr/>
          </p:nvSpPr>
          <p:spPr>
            <a:xfrm>
              <a:off x="565150" y="622300"/>
              <a:ext cx="14616430" cy="25679400"/>
            </a:xfrm>
            <a:custGeom>
              <a:avLst/>
              <a:gdLst/>
              <a:ahLst/>
              <a:cxnLst/>
              <a:rect l="l" t="t" r="r" b="b"/>
              <a:pathLst>
                <a:path w="14616430" h="25679400">
                  <a:moveTo>
                    <a:pt x="13223239" y="25679400"/>
                  </a:moveTo>
                  <a:lnTo>
                    <a:pt x="1391920" y="25679400"/>
                  </a:lnTo>
                  <a:cubicBezTo>
                    <a:pt x="623570" y="25679400"/>
                    <a:pt x="0" y="25055830"/>
                    <a:pt x="0" y="24287480"/>
                  </a:cubicBezTo>
                  <a:lnTo>
                    <a:pt x="0" y="1391920"/>
                  </a:lnTo>
                  <a:cubicBezTo>
                    <a:pt x="0" y="622300"/>
                    <a:pt x="623570" y="0"/>
                    <a:pt x="1391920" y="0"/>
                  </a:cubicBezTo>
                  <a:lnTo>
                    <a:pt x="13223239" y="0"/>
                  </a:lnTo>
                  <a:cubicBezTo>
                    <a:pt x="13991589" y="0"/>
                    <a:pt x="14615159" y="623570"/>
                    <a:pt x="14615159" y="1391920"/>
                  </a:cubicBezTo>
                  <a:lnTo>
                    <a:pt x="14615159" y="24287480"/>
                  </a:lnTo>
                  <a:cubicBezTo>
                    <a:pt x="14616430" y="25055830"/>
                    <a:pt x="13992861" y="25679400"/>
                    <a:pt x="13223239" y="25679400"/>
                  </a:cubicBezTo>
                  <a:close/>
                </a:path>
              </a:pathLst>
            </a:custGeom>
            <a:blipFill>
              <a:blip r:embed="rId3"/>
              <a:stretch>
                <a:fillRect l="-20987" r="-7116"/>
              </a:stretch>
            </a:blipFill>
          </p:spPr>
          <p:txBody>
            <a:bodyPr/>
            <a:lstStyle/>
            <a:p>
              <a:endParaRPr lang="en-GB" sz="900"/>
            </a:p>
          </p:txBody>
        </p:sp>
        <p:sp>
          <p:nvSpPr>
            <p:cNvPr id="52" name="Freeform 6">
              <a:extLst>
                <a:ext uri="{FF2B5EF4-FFF2-40B4-BE49-F238E27FC236}">
                  <a16:creationId xmlns:a16="http://schemas.microsoft.com/office/drawing/2014/main" id="{8A2D0D0D-EBB1-96FA-2273-2972604C04C0}"/>
                </a:ext>
              </a:extLst>
            </p:cNvPr>
            <p:cNvSpPr/>
            <p:nvPr/>
          </p:nvSpPr>
          <p:spPr>
            <a:xfrm>
              <a:off x="-1270" y="0"/>
              <a:ext cx="15748000" cy="26921461"/>
            </a:xfrm>
            <a:custGeom>
              <a:avLst/>
              <a:gdLst/>
              <a:ahLst/>
              <a:cxnLst/>
              <a:rect l="l" t="t" r="r" b="b"/>
              <a:pathLst>
                <a:path w="15748000" h="26921461">
                  <a:moveTo>
                    <a:pt x="15748000" y="26921461"/>
                  </a:moveTo>
                  <a:lnTo>
                    <a:pt x="0" y="26921461"/>
                  </a:lnTo>
                  <a:lnTo>
                    <a:pt x="0" y="0"/>
                  </a:lnTo>
                  <a:lnTo>
                    <a:pt x="15748000" y="0"/>
                  </a:lnTo>
                  <a:lnTo>
                    <a:pt x="15748000" y="26921461"/>
                  </a:lnTo>
                  <a:close/>
                </a:path>
              </a:pathLst>
            </a:custGeom>
            <a:blipFill>
              <a:blip r:embed="rId4"/>
              <a:stretch>
                <a:fillRect l="-3" r="-3"/>
              </a:stretch>
            </a:blipFill>
          </p:spPr>
          <p:txBody>
            <a:bodyPr/>
            <a:lstStyle/>
            <a:p>
              <a:endParaRPr lang="en-GB" sz="900"/>
            </a:p>
          </p:txBody>
        </p:sp>
      </p:grpSp>
      <p:sp>
        <p:nvSpPr>
          <p:cNvPr id="11" name="Title 2">
            <a:extLst>
              <a:ext uri="{FF2B5EF4-FFF2-40B4-BE49-F238E27FC236}">
                <a16:creationId xmlns:a16="http://schemas.microsoft.com/office/drawing/2014/main" id="{595262AF-3D77-6FD2-939A-461A30A3C545}"/>
              </a:ext>
            </a:extLst>
          </p:cNvPr>
          <p:cNvSpPr txBox="1">
            <a:spLocks/>
          </p:cNvSpPr>
          <p:nvPr/>
        </p:nvSpPr>
        <p:spPr>
          <a:xfrm>
            <a:off x="539914" y="557152"/>
            <a:ext cx="8079151" cy="533873"/>
          </a:xfrm>
          <a:prstGeom prst="rect">
            <a:avLst/>
          </a:prstGeom>
        </p:spPr>
        <p:txBody>
          <a:bodyPr>
            <a:noAutofit/>
          </a:bodyPr>
          <a:lstStyle>
            <a:lvl1pPr algn="l" defTabSz="685800" rtl="0" eaLnBrk="1" latinLnBrk="0" hangingPunct="1">
              <a:lnSpc>
                <a:spcPct val="90000"/>
              </a:lnSpc>
              <a:spcBef>
                <a:spcPct val="0"/>
              </a:spcBef>
              <a:buNone/>
              <a:defRPr sz="3300" kern="1200" baseline="0">
                <a:solidFill>
                  <a:schemeClr val="accent5"/>
                </a:solidFill>
                <a:latin typeface="+mj-lt"/>
                <a:ea typeface="+mj-ea"/>
                <a:cs typeface="+mj-cs"/>
              </a:defRPr>
            </a:lvl1pPr>
          </a:lstStyle>
          <a:p>
            <a:r>
              <a:rPr lang="en-GB" sz="3000" b="1"/>
              <a:t>CLIMB Impact – National</a:t>
            </a:r>
          </a:p>
        </p:txBody>
      </p:sp>
      <p:sp>
        <p:nvSpPr>
          <p:cNvPr id="13" name="Freeform 17">
            <a:extLst>
              <a:ext uri="{FF2B5EF4-FFF2-40B4-BE49-F238E27FC236}">
                <a16:creationId xmlns:a16="http://schemas.microsoft.com/office/drawing/2014/main" id="{1D48D64B-B023-6328-6658-3E758CD6C2E4}"/>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14" name="Freeform 30">
            <a:extLst>
              <a:ext uri="{FF2B5EF4-FFF2-40B4-BE49-F238E27FC236}">
                <a16:creationId xmlns:a16="http://schemas.microsoft.com/office/drawing/2014/main" id="{68AAD64B-2001-86A2-D890-0AF85B7FBAFA}"/>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5">
              <a:lum bright="70000" contrast="-70000"/>
              <a:extLst>
                <a:ext uri="{BEBA8EAE-BF5A-486C-A8C5-ECC9F3942E4B}">
                  <a14:imgProps xmlns:a14="http://schemas.microsoft.com/office/drawing/2010/main">
                    <a14:imgLayer r:embed="rId6">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412866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
            <a:extLst>
              <a:ext uri="{FF2B5EF4-FFF2-40B4-BE49-F238E27FC236}">
                <a16:creationId xmlns:a16="http://schemas.microsoft.com/office/drawing/2014/main" id="{D4CDA149-3AF2-6EEF-1EB1-5FFE3EA2F503}"/>
              </a:ext>
            </a:extLst>
          </p:cNvPr>
          <p:cNvSpPr/>
          <p:nvPr/>
        </p:nvSpPr>
        <p:spPr>
          <a:xfrm rot="10800000">
            <a:off x="-342959" y="3383026"/>
            <a:ext cx="2215243" cy="1961896"/>
          </a:xfrm>
          <a:custGeom>
            <a:avLst/>
            <a:gdLst/>
            <a:ahLst/>
            <a:cxnLst/>
            <a:rect l="l" t="t" r="r" b="b"/>
            <a:pathLst>
              <a:path w="754496" h="668208">
                <a:moveTo>
                  <a:pt x="414003" y="21330"/>
                </a:moveTo>
                <a:lnTo>
                  <a:pt x="746893" y="603886"/>
                </a:lnTo>
                <a:cubicBezTo>
                  <a:pt x="754496" y="617192"/>
                  <a:pt x="754441" y="633540"/>
                  <a:pt x="746749" y="646795"/>
                </a:cubicBezTo>
                <a:cubicBezTo>
                  <a:pt x="739057" y="660050"/>
                  <a:pt x="724890" y="668208"/>
                  <a:pt x="709565" y="668208"/>
                </a:cubicBezTo>
                <a:lnTo>
                  <a:pt x="44931" y="668208"/>
                </a:lnTo>
                <a:cubicBezTo>
                  <a:pt x="29606" y="668208"/>
                  <a:pt x="15439" y="660050"/>
                  <a:pt x="7747" y="646795"/>
                </a:cubicBezTo>
                <a:cubicBezTo>
                  <a:pt x="55" y="633540"/>
                  <a:pt x="0" y="617192"/>
                  <a:pt x="7603" y="603886"/>
                </a:cubicBezTo>
                <a:lnTo>
                  <a:pt x="340493" y="21330"/>
                </a:lnTo>
                <a:cubicBezTo>
                  <a:pt x="348030" y="8140"/>
                  <a:pt x="362056" y="0"/>
                  <a:pt x="377248" y="0"/>
                </a:cubicBezTo>
                <a:cubicBezTo>
                  <a:pt x="392440" y="0"/>
                  <a:pt x="406466" y="8140"/>
                  <a:pt x="414003" y="21330"/>
                </a:cubicBezTo>
                <a:close/>
              </a:path>
            </a:pathLst>
          </a:custGeom>
          <a:solidFill>
            <a:schemeClr val="accent6"/>
          </a:solidFill>
        </p:spPr>
        <p:txBody>
          <a:bodyPr/>
          <a:lstStyle/>
          <a:p>
            <a:endParaRPr lang="en-GB" b="1"/>
          </a:p>
        </p:txBody>
      </p:sp>
      <p:sp>
        <p:nvSpPr>
          <p:cNvPr id="19" name="Freeform 15">
            <a:extLst>
              <a:ext uri="{FF2B5EF4-FFF2-40B4-BE49-F238E27FC236}">
                <a16:creationId xmlns:a16="http://schemas.microsoft.com/office/drawing/2014/main" id="{718370F3-4990-61F5-0E9F-61DAB5825D80}"/>
              </a:ext>
            </a:extLst>
          </p:cNvPr>
          <p:cNvSpPr/>
          <p:nvPr/>
        </p:nvSpPr>
        <p:spPr>
          <a:xfrm rot="10800000">
            <a:off x="6476021" y="-439506"/>
            <a:ext cx="3398098" cy="3009474"/>
          </a:xfrm>
          <a:custGeom>
            <a:avLst/>
            <a:gdLst/>
            <a:ahLst/>
            <a:cxnLst/>
            <a:rect l="l" t="t" r="r" b="b"/>
            <a:pathLst>
              <a:path w="754496" h="668208">
                <a:moveTo>
                  <a:pt x="414003" y="21330"/>
                </a:moveTo>
                <a:lnTo>
                  <a:pt x="746893" y="603886"/>
                </a:lnTo>
                <a:cubicBezTo>
                  <a:pt x="754496" y="617192"/>
                  <a:pt x="754441" y="633540"/>
                  <a:pt x="746749" y="646795"/>
                </a:cubicBezTo>
                <a:cubicBezTo>
                  <a:pt x="739057" y="660050"/>
                  <a:pt x="724890" y="668208"/>
                  <a:pt x="709565" y="668208"/>
                </a:cubicBezTo>
                <a:lnTo>
                  <a:pt x="44931" y="668208"/>
                </a:lnTo>
                <a:cubicBezTo>
                  <a:pt x="29606" y="668208"/>
                  <a:pt x="15439" y="660050"/>
                  <a:pt x="7747" y="646795"/>
                </a:cubicBezTo>
                <a:cubicBezTo>
                  <a:pt x="55" y="633540"/>
                  <a:pt x="0" y="617192"/>
                  <a:pt x="7603" y="603886"/>
                </a:cubicBezTo>
                <a:lnTo>
                  <a:pt x="340493" y="21330"/>
                </a:lnTo>
                <a:cubicBezTo>
                  <a:pt x="348030" y="8140"/>
                  <a:pt x="362056" y="0"/>
                  <a:pt x="377248" y="0"/>
                </a:cubicBezTo>
                <a:cubicBezTo>
                  <a:pt x="392440" y="0"/>
                  <a:pt x="406466" y="8140"/>
                  <a:pt x="414003" y="21330"/>
                </a:cubicBezTo>
                <a:close/>
              </a:path>
            </a:pathLst>
          </a:custGeom>
          <a:solidFill>
            <a:srgbClr val="B5BD00"/>
          </a:solidFill>
        </p:spPr>
        <p:txBody>
          <a:bodyPr/>
          <a:lstStyle/>
          <a:p>
            <a:endParaRPr lang="en-GB" b="1"/>
          </a:p>
        </p:txBody>
      </p:sp>
      <p:sp>
        <p:nvSpPr>
          <p:cNvPr id="2" name="Text Placeholder 1">
            <a:extLst>
              <a:ext uri="{FF2B5EF4-FFF2-40B4-BE49-F238E27FC236}">
                <a16:creationId xmlns:a16="http://schemas.microsoft.com/office/drawing/2014/main" id="{9FD67B30-CD1F-8468-C4B4-3271C9BA3064}"/>
              </a:ext>
            </a:extLst>
          </p:cNvPr>
          <p:cNvSpPr>
            <a:spLocks noGrp="1"/>
          </p:cNvSpPr>
          <p:nvPr>
            <p:ph type="body" sz="quarter" idx="15"/>
          </p:nvPr>
        </p:nvSpPr>
        <p:spPr>
          <a:xfrm>
            <a:off x="539917" y="1511590"/>
            <a:ext cx="5762776" cy="2356968"/>
          </a:xfrm>
        </p:spPr>
        <p:txBody>
          <a:bodyPr>
            <a:normAutofit/>
          </a:bodyPr>
          <a:lstStyle/>
          <a:p>
            <a:pPr marL="285750" indent="-285750">
              <a:lnSpc>
                <a:spcPct val="100000"/>
              </a:lnSpc>
              <a:buFont typeface="Wingdings" panose="05000000000000000000" pitchFamily="2" charset="2"/>
              <a:buChar char="Ø"/>
            </a:pPr>
            <a:r>
              <a:rPr lang="en-GB" sz="1600"/>
              <a:t>From 7 to 31 African countries with sequencing capacity (2019-2022)</a:t>
            </a:r>
          </a:p>
          <a:p>
            <a:pPr marL="285750" indent="-285750">
              <a:lnSpc>
                <a:spcPct val="100000"/>
              </a:lnSpc>
              <a:buFont typeface="Wingdings" panose="05000000000000000000" pitchFamily="2" charset="2"/>
              <a:buChar char="Ø"/>
            </a:pPr>
            <a:r>
              <a:rPr lang="en-GB" sz="1600"/>
              <a:t>Infrastructure gap: computational capacity lagging behind laboratory capabilities</a:t>
            </a:r>
          </a:p>
          <a:p>
            <a:pPr marL="285750" indent="-285750">
              <a:lnSpc>
                <a:spcPct val="100000"/>
              </a:lnSpc>
              <a:buFont typeface="Wingdings" panose="05000000000000000000" pitchFamily="2" charset="2"/>
              <a:buChar char="Ø"/>
            </a:pPr>
            <a:r>
              <a:rPr lang="en-GB" sz="1600" b="1"/>
              <a:t>Critical need for sustainable cloud computing for pathogen surveillance in the African Continent</a:t>
            </a:r>
          </a:p>
        </p:txBody>
      </p:sp>
      <p:sp>
        <p:nvSpPr>
          <p:cNvPr id="3" name="Title 2">
            <a:extLst>
              <a:ext uri="{FF2B5EF4-FFF2-40B4-BE49-F238E27FC236}">
                <a16:creationId xmlns:a16="http://schemas.microsoft.com/office/drawing/2014/main" id="{D05BDA8E-2F74-7EC8-3952-E56291AC185B}"/>
              </a:ext>
            </a:extLst>
          </p:cNvPr>
          <p:cNvSpPr>
            <a:spLocks noGrp="1"/>
          </p:cNvSpPr>
          <p:nvPr>
            <p:ph type="ctrTitle"/>
          </p:nvPr>
        </p:nvSpPr>
        <p:spPr/>
        <p:txBody>
          <a:bodyPr>
            <a:noAutofit/>
          </a:bodyPr>
          <a:lstStyle/>
          <a:p>
            <a:r>
              <a:rPr lang="en-GB" sz="3000" b="1"/>
              <a:t>CLIMB Impact – Global Health</a:t>
            </a:r>
          </a:p>
        </p:txBody>
      </p:sp>
      <p:sp>
        <p:nvSpPr>
          <p:cNvPr id="4" name="Subtitle 3">
            <a:extLst>
              <a:ext uri="{FF2B5EF4-FFF2-40B4-BE49-F238E27FC236}">
                <a16:creationId xmlns:a16="http://schemas.microsoft.com/office/drawing/2014/main" id="{A78A2F9A-6085-072C-FC18-6321FB26F6F7}"/>
              </a:ext>
            </a:extLst>
          </p:cNvPr>
          <p:cNvSpPr>
            <a:spLocks noGrp="1"/>
          </p:cNvSpPr>
          <p:nvPr>
            <p:ph type="subTitle" idx="1"/>
          </p:nvPr>
        </p:nvSpPr>
        <p:spPr>
          <a:xfrm>
            <a:off x="539915" y="1105562"/>
            <a:ext cx="8079153" cy="385190"/>
          </a:xfrm>
        </p:spPr>
        <p:txBody>
          <a:bodyPr>
            <a:normAutofit/>
          </a:bodyPr>
          <a:lstStyle/>
          <a:p>
            <a:r>
              <a:rPr lang="en-GB" sz="2400"/>
              <a:t>Cloud Computing in Africa</a:t>
            </a:r>
          </a:p>
        </p:txBody>
      </p:sp>
      <p:sp>
        <p:nvSpPr>
          <p:cNvPr id="7" name="Text Placeholder 1">
            <a:extLst>
              <a:ext uri="{FF2B5EF4-FFF2-40B4-BE49-F238E27FC236}">
                <a16:creationId xmlns:a16="http://schemas.microsoft.com/office/drawing/2014/main" id="{B729DA2A-9C19-7405-D129-5146DB96B184}"/>
              </a:ext>
            </a:extLst>
          </p:cNvPr>
          <p:cNvSpPr txBox="1">
            <a:spLocks/>
          </p:cNvSpPr>
          <p:nvPr/>
        </p:nvSpPr>
        <p:spPr>
          <a:xfrm>
            <a:off x="5575213" y="3771117"/>
            <a:ext cx="3398099" cy="1011936"/>
          </a:xfrm>
          <a:prstGeom prst="rect">
            <a:avLst/>
          </a:prstGeom>
        </p:spPr>
        <p:txBody>
          <a:bodyPr lIns="0" tIns="0" rIns="0" bIns="0" numCol="1" spcCol="360000">
            <a:normAutofit/>
          </a:bodyPr>
          <a:lstStyle>
            <a:lvl1pPr marL="171450" indent="-171450" algn="l" defTabSz="685800" rtl="0" eaLnBrk="1" latinLnBrk="0" hangingPunct="1">
              <a:lnSpc>
                <a:spcPct val="150000"/>
              </a:lnSpc>
              <a:spcBef>
                <a:spcPts val="750"/>
              </a:spcBef>
              <a:buClr>
                <a:schemeClr val="bg2"/>
              </a:buClr>
              <a:buFont typeface="Arial" panose="020B0604020202020204" pitchFamily="34" charset="0"/>
              <a:buNone/>
              <a:defRPr sz="1400" kern="1200" baseline="0">
                <a:solidFill>
                  <a:schemeClr val="accent5"/>
                </a:solidFill>
                <a:latin typeface="+mj-lt"/>
                <a:ea typeface="+mn-ea"/>
                <a:cs typeface="+mn-cs"/>
              </a:defRPr>
            </a:lvl1pPr>
            <a:lvl2pPr marL="514350" indent="-171450" algn="l" defTabSz="685800" rtl="0" eaLnBrk="1" latinLnBrk="0" hangingPunct="1">
              <a:lnSpc>
                <a:spcPct val="150000"/>
              </a:lnSpc>
              <a:spcBef>
                <a:spcPts val="375"/>
              </a:spcBef>
              <a:buClr>
                <a:schemeClr val="bg2"/>
              </a:buClr>
              <a:buFont typeface="Arial" panose="020B0604020202020204" pitchFamily="34" charset="0"/>
              <a:buNone/>
              <a:defRPr sz="1200" kern="1200" baseline="0">
                <a:solidFill>
                  <a:schemeClr val="accent5"/>
                </a:solidFill>
                <a:latin typeface="+mj-lt"/>
                <a:ea typeface="+mn-ea"/>
                <a:cs typeface="+mn-cs"/>
              </a:defRPr>
            </a:lvl2pPr>
            <a:lvl3pPr marL="857250" indent="-171450" algn="l" defTabSz="685800" rtl="0" eaLnBrk="1" latinLnBrk="0" hangingPunct="1">
              <a:lnSpc>
                <a:spcPct val="150000"/>
              </a:lnSpc>
              <a:spcBef>
                <a:spcPts val="375"/>
              </a:spcBef>
              <a:buClr>
                <a:schemeClr val="bg2"/>
              </a:buClr>
              <a:buFont typeface="Arial" panose="020B0604020202020204" pitchFamily="34" charset="0"/>
              <a:buNone/>
              <a:defRPr sz="1100" kern="1200" baseline="0">
                <a:solidFill>
                  <a:schemeClr val="accent5"/>
                </a:solidFill>
                <a:latin typeface="+mj-lt"/>
                <a:ea typeface="+mn-ea"/>
                <a:cs typeface="+mn-cs"/>
              </a:defRPr>
            </a:lvl3pPr>
            <a:lvl4pPr marL="1200150" indent="-171450" algn="l" defTabSz="685800" rtl="0" eaLnBrk="1" latinLnBrk="0" hangingPunct="1">
              <a:lnSpc>
                <a:spcPct val="150000"/>
              </a:lnSpc>
              <a:spcBef>
                <a:spcPts val="375"/>
              </a:spcBef>
              <a:buClr>
                <a:schemeClr val="bg2"/>
              </a:buClr>
              <a:buFont typeface="Arial" panose="020B0604020202020204" pitchFamily="34" charset="0"/>
              <a:buNone/>
              <a:defRPr sz="1000" kern="1200" baseline="0">
                <a:solidFill>
                  <a:schemeClr val="accent5"/>
                </a:solidFill>
                <a:latin typeface="+mj-lt"/>
                <a:ea typeface="+mn-ea"/>
                <a:cs typeface="+mn-cs"/>
              </a:defRPr>
            </a:lvl4pPr>
            <a:lvl5pPr marL="1543050" indent="-171450" algn="l" defTabSz="685800" rtl="0" eaLnBrk="1" latinLnBrk="0" hangingPunct="1">
              <a:lnSpc>
                <a:spcPct val="150000"/>
              </a:lnSpc>
              <a:spcBef>
                <a:spcPts val="375"/>
              </a:spcBef>
              <a:buClr>
                <a:schemeClr val="bg2"/>
              </a:buClr>
              <a:buFont typeface="Arial" panose="020B0604020202020204" pitchFamily="34" charset="0"/>
              <a:buNone/>
              <a:defRPr sz="800" kern="1200" baseline="0">
                <a:solidFill>
                  <a:schemeClr val="accent5"/>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GB" sz="2000"/>
              <a:t>CLIMB identified as model for </a:t>
            </a:r>
          </a:p>
          <a:p>
            <a:pPr>
              <a:lnSpc>
                <a:spcPct val="100000"/>
              </a:lnSpc>
            </a:pPr>
            <a:r>
              <a:rPr lang="en-GB" sz="2000"/>
              <a:t>“CLIMB Africa” development</a:t>
            </a:r>
          </a:p>
        </p:txBody>
      </p:sp>
      <p:grpSp>
        <p:nvGrpSpPr>
          <p:cNvPr id="8" name="Group 14">
            <a:extLst>
              <a:ext uri="{FF2B5EF4-FFF2-40B4-BE49-F238E27FC236}">
                <a16:creationId xmlns:a16="http://schemas.microsoft.com/office/drawing/2014/main" id="{0DFE628A-3D0F-38AB-313D-E2A089E7122C}"/>
              </a:ext>
            </a:extLst>
          </p:cNvPr>
          <p:cNvGrpSpPr>
            <a:grpSpLocks noChangeAspect="1"/>
          </p:cNvGrpSpPr>
          <p:nvPr/>
        </p:nvGrpSpPr>
        <p:grpSpPr>
          <a:xfrm>
            <a:off x="6278309" y="815556"/>
            <a:ext cx="2840737" cy="2840736"/>
            <a:chOff x="0" y="0"/>
            <a:chExt cx="6305550" cy="6305550"/>
          </a:xfrm>
        </p:grpSpPr>
        <p:sp>
          <p:nvSpPr>
            <p:cNvPr id="9" name="Freeform 15">
              <a:extLst>
                <a:ext uri="{FF2B5EF4-FFF2-40B4-BE49-F238E27FC236}">
                  <a16:creationId xmlns:a16="http://schemas.microsoft.com/office/drawing/2014/main" id="{BC794F36-FD25-5E49-5CD5-D16D0B0C06FF}"/>
                </a:ext>
              </a:extLst>
            </p:cNvPr>
            <p:cNvSpPr/>
            <p:nvPr/>
          </p:nvSpPr>
          <p:spPr>
            <a:xfrm>
              <a:off x="2989580" y="2175510"/>
              <a:ext cx="3315970" cy="4128770"/>
            </a:xfrm>
            <a:custGeom>
              <a:avLst/>
              <a:gdLst/>
              <a:ahLst/>
              <a:cxnLst/>
              <a:rect l="l" t="t" r="r" b="b"/>
              <a:pathLst>
                <a:path w="3315970" h="4128770">
                  <a:moveTo>
                    <a:pt x="3315970" y="984250"/>
                  </a:moveTo>
                  <a:cubicBezTo>
                    <a:pt x="3148330" y="989330"/>
                    <a:pt x="2962910" y="995680"/>
                    <a:pt x="2799080" y="1003300"/>
                  </a:cubicBezTo>
                  <a:cubicBezTo>
                    <a:pt x="2344420" y="1024890"/>
                    <a:pt x="2143760" y="1056640"/>
                    <a:pt x="2153920" y="834390"/>
                  </a:cubicBezTo>
                  <a:cubicBezTo>
                    <a:pt x="2164080" y="612140"/>
                    <a:pt x="2533650" y="0"/>
                    <a:pt x="1921510" y="0"/>
                  </a:cubicBezTo>
                  <a:cubicBezTo>
                    <a:pt x="1266190" y="0"/>
                    <a:pt x="1657350" y="560070"/>
                    <a:pt x="1657350" y="844550"/>
                  </a:cubicBezTo>
                  <a:cubicBezTo>
                    <a:pt x="1657350" y="1035050"/>
                    <a:pt x="1435100" y="1035050"/>
                    <a:pt x="1160780" y="1035050"/>
                  </a:cubicBezTo>
                  <a:cubicBezTo>
                    <a:pt x="1027430" y="1035050"/>
                    <a:pt x="584200" y="1007110"/>
                    <a:pt x="165100" y="979170"/>
                  </a:cubicBezTo>
                  <a:cubicBezTo>
                    <a:pt x="135890" y="1421130"/>
                    <a:pt x="105410" y="1837690"/>
                    <a:pt x="105410" y="1837690"/>
                  </a:cubicBezTo>
                  <a:cubicBezTo>
                    <a:pt x="105410" y="1837690"/>
                    <a:pt x="0" y="2260600"/>
                    <a:pt x="391160" y="2249170"/>
                  </a:cubicBezTo>
                  <a:cubicBezTo>
                    <a:pt x="676910" y="2249170"/>
                    <a:pt x="1140460" y="1943100"/>
                    <a:pt x="1140460" y="2459990"/>
                  </a:cubicBezTo>
                  <a:cubicBezTo>
                    <a:pt x="1140460" y="2998470"/>
                    <a:pt x="601980" y="2692400"/>
                    <a:pt x="347980" y="2692400"/>
                  </a:cubicBezTo>
                  <a:cubicBezTo>
                    <a:pt x="93980" y="2692400"/>
                    <a:pt x="115570" y="2829560"/>
                    <a:pt x="115570" y="3241040"/>
                  </a:cubicBezTo>
                  <a:cubicBezTo>
                    <a:pt x="139700" y="3545840"/>
                    <a:pt x="191770" y="3853180"/>
                    <a:pt x="214630" y="4128770"/>
                  </a:cubicBezTo>
                  <a:lnTo>
                    <a:pt x="3315970" y="4128770"/>
                  </a:lnTo>
                  <a:lnTo>
                    <a:pt x="3315970" y="984250"/>
                  </a:lnTo>
                  <a:close/>
                </a:path>
              </a:pathLst>
            </a:custGeom>
            <a:blipFill>
              <a:blip r:embed="rId3"/>
              <a:stretch>
                <a:fillRect l="-35492" r="-56481" b="-12274"/>
              </a:stretch>
            </a:blipFill>
          </p:spPr>
          <p:txBody>
            <a:bodyPr/>
            <a:lstStyle/>
            <a:p>
              <a:endParaRPr lang="en-GB" sz="900"/>
            </a:p>
          </p:txBody>
        </p:sp>
        <p:sp>
          <p:nvSpPr>
            <p:cNvPr id="10" name="Freeform 16">
              <a:extLst>
                <a:ext uri="{FF2B5EF4-FFF2-40B4-BE49-F238E27FC236}">
                  <a16:creationId xmlns:a16="http://schemas.microsoft.com/office/drawing/2014/main" id="{C365A2E6-DC4E-64FC-24BB-04C07A921855}"/>
                </a:ext>
              </a:extLst>
            </p:cNvPr>
            <p:cNvSpPr/>
            <p:nvPr/>
          </p:nvSpPr>
          <p:spPr>
            <a:xfrm>
              <a:off x="0" y="1270"/>
              <a:ext cx="3230880" cy="4128770"/>
            </a:xfrm>
            <a:custGeom>
              <a:avLst/>
              <a:gdLst/>
              <a:ahLst/>
              <a:cxnLst/>
              <a:rect l="l" t="t" r="r" b="b"/>
              <a:pathLst>
                <a:path w="3230880" h="4128770">
                  <a:moveTo>
                    <a:pt x="1436370" y="3336290"/>
                  </a:moveTo>
                  <a:cubicBezTo>
                    <a:pt x="1436370" y="3590290"/>
                    <a:pt x="1130300" y="4128770"/>
                    <a:pt x="1668780" y="4128770"/>
                  </a:cubicBezTo>
                  <a:cubicBezTo>
                    <a:pt x="2185670" y="4128770"/>
                    <a:pt x="1879600" y="3663950"/>
                    <a:pt x="1879600" y="3379470"/>
                  </a:cubicBezTo>
                  <a:cubicBezTo>
                    <a:pt x="1869440" y="2988310"/>
                    <a:pt x="2291080" y="3093720"/>
                    <a:pt x="2291080" y="3093720"/>
                  </a:cubicBezTo>
                  <a:cubicBezTo>
                    <a:pt x="2291080" y="3093720"/>
                    <a:pt x="2710180" y="3124200"/>
                    <a:pt x="3153410" y="3154680"/>
                  </a:cubicBezTo>
                  <a:cubicBezTo>
                    <a:pt x="3181350" y="2733040"/>
                    <a:pt x="3209290" y="2288540"/>
                    <a:pt x="3209290" y="2153920"/>
                  </a:cubicBezTo>
                  <a:cubicBezTo>
                    <a:pt x="3209290" y="1879600"/>
                    <a:pt x="3209290" y="1657350"/>
                    <a:pt x="3018790" y="1657350"/>
                  </a:cubicBezTo>
                  <a:cubicBezTo>
                    <a:pt x="2733040" y="1657350"/>
                    <a:pt x="2174240" y="2048510"/>
                    <a:pt x="2174240" y="1393190"/>
                  </a:cubicBezTo>
                  <a:cubicBezTo>
                    <a:pt x="2174240" y="781050"/>
                    <a:pt x="2786380" y="1150620"/>
                    <a:pt x="3008630" y="1160780"/>
                  </a:cubicBezTo>
                  <a:cubicBezTo>
                    <a:pt x="3230880" y="1170940"/>
                    <a:pt x="3199130" y="970280"/>
                    <a:pt x="3177540" y="516890"/>
                  </a:cubicBezTo>
                  <a:cubicBezTo>
                    <a:pt x="3169920" y="351790"/>
                    <a:pt x="3163570" y="167640"/>
                    <a:pt x="3158490" y="0"/>
                  </a:cubicBezTo>
                  <a:lnTo>
                    <a:pt x="0" y="0"/>
                  </a:lnTo>
                  <a:lnTo>
                    <a:pt x="0" y="3204210"/>
                  </a:lnTo>
                  <a:cubicBezTo>
                    <a:pt x="275590" y="3182620"/>
                    <a:pt x="582930" y="3130549"/>
                    <a:pt x="887730" y="3105149"/>
                  </a:cubicBezTo>
                  <a:cubicBezTo>
                    <a:pt x="1299210" y="3103879"/>
                    <a:pt x="1436370" y="3082289"/>
                    <a:pt x="1436370" y="3336289"/>
                  </a:cubicBezTo>
                  <a:close/>
                </a:path>
              </a:pathLst>
            </a:custGeom>
            <a:blipFill>
              <a:blip r:embed="rId4"/>
              <a:stretch>
                <a:fillRect l="-15897" r="-55845"/>
              </a:stretch>
            </a:blipFill>
          </p:spPr>
          <p:txBody>
            <a:bodyPr/>
            <a:lstStyle/>
            <a:p>
              <a:endParaRPr lang="en-GB" sz="900"/>
            </a:p>
          </p:txBody>
        </p:sp>
        <p:sp>
          <p:nvSpPr>
            <p:cNvPr id="11" name="Freeform 17">
              <a:extLst>
                <a:ext uri="{FF2B5EF4-FFF2-40B4-BE49-F238E27FC236}">
                  <a16:creationId xmlns:a16="http://schemas.microsoft.com/office/drawing/2014/main" id="{EBF0DD4D-8841-DEE5-D149-1B0C5A3E2671}"/>
                </a:ext>
              </a:extLst>
            </p:cNvPr>
            <p:cNvSpPr/>
            <p:nvPr/>
          </p:nvSpPr>
          <p:spPr>
            <a:xfrm>
              <a:off x="2175510" y="0"/>
              <a:ext cx="4128770" cy="3233420"/>
            </a:xfrm>
            <a:custGeom>
              <a:avLst/>
              <a:gdLst/>
              <a:ahLst/>
              <a:cxnLst/>
              <a:rect l="l" t="t" r="r" b="b"/>
              <a:pathLst>
                <a:path w="4128770" h="3233420">
                  <a:moveTo>
                    <a:pt x="834390" y="1162050"/>
                  </a:moveTo>
                  <a:cubicBezTo>
                    <a:pt x="612140" y="1151890"/>
                    <a:pt x="0" y="782320"/>
                    <a:pt x="0" y="1394460"/>
                  </a:cubicBezTo>
                  <a:cubicBezTo>
                    <a:pt x="0" y="2049780"/>
                    <a:pt x="560070" y="1658620"/>
                    <a:pt x="844550" y="1658620"/>
                  </a:cubicBezTo>
                  <a:cubicBezTo>
                    <a:pt x="1035050" y="1658620"/>
                    <a:pt x="1035050" y="1880870"/>
                    <a:pt x="1035050" y="2155190"/>
                  </a:cubicBezTo>
                  <a:cubicBezTo>
                    <a:pt x="1035050" y="2288540"/>
                    <a:pt x="1007110" y="2734310"/>
                    <a:pt x="979170" y="3155950"/>
                  </a:cubicBezTo>
                  <a:cubicBezTo>
                    <a:pt x="1399540" y="3183890"/>
                    <a:pt x="1841500" y="3211830"/>
                    <a:pt x="1974850" y="3211830"/>
                  </a:cubicBezTo>
                  <a:cubicBezTo>
                    <a:pt x="2249170" y="3211830"/>
                    <a:pt x="2471420" y="3211830"/>
                    <a:pt x="2471420" y="3021330"/>
                  </a:cubicBezTo>
                  <a:cubicBezTo>
                    <a:pt x="2471420" y="2735580"/>
                    <a:pt x="2080260" y="2176780"/>
                    <a:pt x="2735580" y="2176780"/>
                  </a:cubicBezTo>
                  <a:cubicBezTo>
                    <a:pt x="3347720" y="2176780"/>
                    <a:pt x="2978150" y="2788920"/>
                    <a:pt x="2967990" y="3011170"/>
                  </a:cubicBezTo>
                  <a:cubicBezTo>
                    <a:pt x="2957830" y="3233420"/>
                    <a:pt x="3158490" y="3201670"/>
                    <a:pt x="3611880" y="3180080"/>
                  </a:cubicBezTo>
                  <a:cubicBezTo>
                    <a:pt x="3776980" y="3172460"/>
                    <a:pt x="3961130" y="3166110"/>
                    <a:pt x="4128770" y="3161030"/>
                  </a:cubicBezTo>
                  <a:lnTo>
                    <a:pt x="4128770" y="0"/>
                  </a:lnTo>
                  <a:lnTo>
                    <a:pt x="984250" y="0"/>
                  </a:lnTo>
                  <a:cubicBezTo>
                    <a:pt x="989330" y="167640"/>
                    <a:pt x="995680" y="353060"/>
                    <a:pt x="1003300" y="516890"/>
                  </a:cubicBezTo>
                  <a:cubicBezTo>
                    <a:pt x="1024890" y="971550"/>
                    <a:pt x="1056640" y="1172210"/>
                    <a:pt x="834390" y="1162050"/>
                  </a:cubicBezTo>
                  <a:close/>
                </a:path>
              </a:pathLst>
            </a:custGeom>
            <a:blipFill>
              <a:blip r:embed="rId5"/>
              <a:stretch>
                <a:fillRect l="-575" r="-3272"/>
              </a:stretch>
            </a:blipFill>
          </p:spPr>
          <p:txBody>
            <a:bodyPr/>
            <a:lstStyle/>
            <a:p>
              <a:endParaRPr lang="en-GB" sz="900"/>
            </a:p>
          </p:txBody>
        </p:sp>
        <p:sp>
          <p:nvSpPr>
            <p:cNvPr id="12" name="Freeform 18">
              <a:extLst>
                <a:ext uri="{FF2B5EF4-FFF2-40B4-BE49-F238E27FC236}">
                  <a16:creationId xmlns:a16="http://schemas.microsoft.com/office/drawing/2014/main" id="{60DEF90E-9AC5-3293-E439-F9B088727994}"/>
                </a:ext>
              </a:extLst>
            </p:cNvPr>
            <p:cNvSpPr/>
            <p:nvPr/>
          </p:nvSpPr>
          <p:spPr>
            <a:xfrm>
              <a:off x="1270" y="2989580"/>
              <a:ext cx="4128770" cy="3315970"/>
            </a:xfrm>
            <a:custGeom>
              <a:avLst/>
              <a:gdLst/>
              <a:ahLst/>
              <a:cxnLst/>
              <a:rect l="l" t="t" r="r" b="b"/>
              <a:pathLst>
                <a:path w="4128770" h="3315970">
                  <a:moveTo>
                    <a:pt x="3336290" y="1879600"/>
                  </a:moveTo>
                  <a:cubicBezTo>
                    <a:pt x="3590290" y="1879600"/>
                    <a:pt x="4128770" y="2185670"/>
                    <a:pt x="4128770" y="1647190"/>
                  </a:cubicBezTo>
                  <a:cubicBezTo>
                    <a:pt x="4128770" y="1130300"/>
                    <a:pt x="3663950" y="1436370"/>
                    <a:pt x="3379470" y="1436370"/>
                  </a:cubicBezTo>
                  <a:cubicBezTo>
                    <a:pt x="2988310" y="1446530"/>
                    <a:pt x="3093720" y="1024890"/>
                    <a:pt x="3093720" y="1024890"/>
                  </a:cubicBezTo>
                  <a:cubicBezTo>
                    <a:pt x="3093720" y="1024890"/>
                    <a:pt x="3124200" y="609600"/>
                    <a:pt x="3153410" y="166370"/>
                  </a:cubicBezTo>
                  <a:cubicBezTo>
                    <a:pt x="2708910" y="135890"/>
                    <a:pt x="2291080" y="105410"/>
                    <a:pt x="2291080" y="105410"/>
                  </a:cubicBezTo>
                  <a:cubicBezTo>
                    <a:pt x="2291080" y="105410"/>
                    <a:pt x="1868170" y="0"/>
                    <a:pt x="1879600" y="391160"/>
                  </a:cubicBezTo>
                  <a:cubicBezTo>
                    <a:pt x="1879600" y="676910"/>
                    <a:pt x="2185670" y="1140460"/>
                    <a:pt x="1668780" y="1140460"/>
                  </a:cubicBezTo>
                  <a:cubicBezTo>
                    <a:pt x="1130300" y="1140460"/>
                    <a:pt x="1436370" y="601980"/>
                    <a:pt x="1436370" y="347980"/>
                  </a:cubicBezTo>
                  <a:cubicBezTo>
                    <a:pt x="1436370" y="93980"/>
                    <a:pt x="1299210" y="115570"/>
                    <a:pt x="887730" y="115570"/>
                  </a:cubicBezTo>
                  <a:cubicBezTo>
                    <a:pt x="582930" y="139700"/>
                    <a:pt x="275590" y="191770"/>
                    <a:pt x="0" y="214630"/>
                  </a:cubicBezTo>
                  <a:lnTo>
                    <a:pt x="0" y="3315970"/>
                  </a:lnTo>
                  <a:lnTo>
                    <a:pt x="3204210" y="3315970"/>
                  </a:lnTo>
                  <a:cubicBezTo>
                    <a:pt x="3182620" y="3040380"/>
                    <a:pt x="3130549" y="2733040"/>
                    <a:pt x="3105149" y="2428240"/>
                  </a:cubicBezTo>
                  <a:cubicBezTo>
                    <a:pt x="3103879" y="2016760"/>
                    <a:pt x="3082289" y="1879600"/>
                    <a:pt x="3336289" y="1879600"/>
                  </a:cubicBezTo>
                  <a:close/>
                </a:path>
              </a:pathLst>
            </a:custGeom>
            <a:blipFill>
              <a:blip r:embed="rId6"/>
              <a:stretch>
                <a:fillRect l="-8822" r="-8822"/>
              </a:stretch>
            </a:blipFill>
          </p:spPr>
          <p:txBody>
            <a:bodyPr/>
            <a:lstStyle/>
            <a:p>
              <a:endParaRPr lang="en-GB" sz="900"/>
            </a:p>
          </p:txBody>
        </p:sp>
      </p:grpSp>
      <p:sp>
        <p:nvSpPr>
          <p:cNvPr id="14" name="Freeform 11">
            <a:extLst>
              <a:ext uri="{FF2B5EF4-FFF2-40B4-BE49-F238E27FC236}">
                <a16:creationId xmlns:a16="http://schemas.microsoft.com/office/drawing/2014/main" id="{BA4E0518-A525-5D80-45FC-A4F9ADA76988}"/>
              </a:ext>
            </a:extLst>
          </p:cNvPr>
          <p:cNvSpPr/>
          <p:nvPr/>
        </p:nvSpPr>
        <p:spPr>
          <a:xfrm>
            <a:off x="-618072" y="3486912"/>
            <a:ext cx="5699274" cy="1754124"/>
          </a:xfrm>
          <a:custGeom>
            <a:avLst/>
            <a:gdLst/>
            <a:ahLst/>
            <a:cxnLst/>
            <a:rect l="l" t="t" r="r" b="b"/>
            <a:pathLst>
              <a:path w="1168993" h="469159">
                <a:moveTo>
                  <a:pt x="217121" y="0"/>
                </a:moveTo>
                <a:lnTo>
                  <a:pt x="1155073" y="0"/>
                </a:lnTo>
                <a:cubicBezTo>
                  <a:pt x="1159532" y="0"/>
                  <a:pt x="1163692" y="2245"/>
                  <a:pt x="1166140" y="5972"/>
                </a:cubicBezTo>
                <a:cubicBezTo>
                  <a:pt x="1168587" y="9699"/>
                  <a:pt x="1168994" y="14408"/>
                  <a:pt x="1167222" y="18500"/>
                </a:cubicBezTo>
                <a:lnTo>
                  <a:pt x="980047" y="450659"/>
                </a:lnTo>
                <a:cubicBezTo>
                  <a:pt x="975183" y="461890"/>
                  <a:pt x="964112" y="469159"/>
                  <a:pt x="951873" y="469159"/>
                </a:cubicBezTo>
                <a:lnTo>
                  <a:pt x="13921" y="469159"/>
                </a:lnTo>
                <a:cubicBezTo>
                  <a:pt x="9462" y="469159"/>
                  <a:pt x="5302" y="466914"/>
                  <a:pt x="2855" y="463187"/>
                </a:cubicBezTo>
                <a:cubicBezTo>
                  <a:pt x="407" y="459460"/>
                  <a:pt x="0" y="454750"/>
                  <a:pt x="1773" y="450659"/>
                </a:cubicBezTo>
                <a:lnTo>
                  <a:pt x="188947" y="18500"/>
                </a:lnTo>
                <a:cubicBezTo>
                  <a:pt x="193812" y="7269"/>
                  <a:pt x="204882" y="0"/>
                  <a:pt x="217121" y="0"/>
                </a:cubicBezTo>
                <a:close/>
              </a:path>
            </a:pathLst>
          </a:custGeom>
          <a:blipFill>
            <a:blip r:embed="rId7"/>
            <a:stretch>
              <a:fillRect l="6213" t="-105519" r="-7397" b="-40465"/>
            </a:stretch>
          </a:blipFill>
          <a:ln cap="rnd">
            <a:noFill/>
            <a:prstDash val="solid"/>
            <a:round/>
          </a:ln>
        </p:spPr>
        <p:txBody>
          <a:bodyPr/>
          <a:lstStyle/>
          <a:p>
            <a:endParaRPr lang="en-GB" sz="900"/>
          </a:p>
        </p:txBody>
      </p:sp>
      <p:sp>
        <p:nvSpPr>
          <p:cNvPr id="15" name="Freeform 17">
            <a:extLst>
              <a:ext uri="{FF2B5EF4-FFF2-40B4-BE49-F238E27FC236}">
                <a16:creationId xmlns:a16="http://schemas.microsoft.com/office/drawing/2014/main" id="{04B96B9F-6103-B36B-F2DD-7898A36DE74A}"/>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16" name="Freeform 30">
            <a:extLst>
              <a:ext uri="{FF2B5EF4-FFF2-40B4-BE49-F238E27FC236}">
                <a16:creationId xmlns:a16="http://schemas.microsoft.com/office/drawing/2014/main" id="{565657F7-6626-F13E-8EBF-1D07C213780F}"/>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8">
              <a:lum bright="70000" contrast="-70000"/>
              <a:extLst>
                <a:ext uri="{BEBA8EAE-BF5A-486C-A8C5-ECC9F3942E4B}">
                  <a14:imgProps xmlns:a14="http://schemas.microsoft.com/office/drawing/2010/main">
                    <a14:imgLayer r:embed="rId9">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101310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EB255-C184-A6A0-26CA-79097662624B}"/>
            </a:ext>
          </a:extLst>
        </p:cNvPr>
        <p:cNvGrpSpPr/>
        <p:nvPr/>
      </p:nvGrpSpPr>
      <p:grpSpPr>
        <a:xfrm>
          <a:off x="0" y="0"/>
          <a:ext cx="0" cy="0"/>
          <a:chOff x="0" y="0"/>
          <a:chExt cx="0" cy="0"/>
        </a:xfrm>
      </p:grpSpPr>
      <p:sp>
        <p:nvSpPr>
          <p:cNvPr id="28" name="Freeform 15">
            <a:extLst>
              <a:ext uri="{FF2B5EF4-FFF2-40B4-BE49-F238E27FC236}">
                <a16:creationId xmlns:a16="http://schemas.microsoft.com/office/drawing/2014/main" id="{4FB1EDA1-1424-E614-9E93-2199A4B2421A}"/>
              </a:ext>
            </a:extLst>
          </p:cNvPr>
          <p:cNvSpPr/>
          <p:nvPr/>
        </p:nvSpPr>
        <p:spPr>
          <a:xfrm rot="10800000">
            <a:off x="7415471" y="-439506"/>
            <a:ext cx="3398098" cy="3009474"/>
          </a:xfrm>
          <a:custGeom>
            <a:avLst/>
            <a:gdLst/>
            <a:ahLst/>
            <a:cxnLst/>
            <a:rect l="l" t="t" r="r" b="b"/>
            <a:pathLst>
              <a:path w="754496" h="668208">
                <a:moveTo>
                  <a:pt x="414003" y="21330"/>
                </a:moveTo>
                <a:lnTo>
                  <a:pt x="746893" y="603886"/>
                </a:lnTo>
                <a:cubicBezTo>
                  <a:pt x="754496" y="617192"/>
                  <a:pt x="754441" y="633540"/>
                  <a:pt x="746749" y="646795"/>
                </a:cubicBezTo>
                <a:cubicBezTo>
                  <a:pt x="739057" y="660050"/>
                  <a:pt x="724890" y="668208"/>
                  <a:pt x="709565" y="668208"/>
                </a:cubicBezTo>
                <a:lnTo>
                  <a:pt x="44931" y="668208"/>
                </a:lnTo>
                <a:cubicBezTo>
                  <a:pt x="29606" y="668208"/>
                  <a:pt x="15439" y="660050"/>
                  <a:pt x="7747" y="646795"/>
                </a:cubicBezTo>
                <a:cubicBezTo>
                  <a:pt x="55" y="633540"/>
                  <a:pt x="0" y="617192"/>
                  <a:pt x="7603" y="603886"/>
                </a:cubicBezTo>
                <a:lnTo>
                  <a:pt x="340493" y="21330"/>
                </a:lnTo>
                <a:cubicBezTo>
                  <a:pt x="348030" y="8140"/>
                  <a:pt x="362056" y="0"/>
                  <a:pt x="377248" y="0"/>
                </a:cubicBezTo>
                <a:cubicBezTo>
                  <a:pt x="392440" y="0"/>
                  <a:pt x="406466" y="8140"/>
                  <a:pt x="414003" y="21330"/>
                </a:cubicBezTo>
                <a:close/>
              </a:path>
            </a:pathLst>
          </a:custGeom>
          <a:solidFill>
            <a:srgbClr val="B5BD00"/>
          </a:solidFill>
        </p:spPr>
        <p:txBody>
          <a:bodyPr/>
          <a:lstStyle/>
          <a:p>
            <a:endParaRPr lang="en-GB" b="1"/>
          </a:p>
        </p:txBody>
      </p:sp>
      <p:sp>
        <p:nvSpPr>
          <p:cNvPr id="27" name="Freeform 21">
            <a:extLst>
              <a:ext uri="{FF2B5EF4-FFF2-40B4-BE49-F238E27FC236}">
                <a16:creationId xmlns:a16="http://schemas.microsoft.com/office/drawing/2014/main" id="{265DCFFC-EA74-DE36-2BFD-038F863A0E04}"/>
              </a:ext>
            </a:extLst>
          </p:cNvPr>
          <p:cNvSpPr/>
          <p:nvPr/>
        </p:nvSpPr>
        <p:spPr>
          <a:xfrm>
            <a:off x="7932554" y="152400"/>
            <a:ext cx="2173150" cy="1926516"/>
          </a:xfrm>
          <a:custGeom>
            <a:avLst/>
            <a:gdLst/>
            <a:ahLst/>
            <a:cxnLst/>
            <a:rect l="l" t="t" r="r" b="b"/>
            <a:pathLst>
              <a:path w="750073" h="664946">
                <a:moveTo>
                  <a:pt x="414581" y="22948"/>
                </a:moveTo>
                <a:lnTo>
                  <a:pt x="741893" y="595744"/>
                </a:lnTo>
                <a:cubicBezTo>
                  <a:pt x="750074" y="610060"/>
                  <a:pt x="750015" y="627648"/>
                  <a:pt x="741739" y="641908"/>
                </a:cubicBezTo>
                <a:cubicBezTo>
                  <a:pt x="733463" y="656169"/>
                  <a:pt x="718222" y="664946"/>
                  <a:pt x="701734" y="664946"/>
                </a:cubicBezTo>
                <a:lnTo>
                  <a:pt x="48340" y="664946"/>
                </a:lnTo>
                <a:cubicBezTo>
                  <a:pt x="31852" y="664946"/>
                  <a:pt x="16611" y="656169"/>
                  <a:pt x="8335" y="641908"/>
                </a:cubicBezTo>
                <a:cubicBezTo>
                  <a:pt x="59" y="627648"/>
                  <a:pt x="0" y="610060"/>
                  <a:pt x="8181" y="595744"/>
                </a:cubicBezTo>
                <a:lnTo>
                  <a:pt x="335493" y="22948"/>
                </a:lnTo>
                <a:cubicBezTo>
                  <a:pt x="343602" y="8757"/>
                  <a:pt x="358693" y="0"/>
                  <a:pt x="375037" y="0"/>
                </a:cubicBezTo>
                <a:cubicBezTo>
                  <a:pt x="391381" y="0"/>
                  <a:pt x="406472" y="8757"/>
                  <a:pt x="414581" y="22948"/>
                </a:cubicBezTo>
                <a:close/>
              </a:path>
            </a:pathLst>
          </a:custGeom>
          <a:solidFill>
            <a:schemeClr val="accent6"/>
          </a:solidFill>
        </p:spPr>
        <p:txBody>
          <a:bodyPr/>
          <a:lstStyle/>
          <a:p>
            <a:endParaRPr lang="en-GB"/>
          </a:p>
        </p:txBody>
      </p:sp>
      <p:sp>
        <p:nvSpPr>
          <p:cNvPr id="2" name="Text Placeholder 1">
            <a:extLst>
              <a:ext uri="{FF2B5EF4-FFF2-40B4-BE49-F238E27FC236}">
                <a16:creationId xmlns:a16="http://schemas.microsoft.com/office/drawing/2014/main" id="{18160C2E-F19B-2C7B-E737-035FF5EFB37B}"/>
              </a:ext>
            </a:extLst>
          </p:cNvPr>
          <p:cNvSpPr>
            <a:spLocks noGrp="1"/>
          </p:cNvSpPr>
          <p:nvPr>
            <p:ph type="body" sz="quarter" idx="15"/>
          </p:nvPr>
        </p:nvSpPr>
        <p:spPr>
          <a:xfrm>
            <a:off x="539916" y="1707487"/>
            <a:ext cx="8516535" cy="2775802"/>
          </a:xfrm>
        </p:spPr>
        <p:txBody>
          <a:bodyPr>
            <a:normAutofit/>
          </a:bodyPr>
          <a:lstStyle/>
          <a:p>
            <a:pPr marL="285750" indent="-285750">
              <a:buFont typeface="Wingdings" panose="05000000000000000000" pitchFamily="2" charset="2"/>
              <a:buChar char="Ø"/>
            </a:pPr>
            <a:r>
              <a:rPr lang="en-GB" sz="1500"/>
              <a:t>Pathogens in Aquaculture</a:t>
            </a:r>
          </a:p>
          <a:p>
            <a:pPr marL="285750" indent="-285750">
              <a:buFont typeface="Wingdings" panose="05000000000000000000" pitchFamily="2" charset="2"/>
              <a:buChar char="Ø"/>
            </a:pPr>
            <a:r>
              <a:rPr lang="en-GB" sz="1500"/>
              <a:t>Phage Genome Assembly and Annotation</a:t>
            </a:r>
          </a:p>
          <a:p>
            <a:pPr marL="285750" indent="-285750">
              <a:buFont typeface="Wingdings" panose="05000000000000000000" pitchFamily="2" charset="2"/>
              <a:buChar char="Ø"/>
            </a:pPr>
            <a:r>
              <a:rPr lang="en-GB" sz="1500"/>
              <a:t>Analysing Microbial Genomic Data</a:t>
            </a:r>
          </a:p>
          <a:p>
            <a:pPr marL="285750" indent="-285750">
              <a:buFont typeface="Wingdings" panose="05000000000000000000" pitchFamily="2" charset="2"/>
              <a:buChar char="Ø"/>
            </a:pPr>
            <a:r>
              <a:rPr lang="en-GB" sz="1500"/>
              <a:t>ARTIC Training</a:t>
            </a:r>
          </a:p>
          <a:p>
            <a:pPr marL="285750" indent="-285750">
              <a:buFont typeface="Wingdings" panose="05000000000000000000" pitchFamily="2" charset="2"/>
              <a:buChar char="Ø"/>
            </a:pPr>
            <a:r>
              <a:rPr lang="en-GB" sz="1500"/>
              <a:t>MMB DTP Bioinformatics Training</a:t>
            </a:r>
          </a:p>
          <a:p>
            <a:pPr marL="285750" indent="-285750">
              <a:buFont typeface="Wingdings" panose="05000000000000000000" pitchFamily="2" charset="2"/>
              <a:buChar char="Ø"/>
            </a:pPr>
            <a:r>
              <a:rPr lang="en-GB" sz="1500"/>
              <a:t>Phage Isolation, Genome Analysis and Comparative Genomics – 8 International Partners</a:t>
            </a:r>
          </a:p>
        </p:txBody>
      </p:sp>
      <p:sp>
        <p:nvSpPr>
          <p:cNvPr id="3" name="Title 2">
            <a:extLst>
              <a:ext uri="{FF2B5EF4-FFF2-40B4-BE49-F238E27FC236}">
                <a16:creationId xmlns:a16="http://schemas.microsoft.com/office/drawing/2014/main" id="{A7CCE330-5802-7927-C680-C4E57F67A7BF}"/>
              </a:ext>
            </a:extLst>
          </p:cNvPr>
          <p:cNvSpPr>
            <a:spLocks noGrp="1"/>
          </p:cNvSpPr>
          <p:nvPr>
            <p:ph type="ctrTitle"/>
          </p:nvPr>
        </p:nvSpPr>
        <p:spPr/>
        <p:txBody>
          <a:bodyPr>
            <a:noAutofit/>
          </a:bodyPr>
          <a:lstStyle/>
          <a:p>
            <a:r>
              <a:rPr lang="en-GB" sz="3000" b="1"/>
              <a:t>CLIMB Impact – Training Environment</a:t>
            </a:r>
          </a:p>
        </p:txBody>
      </p:sp>
      <p:sp>
        <p:nvSpPr>
          <p:cNvPr id="4" name="Subtitle 3">
            <a:extLst>
              <a:ext uri="{FF2B5EF4-FFF2-40B4-BE49-F238E27FC236}">
                <a16:creationId xmlns:a16="http://schemas.microsoft.com/office/drawing/2014/main" id="{BEEB1C32-7BDE-8C04-7220-30F2A90BBD48}"/>
              </a:ext>
            </a:extLst>
          </p:cNvPr>
          <p:cNvSpPr>
            <a:spLocks noGrp="1"/>
          </p:cNvSpPr>
          <p:nvPr>
            <p:ph type="subTitle" idx="1"/>
          </p:nvPr>
        </p:nvSpPr>
        <p:spPr>
          <a:xfrm>
            <a:off x="539915" y="1116468"/>
            <a:ext cx="8079153" cy="273844"/>
          </a:xfrm>
        </p:spPr>
        <p:txBody>
          <a:bodyPr>
            <a:normAutofit/>
          </a:bodyPr>
          <a:lstStyle/>
          <a:p>
            <a:r>
              <a:rPr lang="en-GB" sz="2400"/>
              <a:t>Training the next generation of microbial bioinformaticians</a:t>
            </a:r>
          </a:p>
        </p:txBody>
      </p:sp>
      <p:grpSp>
        <p:nvGrpSpPr>
          <p:cNvPr id="6" name="Group 5">
            <a:extLst>
              <a:ext uri="{FF2B5EF4-FFF2-40B4-BE49-F238E27FC236}">
                <a16:creationId xmlns:a16="http://schemas.microsoft.com/office/drawing/2014/main" id="{D2967CFB-7234-AF52-04EA-EB542BECF197}"/>
              </a:ext>
            </a:extLst>
          </p:cNvPr>
          <p:cNvGrpSpPr>
            <a:grpSpLocks noChangeAspect="1"/>
          </p:cNvGrpSpPr>
          <p:nvPr/>
        </p:nvGrpSpPr>
        <p:grpSpPr>
          <a:xfrm>
            <a:off x="4279121" y="1448934"/>
            <a:ext cx="4864880" cy="2471713"/>
            <a:chOff x="0" y="0"/>
            <a:chExt cx="5852160" cy="2973324"/>
          </a:xfrm>
        </p:grpSpPr>
        <p:sp>
          <p:nvSpPr>
            <p:cNvPr id="7" name="Freeform 3">
              <a:extLst>
                <a:ext uri="{FF2B5EF4-FFF2-40B4-BE49-F238E27FC236}">
                  <a16:creationId xmlns:a16="http://schemas.microsoft.com/office/drawing/2014/main" id="{C5998A44-C42C-6791-511C-0AD765D00C10}"/>
                </a:ext>
              </a:extLst>
            </p:cNvPr>
            <p:cNvSpPr/>
            <p:nvPr/>
          </p:nvSpPr>
          <p:spPr>
            <a:xfrm>
              <a:off x="0" y="0"/>
              <a:ext cx="1180338" cy="2973324"/>
            </a:xfrm>
            <a:custGeom>
              <a:avLst/>
              <a:gdLst/>
              <a:ahLst/>
              <a:cxnLst/>
              <a:rect l="l" t="t" r="r" b="b"/>
              <a:pathLst>
                <a:path w="1180338" h="2973324">
                  <a:moveTo>
                    <a:pt x="1144143" y="0"/>
                  </a:moveTo>
                  <a:lnTo>
                    <a:pt x="1180338" y="2958973"/>
                  </a:lnTo>
                  <a:lnTo>
                    <a:pt x="0" y="2973324"/>
                  </a:lnTo>
                  <a:lnTo>
                    <a:pt x="0" y="0"/>
                  </a:lnTo>
                  <a:lnTo>
                    <a:pt x="1144143" y="0"/>
                  </a:lnTo>
                  <a:close/>
                </a:path>
              </a:pathLst>
            </a:custGeom>
            <a:blipFill>
              <a:blip r:embed="rId3"/>
              <a:stretch>
                <a:fillRect r="-298124"/>
              </a:stretch>
            </a:blipFill>
          </p:spPr>
          <p:txBody>
            <a:bodyPr/>
            <a:lstStyle/>
            <a:p>
              <a:endParaRPr lang="en-GB"/>
            </a:p>
          </p:txBody>
        </p:sp>
        <p:sp>
          <p:nvSpPr>
            <p:cNvPr id="8" name="Freeform 4">
              <a:extLst>
                <a:ext uri="{FF2B5EF4-FFF2-40B4-BE49-F238E27FC236}">
                  <a16:creationId xmlns:a16="http://schemas.microsoft.com/office/drawing/2014/main" id="{32B49AA3-08D7-74B8-B07E-1B39D21CE821}"/>
                </a:ext>
              </a:extLst>
            </p:cNvPr>
            <p:cNvSpPr/>
            <p:nvPr/>
          </p:nvSpPr>
          <p:spPr>
            <a:xfrm>
              <a:off x="1156843" y="0"/>
              <a:ext cx="2067560" cy="2958846"/>
            </a:xfrm>
            <a:custGeom>
              <a:avLst/>
              <a:gdLst/>
              <a:ahLst/>
              <a:cxnLst/>
              <a:rect l="l" t="t" r="r" b="b"/>
              <a:pathLst>
                <a:path w="2067560" h="2958846">
                  <a:moveTo>
                    <a:pt x="2067560" y="2933954"/>
                  </a:moveTo>
                  <a:lnTo>
                    <a:pt x="2067560" y="2933954"/>
                  </a:lnTo>
                  <a:lnTo>
                    <a:pt x="36195" y="2958846"/>
                  </a:lnTo>
                  <a:lnTo>
                    <a:pt x="36195" y="2958846"/>
                  </a:lnTo>
                  <a:lnTo>
                    <a:pt x="0" y="0"/>
                  </a:lnTo>
                  <a:lnTo>
                    <a:pt x="2031619" y="0"/>
                  </a:lnTo>
                  <a:lnTo>
                    <a:pt x="2067560" y="2933954"/>
                  </a:lnTo>
                  <a:close/>
                </a:path>
              </a:pathLst>
            </a:custGeom>
            <a:blipFill>
              <a:blip r:embed="rId4"/>
              <a:stretch>
                <a:fillRect l="-39515" r="-55310"/>
              </a:stretch>
            </a:blipFill>
          </p:spPr>
          <p:txBody>
            <a:bodyPr/>
            <a:lstStyle/>
            <a:p>
              <a:endParaRPr lang="en-GB"/>
            </a:p>
          </p:txBody>
        </p:sp>
        <p:sp>
          <p:nvSpPr>
            <p:cNvPr id="9" name="Freeform 5">
              <a:extLst>
                <a:ext uri="{FF2B5EF4-FFF2-40B4-BE49-F238E27FC236}">
                  <a16:creationId xmlns:a16="http://schemas.microsoft.com/office/drawing/2014/main" id="{9C59CA64-03B0-10CA-DB94-DBC246C99A13}"/>
                </a:ext>
              </a:extLst>
            </p:cNvPr>
            <p:cNvSpPr/>
            <p:nvPr/>
          </p:nvSpPr>
          <p:spPr>
            <a:xfrm>
              <a:off x="3199130" y="0"/>
              <a:ext cx="2059178" cy="2933827"/>
            </a:xfrm>
            <a:custGeom>
              <a:avLst/>
              <a:gdLst/>
              <a:ahLst/>
              <a:cxnLst/>
              <a:rect l="l" t="t" r="r" b="b"/>
              <a:pathLst>
                <a:path w="2059178" h="2933827">
                  <a:moveTo>
                    <a:pt x="2059178" y="2909062"/>
                  </a:moveTo>
                  <a:lnTo>
                    <a:pt x="35941" y="2933827"/>
                  </a:lnTo>
                  <a:lnTo>
                    <a:pt x="0" y="0"/>
                  </a:lnTo>
                  <a:lnTo>
                    <a:pt x="2023491" y="0"/>
                  </a:lnTo>
                  <a:lnTo>
                    <a:pt x="2059178" y="2909062"/>
                  </a:lnTo>
                  <a:close/>
                </a:path>
              </a:pathLst>
            </a:custGeom>
            <a:blipFill>
              <a:blip r:embed="rId5"/>
              <a:stretch>
                <a:fillRect l="-11065" r="-82899"/>
              </a:stretch>
            </a:blipFill>
          </p:spPr>
          <p:txBody>
            <a:bodyPr/>
            <a:lstStyle/>
            <a:p>
              <a:endParaRPr lang="en-GB"/>
            </a:p>
          </p:txBody>
        </p:sp>
        <p:sp>
          <p:nvSpPr>
            <p:cNvPr id="10" name="Freeform 6">
              <a:extLst>
                <a:ext uri="{FF2B5EF4-FFF2-40B4-BE49-F238E27FC236}">
                  <a16:creationId xmlns:a16="http://schemas.microsoft.com/office/drawing/2014/main" id="{40FD89FE-41CE-DF69-E152-1A92DC039B82}"/>
                </a:ext>
              </a:extLst>
            </p:cNvPr>
            <p:cNvSpPr/>
            <p:nvPr/>
          </p:nvSpPr>
          <p:spPr>
            <a:xfrm>
              <a:off x="5235067" y="0"/>
              <a:ext cx="617093" cy="2908808"/>
            </a:xfrm>
            <a:custGeom>
              <a:avLst/>
              <a:gdLst/>
              <a:ahLst/>
              <a:cxnLst/>
              <a:rect l="l" t="t" r="r" b="b"/>
              <a:pathLst>
                <a:path w="617093" h="2908808">
                  <a:moveTo>
                    <a:pt x="617093" y="0"/>
                  </a:moveTo>
                  <a:lnTo>
                    <a:pt x="617093" y="140208"/>
                  </a:lnTo>
                  <a:lnTo>
                    <a:pt x="617093" y="2901696"/>
                  </a:lnTo>
                  <a:lnTo>
                    <a:pt x="35560" y="2908808"/>
                  </a:lnTo>
                  <a:lnTo>
                    <a:pt x="0" y="0"/>
                  </a:lnTo>
                  <a:lnTo>
                    <a:pt x="615442" y="0"/>
                  </a:lnTo>
                  <a:lnTo>
                    <a:pt x="617093" y="0"/>
                  </a:lnTo>
                  <a:close/>
                </a:path>
              </a:pathLst>
            </a:custGeom>
            <a:blipFill>
              <a:blip r:embed="rId6"/>
              <a:stretch>
                <a:fillRect l="-395376" r="-133882"/>
              </a:stretch>
            </a:blipFill>
          </p:spPr>
          <p:txBody>
            <a:bodyPr/>
            <a:lstStyle/>
            <a:p>
              <a:endParaRPr lang="en-GB"/>
            </a:p>
          </p:txBody>
        </p:sp>
        <p:sp>
          <p:nvSpPr>
            <p:cNvPr id="11" name="Freeform 7">
              <a:extLst>
                <a:ext uri="{FF2B5EF4-FFF2-40B4-BE49-F238E27FC236}">
                  <a16:creationId xmlns:a16="http://schemas.microsoft.com/office/drawing/2014/main" id="{617358CF-6A2B-2CA9-9E3D-4584A63BE0EC}"/>
                </a:ext>
              </a:extLst>
            </p:cNvPr>
            <p:cNvSpPr/>
            <p:nvPr/>
          </p:nvSpPr>
          <p:spPr>
            <a:xfrm>
              <a:off x="0" y="0"/>
              <a:ext cx="5852160" cy="2973324"/>
            </a:xfrm>
            <a:custGeom>
              <a:avLst/>
              <a:gdLst/>
              <a:ahLst/>
              <a:cxnLst/>
              <a:rect l="l" t="t" r="r" b="b"/>
              <a:pathLst>
                <a:path w="5852160" h="3291840">
                  <a:moveTo>
                    <a:pt x="5852160" y="3291840"/>
                  </a:moveTo>
                  <a:lnTo>
                    <a:pt x="0" y="3291840"/>
                  </a:lnTo>
                  <a:lnTo>
                    <a:pt x="0" y="0"/>
                  </a:lnTo>
                  <a:lnTo>
                    <a:pt x="5852160" y="0"/>
                  </a:lnTo>
                  <a:lnTo>
                    <a:pt x="5852160" y="3291840"/>
                  </a:lnTo>
                  <a:close/>
                </a:path>
              </a:pathLst>
            </a:custGeom>
            <a:blipFill>
              <a:blip r:embed="rId7"/>
              <a:stretch>
                <a:fillRect b="-10712"/>
              </a:stretch>
            </a:blipFill>
          </p:spPr>
          <p:txBody>
            <a:bodyPr/>
            <a:lstStyle/>
            <a:p>
              <a:endParaRPr lang="en-GB"/>
            </a:p>
          </p:txBody>
        </p:sp>
      </p:grpSp>
      <p:sp>
        <p:nvSpPr>
          <p:cNvPr id="25" name="Freeform 17">
            <a:extLst>
              <a:ext uri="{FF2B5EF4-FFF2-40B4-BE49-F238E27FC236}">
                <a16:creationId xmlns:a16="http://schemas.microsoft.com/office/drawing/2014/main" id="{F4755209-B80E-21AF-E424-18933C44D1E8}"/>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26" name="Freeform 30">
            <a:extLst>
              <a:ext uri="{FF2B5EF4-FFF2-40B4-BE49-F238E27FC236}">
                <a16:creationId xmlns:a16="http://schemas.microsoft.com/office/drawing/2014/main" id="{7575867B-CAA5-8EF8-655E-62B3FA5E8EB4}"/>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8">
              <a:lum bright="70000" contrast="-70000"/>
              <a:extLst>
                <a:ext uri="{BEBA8EAE-BF5A-486C-A8C5-ECC9F3942E4B}">
                  <a14:imgProps xmlns:a14="http://schemas.microsoft.com/office/drawing/2010/main">
                    <a14:imgLayer r:embed="rId9">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1986037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5C46E-317E-6A36-1FDF-A8CFD15CF02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6BBBBF9-9732-B545-259A-50CC4C7638BE}"/>
              </a:ext>
            </a:extLst>
          </p:cNvPr>
          <p:cNvSpPr>
            <a:spLocks noGrp="1"/>
          </p:cNvSpPr>
          <p:nvPr>
            <p:ph type="body" sz="quarter" idx="15"/>
          </p:nvPr>
        </p:nvSpPr>
        <p:spPr/>
        <p:txBody>
          <a:bodyPr/>
          <a:lstStyle/>
          <a:p>
            <a:r>
              <a:rPr lang="en-GB"/>
              <a:t>Operational </a:t>
            </a:r>
          </a:p>
        </p:txBody>
      </p:sp>
      <p:sp>
        <p:nvSpPr>
          <p:cNvPr id="3" name="Title 2">
            <a:extLst>
              <a:ext uri="{FF2B5EF4-FFF2-40B4-BE49-F238E27FC236}">
                <a16:creationId xmlns:a16="http://schemas.microsoft.com/office/drawing/2014/main" id="{EA2B6ED5-666A-AE91-C9CF-B029E50F72CE}"/>
              </a:ext>
            </a:extLst>
          </p:cNvPr>
          <p:cNvSpPr>
            <a:spLocks noGrp="1"/>
          </p:cNvSpPr>
          <p:nvPr>
            <p:ph type="ctrTitle"/>
          </p:nvPr>
        </p:nvSpPr>
        <p:spPr>
          <a:xfrm>
            <a:off x="3174365" y="557153"/>
            <a:ext cx="5347164" cy="402966"/>
          </a:xfrm>
        </p:spPr>
        <p:txBody>
          <a:bodyPr>
            <a:normAutofit/>
          </a:bodyPr>
          <a:lstStyle/>
          <a:p>
            <a:r>
              <a:rPr lang="en-GB" sz="3000" b="1"/>
              <a:t>CLIMB now</a:t>
            </a:r>
          </a:p>
        </p:txBody>
      </p:sp>
      <p:sp>
        <p:nvSpPr>
          <p:cNvPr id="6" name="Freeform 3">
            <a:extLst>
              <a:ext uri="{FF2B5EF4-FFF2-40B4-BE49-F238E27FC236}">
                <a16:creationId xmlns:a16="http://schemas.microsoft.com/office/drawing/2014/main" id="{E02F56DA-B80C-1FF9-D197-EC2D44A7F8F8}"/>
              </a:ext>
            </a:extLst>
          </p:cNvPr>
          <p:cNvSpPr/>
          <p:nvPr/>
        </p:nvSpPr>
        <p:spPr>
          <a:xfrm rot="10800000">
            <a:off x="-2061715" y="-3717"/>
            <a:ext cx="5199503" cy="5140881"/>
          </a:xfrm>
          <a:custGeom>
            <a:avLst/>
            <a:gdLst/>
            <a:ahLst/>
            <a:cxnLst/>
            <a:rect l="l" t="t" r="r" b="b"/>
            <a:pathLst>
              <a:path w="406400" h="401818">
                <a:moveTo>
                  <a:pt x="203200" y="0"/>
                </a:moveTo>
                <a:lnTo>
                  <a:pt x="406400" y="0"/>
                </a:lnTo>
                <a:lnTo>
                  <a:pt x="203200" y="401818"/>
                </a:lnTo>
                <a:lnTo>
                  <a:pt x="0" y="401818"/>
                </a:lnTo>
                <a:lnTo>
                  <a:pt x="203200" y="0"/>
                </a:lnTo>
                <a:close/>
              </a:path>
            </a:pathLst>
          </a:custGeom>
          <a:solidFill>
            <a:schemeClr val="accent6"/>
          </a:solidFill>
        </p:spPr>
        <p:txBody>
          <a:bodyPr/>
          <a:lstStyle/>
          <a:p>
            <a:endParaRPr lang="en-GB" sz="900"/>
          </a:p>
        </p:txBody>
      </p:sp>
      <p:grpSp>
        <p:nvGrpSpPr>
          <p:cNvPr id="8" name="Group 31">
            <a:extLst>
              <a:ext uri="{FF2B5EF4-FFF2-40B4-BE49-F238E27FC236}">
                <a16:creationId xmlns:a16="http://schemas.microsoft.com/office/drawing/2014/main" id="{79C8AD67-0AF1-6E7A-3290-5509E64364AB}"/>
              </a:ext>
            </a:extLst>
          </p:cNvPr>
          <p:cNvGrpSpPr/>
          <p:nvPr/>
        </p:nvGrpSpPr>
        <p:grpSpPr>
          <a:xfrm>
            <a:off x="-3100339" y="-155105"/>
            <a:ext cx="5988806" cy="4772111"/>
            <a:chOff x="0" y="0"/>
            <a:chExt cx="504050" cy="401646"/>
          </a:xfrm>
        </p:grpSpPr>
        <p:sp>
          <p:nvSpPr>
            <p:cNvPr id="9" name="Freeform 32">
              <a:extLst>
                <a:ext uri="{FF2B5EF4-FFF2-40B4-BE49-F238E27FC236}">
                  <a16:creationId xmlns:a16="http://schemas.microsoft.com/office/drawing/2014/main" id="{62BA525D-D5FE-3901-19AE-E54E82B130B1}"/>
                </a:ext>
              </a:extLst>
            </p:cNvPr>
            <p:cNvSpPr/>
            <p:nvPr/>
          </p:nvSpPr>
          <p:spPr>
            <a:xfrm>
              <a:off x="11473" y="0"/>
              <a:ext cx="481103" cy="401646"/>
            </a:xfrm>
            <a:custGeom>
              <a:avLst/>
              <a:gdLst/>
              <a:ahLst/>
              <a:cxnLst/>
              <a:rect l="l" t="t" r="r" b="b"/>
              <a:pathLst>
                <a:path w="481103" h="401646">
                  <a:moveTo>
                    <a:pt x="224045" y="0"/>
                  </a:moveTo>
                  <a:lnTo>
                    <a:pt x="460258" y="0"/>
                  </a:lnTo>
                  <a:cubicBezTo>
                    <a:pt x="467161" y="0"/>
                    <a:pt x="473569" y="3583"/>
                    <a:pt x="477184" y="9463"/>
                  </a:cubicBezTo>
                  <a:cubicBezTo>
                    <a:pt x="480799" y="15343"/>
                    <a:pt x="481103" y="22678"/>
                    <a:pt x="477987" y="28838"/>
                  </a:cubicBezTo>
                  <a:lnTo>
                    <a:pt x="303966" y="372808"/>
                  </a:lnTo>
                  <a:cubicBezTo>
                    <a:pt x="295018" y="390496"/>
                    <a:pt x="276881" y="401646"/>
                    <a:pt x="257058" y="401646"/>
                  </a:cubicBezTo>
                  <a:lnTo>
                    <a:pt x="20845" y="401646"/>
                  </a:lnTo>
                  <a:cubicBezTo>
                    <a:pt x="13943" y="401646"/>
                    <a:pt x="7535" y="398063"/>
                    <a:pt x="3920" y="392183"/>
                  </a:cubicBezTo>
                  <a:cubicBezTo>
                    <a:pt x="304" y="386303"/>
                    <a:pt x="0" y="378968"/>
                    <a:pt x="3117" y="372808"/>
                  </a:cubicBezTo>
                  <a:lnTo>
                    <a:pt x="177137" y="28838"/>
                  </a:lnTo>
                  <a:cubicBezTo>
                    <a:pt x="186086" y="11150"/>
                    <a:pt x="204223" y="0"/>
                    <a:pt x="224045" y="0"/>
                  </a:cubicBezTo>
                  <a:close/>
                </a:path>
              </a:pathLst>
            </a:custGeom>
            <a:blipFill>
              <a:blip r:embed="rId3"/>
              <a:stretch>
                <a:fillRect l="-2598" r="-46423"/>
              </a:stretch>
            </a:blipFill>
            <a:ln w="209550" cap="rnd">
              <a:solidFill>
                <a:srgbClr val="E6ECF2"/>
              </a:solidFill>
              <a:prstDash val="solid"/>
              <a:round/>
            </a:ln>
          </p:spPr>
          <p:txBody>
            <a:bodyPr/>
            <a:lstStyle/>
            <a:p>
              <a:endParaRPr lang="en-GB" sz="900"/>
            </a:p>
          </p:txBody>
        </p:sp>
      </p:grpSp>
      <p:sp>
        <p:nvSpPr>
          <p:cNvPr id="11" name="Freeform 19">
            <a:extLst>
              <a:ext uri="{FF2B5EF4-FFF2-40B4-BE49-F238E27FC236}">
                <a16:creationId xmlns:a16="http://schemas.microsoft.com/office/drawing/2014/main" id="{7E9D25AF-4910-2E03-DE4A-9BB8E9D4849E}"/>
              </a:ext>
            </a:extLst>
          </p:cNvPr>
          <p:cNvSpPr/>
          <p:nvPr/>
        </p:nvSpPr>
        <p:spPr>
          <a:xfrm rot="5400000">
            <a:off x="2763444" y="1979588"/>
            <a:ext cx="212843" cy="191395"/>
          </a:xfrm>
          <a:custGeom>
            <a:avLst/>
            <a:gdLst/>
            <a:ahLst/>
            <a:cxnLst/>
            <a:rect l="l" t="t" r="r" b="b"/>
            <a:pathLst>
              <a:path w="691098" h="621460">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333F48"/>
          </a:solidFill>
        </p:spPr>
        <p:txBody>
          <a:bodyPr/>
          <a:lstStyle/>
          <a:p>
            <a:endParaRPr lang="en-GB" sz="1500">
              <a:solidFill>
                <a:srgbClr val="333F48"/>
              </a:solidFill>
              <a:highlight>
                <a:srgbClr val="FFFF00"/>
              </a:highlight>
              <a:latin typeface="+mj-lt"/>
            </a:endParaRPr>
          </a:p>
        </p:txBody>
      </p:sp>
      <p:sp>
        <p:nvSpPr>
          <p:cNvPr id="14" name="Freeform 22">
            <a:extLst>
              <a:ext uri="{FF2B5EF4-FFF2-40B4-BE49-F238E27FC236}">
                <a16:creationId xmlns:a16="http://schemas.microsoft.com/office/drawing/2014/main" id="{CBB316BB-E38B-C9D2-94C8-AFCEDCD199A5}"/>
              </a:ext>
            </a:extLst>
          </p:cNvPr>
          <p:cNvSpPr/>
          <p:nvPr/>
        </p:nvSpPr>
        <p:spPr>
          <a:xfrm rot="5400000">
            <a:off x="2771320" y="3079926"/>
            <a:ext cx="212843" cy="191395"/>
          </a:xfrm>
          <a:custGeom>
            <a:avLst/>
            <a:gdLst/>
            <a:ahLst/>
            <a:cxnLst/>
            <a:rect l="l" t="t" r="r" b="b"/>
            <a:pathLst>
              <a:path w="691098" h="621460">
                <a:moveTo>
                  <a:pt x="422271" y="44524"/>
                </a:moveTo>
                <a:lnTo>
                  <a:pt x="675227" y="487196"/>
                </a:lnTo>
                <a:cubicBezTo>
                  <a:pt x="691098" y="514971"/>
                  <a:pt x="690984" y="549095"/>
                  <a:pt x="674928" y="576763"/>
                </a:cubicBezTo>
                <a:cubicBezTo>
                  <a:pt x="658871" y="604431"/>
                  <a:pt x="629300" y="621460"/>
                  <a:pt x="597311" y="621460"/>
                </a:cubicBezTo>
                <a:lnTo>
                  <a:pt x="93787" y="621460"/>
                </a:lnTo>
                <a:cubicBezTo>
                  <a:pt x="61798" y="621460"/>
                  <a:pt x="32227" y="604431"/>
                  <a:pt x="16170" y="576763"/>
                </a:cubicBezTo>
                <a:cubicBezTo>
                  <a:pt x="114" y="549095"/>
                  <a:pt x="0" y="514971"/>
                  <a:pt x="15871" y="487196"/>
                </a:cubicBezTo>
                <a:lnTo>
                  <a:pt x="268827" y="44524"/>
                </a:lnTo>
                <a:cubicBezTo>
                  <a:pt x="284560" y="16991"/>
                  <a:pt x="313839" y="0"/>
                  <a:pt x="345549" y="0"/>
                </a:cubicBezTo>
                <a:cubicBezTo>
                  <a:pt x="377259" y="0"/>
                  <a:pt x="406538" y="16991"/>
                  <a:pt x="422271" y="44524"/>
                </a:cubicBezTo>
                <a:close/>
              </a:path>
            </a:pathLst>
          </a:custGeom>
          <a:solidFill>
            <a:srgbClr val="333F48"/>
          </a:solidFill>
        </p:spPr>
        <p:txBody>
          <a:bodyPr/>
          <a:lstStyle/>
          <a:p>
            <a:endParaRPr lang="en-GB" sz="1500">
              <a:solidFill>
                <a:srgbClr val="333F48"/>
              </a:solidFill>
              <a:highlight>
                <a:srgbClr val="FFFF00"/>
              </a:highlight>
              <a:latin typeface="+mj-lt"/>
            </a:endParaRPr>
          </a:p>
        </p:txBody>
      </p:sp>
      <p:sp>
        <p:nvSpPr>
          <p:cNvPr id="16" name="TextBox 34">
            <a:extLst>
              <a:ext uri="{FF2B5EF4-FFF2-40B4-BE49-F238E27FC236}">
                <a16:creationId xmlns:a16="http://schemas.microsoft.com/office/drawing/2014/main" id="{DC9E011C-850C-1B3D-078D-3F03B00A8FD0}"/>
              </a:ext>
            </a:extLst>
          </p:cNvPr>
          <p:cNvSpPr txBox="1"/>
          <p:nvPr/>
        </p:nvSpPr>
        <p:spPr>
          <a:xfrm>
            <a:off x="3169814" y="3015904"/>
            <a:ext cx="4079953" cy="256096"/>
          </a:xfrm>
          <a:prstGeom prst="rect">
            <a:avLst/>
          </a:prstGeom>
        </p:spPr>
        <p:txBody>
          <a:bodyPr lIns="0" tIns="0" rIns="0" bIns="0" rtlCol="0" anchor="t">
            <a:spAutoFit/>
          </a:bodyPr>
          <a:lstStyle/>
          <a:p>
            <a:pPr>
              <a:lnSpc>
                <a:spcPts val="2100"/>
              </a:lnSpc>
            </a:pPr>
            <a:r>
              <a:rPr lang="en-US" sz="1500" b="1">
                <a:solidFill>
                  <a:srgbClr val="333F48"/>
                </a:solidFill>
                <a:latin typeface="+mj-lt"/>
                <a:ea typeface="TT Norms Bold"/>
                <a:cs typeface="TT Norms Bold"/>
                <a:sym typeface="TT Norms Bold"/>
              </a:rPr>
              <a:t>Benefits</a:t>
            </a:r>
          </a:p>
        </p:txBody>
      </p:sp>
      <p:sp>
        <p:nvSpPr>
          <p:cNvPr id="18" name="TextBox 36">
            <a:extLst>
              <a:ext uri="{FF2B5EF4-FFF2-40B4-BE49-F238E27FC236}">
                <a16:creationId xmlns:a16="http://schemas.microsoft.com/office/drawing/2014/main" id="{DC53B362-743A-2BDF-C282-C3A00EE63CE4}"/>
              </a:ext>
            </a:extLst>
          </p:cNvPr>
          <p:cNvSpPr txBox="1"/>
          <p:nvPr/>
        </p:nvSpPr>
        <p:spPr>
          <a:xfrm>
            <a:off x="3169814" y="1915566"/>
            <a:ext cx="2893875" cy="256096"/>
          </a:xfrm>
          <a:prstGeom prst="rect">
            <a:avLst/>
          </a:prstGeom>
        </p:spPr>
        <p:txBody>
          <a:bodyPr lIns="0" tIns="0" rIns="0" bIns="0" rtlCol="0" anchor="t">
            <a:spAutoFit/>
          </a:bodyPr>
          <a:lstStyle/>
          <a:p>
            <a:pPr>
              <a:lnSpc>
                <a:spcPts val="2100"/>
              </a:lnSpc>
            </a:pPr>
            <a:r>
              <a:rPr lang="en-US" sz="1500" b="1">
                <a:solidFill>
                  <a:srgbClr val="333F48"/>
                </a:solidFill>
                <a:latin typeface="+mj-lt"/>
                <a:ea typeface="TT Norms Bold"/>
                <a:cs typeface="TT Norms Bold"/>
                <a:sym typeface="TT Norms Bold"/>
              </a:rPr>
              <a:t>Strategic Leadership</a:t>
            </a:r>
          </a:p>
        </p:txBody>
      </p:sp>
      <p:sp>
        <p:nvSpPr>
          <p:cNvPr id="19" name="TextBox 37">
            <a:extLst>
              <a:ext uri="{FF2B5EF4-FFF2-40B4-BE49-F238E27FC236}">
                <a16:creationId xmlns:a16="http://schemas.microsoft.com/office/drawing/2014/main" id="{756FD1A4-B873-D663-94DD-74D03A7D9960}"/>
              </a:ext>
            </a:extLst>
          </p:cNvPr>
          <p:cNvSpPr txBox="1"/>
          <p:nvPr/>
        </p:nvSpPr>
        <p:spPr>
          <a:xfrm>
            <a:off x="3169814" y="2212667"/>
            <a:ext cx="5355035" cy="656718"/>
          </a:xfrm>
          <a:prstGeom prst="rect">
            <a:avLst/>
          </a:prstGeom>
        </p:spPr>
        <p:txBody>
          <a:bodyPr lIns="0" tIns="0" rIns="0" bIns="0" rtlCol="0" anchor="t">
            <a:spAutoFit/>
          </a:bodyPr>
          <a:lstStyle/>
          <a:p>
            <a:pPr>
              <a:lnSpc>
                <a:spcPct val="150000"/>
              </a:lnSpc>
            </a:pPr>
            <a:r>
              <a:rPr lang="en-US" sz="1500" spc="6">
                <a:solidFill>
                  <a:srgbClr val="333F48"/>
                </a:solidFill>
                <a:latin typeface="+mj-lt"/>
                <a:ea typeface="TT Norms"/>
                <a:cs typeface="TT Norms"/>
                <a:sym typeface="TT Norms"/>
              </a:rPr>
              <a:t>Nick Loman – 20% appointment at QIB</a:t>
            </a:r>
            <a:br>
              <a:rPr lang="en-US" sz="1500" spc="6">
                <a:solidFill>
                  <a:srgbClr val="333F48"/>
                </a:solidFill>
                <a:latin typeface="+mj-lt"/>
                <a:ea typeface="TT Norms"/>
                <a:cs typeface="TT Norms"/>
                <a:sym typeface="TT Norms"/>
              </a:rPr>
            </a:br>
            <a:r>
              <a:rPr lang="en-US" sz="1500" spc="6">
                <a:solidFill>
                  <a:srgbClr val="333F48"/>
                </a:solidFill>
                <a:latin typeface="+mj-lt"/>
                <a:ea typeface="TT Norms"/>
                <a:cs typeface="TT Norms"/>
                <a:sym typeface="TT Norms"/>
              </a:rPr>
              <a:t>Partnership between University of Birmingham and QIB</a:t>
            </a:r>
          </a:p>
        </p:txBody>
      </p:sp>
      <p:sp>
        <p:nvSpPr>
          <p:cNvPr id="31" name="Subtitle 30">
            <a:extLst>
              <a:ext uri="{FF2B5EF4-FFF2-40B4-BE49-F238E27FC236}">
                <a16:creationId xmlns:a16="http://schemas.microsoft.com/office/drawing/2014/main" id="{9876CACF-27E8-2EB6-5AE3-F0A891F7543C}"/>
              </a:ext>
            </a:extLst>
          </p:cNvPr>
          <p:cNvSpPr>
            <a:spLocks noGrp="1"/>
          </p:cNvSpPr>
          <p:nvPr>
            <p:ph type="subTitle" idx="1"/>
          </p:nvPr>
        </p:nvSpPr>
        <p:spPr>
          <a:xfrm>
            <a:off x="3169814" y="938950"/>
            <a:ext cx="5449254" cy="642758"/>
          </a:xfrm>
        </p:spPr>
        <p:txBody>
          <a:bodyPr>
            <a:noAutofit/>
          </a:bodyPr>
          <a:lstStyle/>
          <a:p>
            <a:pPr>
              <a:lnSpc>
                <a:spcPct val="100000"/>
              </a:lnSpc>
            </a:pPr>
            <a:r>
              <a:rPr lang="en-GB" sz="2400"/>
              <a:t>Model for Sustainable Research Infrastructure</a:t>
            </a:r>
          </a:p>
        </p:txBody>
      </p:sp>
      <p:sp>
        <p:nvSpPr>
          <p:cNvPr id="4" name="TextBox 37">
            <a:extLst>
              <a:ext uri="{FF2B5EF4-FFF2-40B4-BE49-F238E27FC236}">
                <a16:creationId xmlns:a16="http://schemas.microsoft.com/office/drawing/2014/main" id="{A39628A6-BC5D-8A7A-E0F7-FE1B285828C9}"/>
              </a:ext>
            </a:extLst>
          </p:cNvPr>
          <p:cNvSpPr txBox="1"/>
          <p:nvPr/>
        </p:nvSpPr>
        <p:spPr>
          <a:xfrm>
            <a:off x="3169814" y="3317034"/>
            <a:ext cx="5355035" cy="1002967"/>
          </a:xfrm>
          <a:prstGeom prst="rect">
            <a:avLst/>
          </a:prstGeom>
        </p:spPr>
        <p:txBody>
          <a:bodyPr lIns="0" tIns="0" rIns="0" bIns="0" rtlCol="0" anchor="t">
            <a:spAutoFit/>
          </a:bodyPr>
          <a:lstStyle/>
          <a:p>
            <a:pPr>
              <a:lnSpc>
                <a:spcPct val="150000"/>
              </a:lnSpc>
            </a:pPr>
            <a:r>
              <a:rPr lang="en-US" sz="1500" spc="6">
                <a:solidFill>
                  <a:srgbClr val="333F48"/>
                </a:solidFill>
                <a:latin typeface="+mj-lt"/>
                <a:ea typeface="TT Norms"/>
                <a:cs typeface="TT Norms"/>
                <a:sym typeface="TT Norms"/>
              </a:rPr>
              <a:t>Shared expertise across institutions</a:t>
            </a:r>
          </a:p>
          <a:p>
            <a:pPr>
              <a:lnSpc>
                <a:spcPct val="150000"/>
              </a:lnSpc>
            </a:pPr>
            <a:r>
              <a:rPr lang="en-US" sz="1500" spc="6">
                <a:solidFill>
                  <a:srgbClr val="333F48"/>
                </a:solidFill>
                <a:latin typeface="+mj-lt"/>
                <a:ea typeface="TT Norms"/>
                <a:cs typeface="TT Norms"/>
                <a:sym typeface="TT Norms"/>
              </a:rPr>
              <a:t>Risk distribution through federated model</a:t>
            </a:r>
          </a:p>
          <a:p>
            <a:pPr>
              <a:lnSpc>
                <a:spcPct val="150000"/>
              </a:lnSpc>
            </a:pPr>
            <a:r>
              <a:rPr lang="en-US" sz="1500" spc="6">
                <a:solidFill>
                  <a:srgbClr val="333F48"/>
                </a:solidFill>
                <a:latin typeface="+mj-lt"/>
                <a:ea typeface="TT Norms"/>
                <a:cs typeface="TT Norms"/>
                <a:sym typeface="TT Norms"/>
              </a:rPr>
              <a:t>Resilience and reliability</a:t>
            </a:r>
          </a:p>
        </p:txBody>
      </p:sp>
      <p:grpSp>
        <p:nvGrpSpPr>
          <p:cNvPr id="37" name="Group 2">
            <a:extLst>
              <a:ext uri="{FF2B5EF4-FFF2-40B4-BE49-F238E27FC236}">
                <a16:creationId xmlns:a16="http://schemas.microsoft.com/office/drawing/2014/main" id="{983A97D7-861A-22D7-6295-38F4CD4CD3E0}"/>
              </a:ext>
            </a:extLst>
          </p:cNvPr>
          <p:cNvGrpSpPr/>
          <p:nvPr/>
        </p:nvGrpSpPr>
        <p:grpSpPr>
          <a:xfrm>
            <a:off x="7833818" y="1850152"/>
            <a:ext cx="1251691" cy="1083908"/>
            <a:chOff x="0" y="0"/>
            <a:chExt cx="4282440" cy="3708400"/>
          </a:xfrm>
        </p:grpSpPr>
        <p:sp>
          <p:nvSpPr>
            <p:cNvPr id="38" name="Freeform 3">
              <a:extLst>
                <a:ext uri="{FF2B5EF4-FFF2-40B4-BE49-F238E27FC236}">
                  <a16:creationId xmlns:a16="http://schemas.microsoft.com/office/drawing/2014/main" id="{EF06F29A-FC22-0471-5184-1F3452E36858}"/>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t="-5192" b="-5192"/>
              </a:stretch>
            </a:blipFill>
          </p:spPr>
          <p:txBody>
            <a:bodyPr/>
            <a:lstStyle/>
            <a:p>
              <a:endParaRPr lang="en-GB" sz="900"/>
            </a:p>
          </p:txBody>
        </p:sp>
      </p:grpSp>
      <p:sp>
        <p:nvSpPr>
          <p:cNvPr id="5" name="Freeform 17">
            <a:extLst>
              <a:ext uri="{FF2B5EF4-FFF2-40B4-BE49-F238E27FC236}">
                <a16:creationId xmlns:a16="http://schemas.microsoft.com/office/drawing/2014/main" id="{1A37C8A6-4C1A-57E2-0A1A-B1C9CD94623A}"/>
              </a:ext>
            </a:extLst>
          </p:cNvPr>
          <p:cNvSpPr/>
          <p:nvPr/>
        </p:nvSpPr>
        <p:spPr>
          <a:xfrm>
            <a:off x="6626951" y="-423556"/>
            <a:ext cx="3332932" cy="1233231"/>
          </a:xfrm>
          <a:custGeom>
            <a:avLst/>
            <a:gdLst/>
            <a:ahLst/>
            <a:cxnLst/>
            <a:rect l="l" t="t" r="r" b="b"/>
            <a:pathLst>
              <a:path w="906000" h="355587">
                <a:moveTo>
                  <a:pt x="683597" y="0"/>
                </a:moveTo>
                <a:lnTo>
                  <a:pt x="19203" y="0"/>
                </a:lnTo>
                <a:cubicBezTo>
                  <a:pt x="12653" y="0"/>
                  <a:pt x="6598" y="3487"/>
                  <a:pt x="3311" y="9152"/>
                </a:cubicBezTo>
                <a:cubicBezTo>
                  <a:pt x="23" y="14817"/>
                  <a:pt x="0" y="21804"/>
                  <a:pt x="3250" y="27491"/>
                </a:cubicBezTo>
                <a:lnTo>
                  <a:pt x="175030" y="328096"/>
                </a:lnTo>
                <a:cubicBezTo>
                  <a:pt x="184745" y="345096"/>
                  <a:pt x="202823" y="355587"/>
                  <a:pt x="222403" y="355587"/>
                </a:cubicBezTo>
                <a:lnTo>
                  <a:pt x="886797" y="355587"/>
                </a:lnTo>
                <a:cubicBezTo>
                  <a:pt x="893347" y="355587"/>
                  <a:pt x="899402" y="352101"/>
                  <a:pt x="902689" y="346435"/>
                </a:cubicBezTo>
                <a:cubicBezTo>
                  <a:pt x="905977" y="340770"/>
                  <a:pt x="906000" y="333783"/>
                  <a:pt x="902750" y="328096"/>
                </a:cubicBezTo>
                <a:lnTo>
                  <a:pt x="730970" y="27491"/>
                </a:lnTo>
                <a:cubicBezTo>
                  <a:pt x="721255" y="10491"/>
                  <a:pt x="703177" y="0"/>
                  <a:pt x="683597" y="0"/>
                </a:cubicBezTo>
                <a:close/>
              </a:path>
            </a:pathLst>
          </a:custGeom>
          <a:solidFill>
            <a:srgbClr val="333F48"/>
          </a:solidFill>
        </p:spPr>
        <p:txBody>
          <a:bodyPr/>
          <a:lstStyle/>
          <a:p>
            <a:endParaRPr lang="en-GB"/>
          </a:p>
        </p:txBody>
      </p:sp>
      <p:sp>
        <p:nvSpPr>
          <p:cNvPr id="7" name="Freeform 30">
            <a:extLst>
              <a:ext uri="{FF2B5EF4-FFF2-40B4-BE49-F238E27FC236}">
                <a16:creationId xmlns:a16="http://schemas.microsoft.com/office/drawing/2014/main" id="{381D7FCA-ED0D-455F-8F20-69BF3C4C399E}"/>
              </a:ext>
            </a:extLst>
          </p:cNvPr>
          <p:cNvSpPr/>
          <p:nvPr/>
        </p:nvSpPr>
        <p:spPr>
          <a:xfrm>
            <a:off x="7616856" y="148284"/>
            <a:ext cx="1418038" cy="491022"/>
          </a:xfrm>
          <a:custGeom>
            <a:avLst/>
            <a:gdLst/>
            <a:ahLst/>
            <a:cxnLst/>
            <a:rect l="l" t="t" r="r" b="b"/>
            <a:pathLst>
              <a:path w="7583721" h="2626005">
                <a:moveTo>
                  <a:pt x="0" y="0"/>
                </a:moveTo>
                <a:lnTo>
                  <a:pt x="7583721" y="0"/>
                </a:lnTo>
                <a:lnTo>
                  <a:pt x="7583721" y="2626005"/>
                </a:lnTo>
                <a:lnTo>
                  <a:pt x="0" y="2626005"/>
                </a:lnTo>
                <a:lnTo>
                  <a:pt x="0" y="0"/>
                </a:lnTo>
                <a:close/>
              </a:path>
            </a:pathLst>
          </a:custGeom>
          <a:blipFill>
            <a:blip r:embed="rId5">
              <a:lum bright="70000" contrast="-70000"/>
              <a:extLst>
                <a:ext uri="{BEBA8EAE-BF5A-486C-A8C5-ECC9F3942E4B}">
                  <a14:imgProps xmlns:a14="http://schemas.microsoft.com/office/drawing/2010/main">
                    <a14:imgLayer r:embed="rId6">
                      <a14:imgEffect>
                        <a14:colorTemperature colorTemp="1500"/>
                      </a14:imgEffect>
                      <a14:imgEffect>
                        <a14:saturation sat="0"/>
                      </a14:imgEffect>
                    </a14:imgLayer>
                  </a14:imgProps>
                </a:ext>
              </a:extLst>
            </a:blip>
            <a:stretch>
              <a:fillRect/>
            </a:stretch>
          </a:blipFill>
        </p:spPr>
        <p:txBody>
          <a:bodyPr/>
          <a:lstStyle/>
          <a:p>
            <a:endParaRPr lang="en-GB"/>
          </a:p>
        </p:txBody>
      </p:sp>
    </p:spTree>
    <p:extLst>
      <p:ext uri="{BB962C8B-B14F-4D97-AF65-F5344CB8AC3E}">
        <p14:creationId xmlns:p14="http://schemas.microsoft.com/office/powerpoint/2010/main" val="2996628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3">
            <a:extLst>
              <a:ext uri="{FF2B5EF4-FFF2-40B4-BE49-F238E27FC236}">
                <a16:creationId xmlns:a16="http://schemas.microsoft.com/office/drawing/2014/main" id="{5AE0BB94-A678-9A24-312B-FB46C9D74B66}"/>
              </a:ext>
            </a:extLst>
          </p:cNvPr>
          <p:cNvSpPr/>
          <p:nvPr/>
        </p:nvSpPr>
        <p:spPr>
          <a:xfrm rot="5400000">
            <a:off x="-2926707" y="2403038"/>
            <a:ext cx="6592802" cy="767964"/>
          </a:xfrm>
          <a:custGeom>
            <a:avLst/>
            <a:gdLst/>
            <a:ahLst/>
            <a:cxnLst/>
            <a:rect l="l" t="t" r="r" b="b"/>
            <a:pathLst>
              <a:path w="2315006" h="332620">
                <a:moveTo>
                  <a:pt x="209569" y="0"/>
                </a:moveTo>
                <a:lnTo>
                  <a:pt x="2308638" y="0"/>
                </a:lnTo>
                <a:cubicBezTo>
                  <a:pt x="2310834" y="0"/>
                  <a:pt x="2312858" y="1186"/>
                  <a:pt x="2313933" y="3101"/>
                </a:cubicBezTo>
                <a:cubicBezTo>
                  <a:pt x="2315007" y="5015"/>
                  <a:pt x="2314963" y="7361"/>
                  <a:pt x="2313818" y="9235"/>
                </a:cubicBezTo>
                <a:lnTo>
                  <a:pt x="2121902" y="323385"/>
                </a:lnTo>
                <a:cubicBezTo>
                  <a:pt x="2118398" y="329121"/>
                  <a:pt x="2112160" y="332620"/>
                  <a:pt x="2105438" y="332620"/>
                </a:cubicBezTo>
                <a:lnTo>
                  <a:pt x="6369" y="332620"/>
                </a:lnTo>
                <a:cubicBezTo>
                  <a:pt x="4173" y="332620"/>
                  <a:pt x="2149" y="331434"/>
                  <a:pt x="1075" y="329519"/>
                </a:cubicBezTo>
                <a:cubicBezTo>
                  <a:pt x="0" y="327604"/>
                  <a:pt x="44" y="325259"/>
                  <a:pt x="1189" y="323385"/>
                </a:cubicBezTo>
                <a:lnTo>
                  <a:pt x="193105" y="9235"/>
                </a:lnTo>
                <a:cubicBezTo>
                  <a:pt x="196610" y="3499"/>
                  <a:pt x="202847" y="0"/>
                  <a:pt x="209569" y="0"/>
                </a:cubicBezTo>
                <a:close/>
              </a:path>
            </a:pathLst>
          </a:custGeom>
          <a:solidFill>
            <a:srgbClr val="333F48"/>
          </a:solidFill>
        </p:spPr>
        <p:txBody>
          <a:bodyPr/>
          <a:lstStyle/>
          <a:p>
            <a:endParaRPr lang="en-GB" sz="900"/>
          </a:p>
        </p:txBody>
      </p:sp>
      <p:sp>
        <p:nvSpPr>
          <p:cNvPr id="37" name="Freeform 5">
            <a:extLst>
              <a:ext uri="{FF2B5EF4-FFF2-40B4-BE49-F238E27FC236}">
                <a16:creationId xmlns:a16="http://schemas.microsoft.com/office/drawing/2014/main" id="{28BBB565-DA57-0BB0-9C88-908ED864A136}"/>
              </a:ext>
            </a:extLst>
          </p:cNvPr>
          <p:cNvSpPr/>
          <p:nvPr/>
        </p:nvSpPr>
        <p:spPr>
          <a:xfrm>
            <a:off x="178705" y="3051820"/>
            <a:ext cx="382078" cy="380168"/>
          </a:xfrm>
          <a:custGeom>
            <a:avLst/>
            <a:gdLst/>
            <a:ahLst/>
            <a:cxnLst/>
            <a:rect l="l" t="t" r="r" b="b"/>
            <a:pathLst>
              <a:path w="764156" h="760336">
                <a:moveTo>
                  <a:pt x="0" y="0"/>
                </a:moveTo>
                <a:lnTo>
                  <a:pt x="764156" y="0"/>
                </a:lnTo>
                <a:lnTo>
                  <a:pt x="764156" y="760336"/>
                </a:lnTo>
                <a:lnTo>
                  <a:pt x="0" y="7603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900"/>
          </a:p>
        </p:txBody>
      </p:sp>
      <p:sp>
        <p:nvSpPr>
          <p:cNvPr id="38" name="Freeform 6">
            <a:extLst>
              <a:ext uri="{FF2B5EF4-FFF2-40B4-BE49-F238E27FC236}">
                <a16:creationId xmlns:a16="http://schemas.microsoft.com/office/drawing/2014/main" id="{B16CBE1D-0C94-071F-AB27-A3C7A4BCE50A}"/>
              </a:ext>
            </a:extLst>
          </p:cNvPr>
          <p:cNvSpPr/>
          <p:nvPr/>
        </p:nvSpPr>
        <p:spPr>
          <a:xfrm>
            <a:off x="178705" y="2418043"/>
            <a:ext cx="382078" cy="270798"/>
          </a:xfrm>
          <a:custGeom>
            <a:avLst/>
            <a:gdLst/>
            <a:ahLst/>
            <a:cxnLst/>
            <a:rect l="l" t="t" r="r" b="b"/>
            <a:pathLst>
              <a:path w="764156" h="541596">
                <a:moveTo>
                  <a:pt x="0" y="0"/>
                </a:moveTo>
                <a:lnTo>
                  <a:pt x="764156" y="0"/>
                </a:lnTo>
                <a:lnTo>
                  <a:pt x="764156" y="541596"/>
                </a:lnTo>
                <a:lnTo>
                  <a:pt x="0" y="54159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900"/>
          </a:p>
        </p:txBody>
      </p:sp>
      <p:sp>
        <p:nvSpPr>
          <p:cNvPr id="39" name="Freeform 7">
            <a:extLst>
              <a:ext uri="{FF2B5EF4-FFF2-40B4-BE49-F238E27FC236}">
                <a16:creationId xmlns:a16="http://schemas.microsoft.com/office/drawing/2014/main" id="{F5B66FD8-C67D-5A6B-0971-BA6234AC5200}"/>
              </a:ext>
            </a:extLst>
          </p:cNvPr>
          <p:cNvSpPr/>
          <p:nvPr/>
        </p:nvSpPr>
        <p:spPr>
          <a:xfrm>
            <a:off x="178705" y="1672980"/>
            <a:ext cx="382078" cy="383998"/>
          </a:xfrm>
          <a:custGeom>
            <a:avLst/>
            <a:gdLst/>
            <a:ahLst/>
            <a:cxnLst/>
            <a:rect l="l" t="t" r="r" b="b"/>
            <a:pathLst>
              <a:path w="764156" h="767996">
                <a:moveTo>
                  <a:pt x="0" y="0"/>
                </a:moveTo>
                <a:lnTo>
                  <a:pt x="764156" y="0"/>
                </a:lnTo>
                <a:lnTo>
                  <a:pt x="764156" y="767997"/>
                </a:lnTo>
                <a:lnTo>
                  <a:pt x="0" y="76799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900"/>
          </a:p>
        </p:txBody>
      </p:sp>
      <p:sp>
        <p:nvSpPr>
          <p:cNvPr id="41" name="Freeform 8">
            <a:extLst>
              <a:ext uri="{FF2B5EF4-FFF2-40B4-BE49-F238E27FC236}">
                <a16:creationId xmlns:a16="http://schemas.microsoft.com/office/drawing/2014/main" id="{5E556E36-0301-3555-364F-B3274FFFFA4A}"/>
              </a:ext>
            </a:extLst>
          </p:cNvPr>
          <p:cNvSpPr/>
          <p:nvPr/>
        </p:nvSpPr>
        <p:spPr>
          <a:xfrm>
            <a:off x="178705" y="3721866"/>
            <a:ext cx="382078" cy="417002"/>
          </a:xfrm>
          <a:custGeom>
            <a:avLst/>
            <a:gdLst/>
            <a:ahLst/>
            <a:cxnLst/>
            <a:rect l="l" t="t" r="r" b="b"/>
            <a:pathLst>
              <a:path w="764156" h="834004">
                <a:moveTo>
                  <a:pt x="0" y="0"/>
                </a:moveTo>
                <a:lnTo>
                  <a:pt x="764156" y="0"/>
                </a:lnTo>
                <a:lnTo>
                  <a:pt x="764156" y="834004"/>
                </a:lnTo>
                <a:lnTo>
                  <a:pt x="0" y="83400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sz="900"/>
          </a:p>
        </p:txBody>
      </p:sp>
      <p:sp>
        <p:nvSpPr>
          <p:cNvPr id="42" name="TextBox 11">
            <a:extLst>
              <a:ext uri="{FF2B5EF4-FFF2-40B4-BE49-F238E27FC236}">
                <a16:creationId xmlns:a16="http://schemas.microsoft.com/office/drawing/2014/main" id="{1BEE2C3A-ED80-E4F6-E485-68B8212DFF51}"/>
              </a:ext>
            </a:extLst>
          </p:cNvPr>
          <p:cNvSpPr txBox="1"/>
          <p:nvPr/>
        </p:nvSpPr>
        <p:spPr>
          <a:xfrm>
            <a:off x="5603138" y="-762034"/>
            <a:ext cx="4722248" cy="6198232"/>
          </a:xfrm>
          <a:prstGeom prst="rect">
            <a:avLst/>
          </a:prstGeom>
        </p:spPr>
        <p:txBody>
          <a:bodyPr lIns="25400" tIns="25400" rIns="25400" bIns="25400" rtlCol="0" anchor="ctr"/>
          <a:lstStyle/>
          <a:p>
            <a:pPr algn="ctr">
              <a:lnSpc>
                <a:spcPts val="1875"/>
              </a:lnSpc>
            </a:pPr>
            <a:endParaRPr sz="900"/>
          </a:p>
        </p:txBody>
      </p:sp>
      <p:sp>
        <p:nvSpPr>
          <p:cNvPr id="43" name="Freeform 13">
            <a:extLst>
              <a:ext uri="{FF2B5EF4-FFF2-40B4-BE49-F238E27FC236}">
                <a16:creationId xmlns:a16="http://schemas.microsoft.com/office/drawing/2014/main" id="{C382F060-ED7F-989B-B757-E640C35FAA8D}"/>
              </a:ext>
            </a:extLst>
          </p:cNvPr>
          <p:cNvSpPr/>
          <p:nvPr/>
        </p:nvSpPr>
        <p:spPr>
          <a:xfrm>
            <a:off x="5001432" y="-1809946"/>
            <a:ext cx="6799202" cy="6324281"/>
          </a:xfrm>
          <a:custGeom>
            <a:avLst/>
            <a:gdLst/>
            <a:ahLst/>
            <a:cxnLst/>
            <a:rect l="l" t="t" r="r" b="b"/>
            <a:pathLst>
              <a:path w="806295" h="698680">
                <a:moveTo>
                  <a:pt x="801028" y="363986"/>
                </a:moveTo>
                <a:lnTo>
                  <a:pt x="614866" y="684035"/>
                </a:lnTo>
                <a:cubicBezTo>
                  <a:pt x="609592" y="693102"/>
                  <a:pt x="599894" y="698680"/>
                  <a:pt x="589404" y="698680"/>
                </a:cubicBezTo>
                <a:lnTo>
                  <a:pt x="216890" y="698680"/>
                </a:lnTo>
                <a:cubicBezTo>
                  <a:pt x="206400" y="698680"/>
                  <a:pt x="196702" y="693102"/>
                  <a:pt x="191428" y="684035"/>
                </a:cubicBezTo>
                <a:lnTo>
                  <a:pt x="5266" y="363986"/>
                </a:lnTo>
                <a:cubicBezTo>
                  <a:pt x="0" y="354932"/>
                  <a:pt x="0" y="343748"/>
                  <a:pt x="5266" y="334694"/>
                </a:cubicBezTo>
                <a:lnTo>
                  <a:pt x="191428" y="14646"/>
                </a:lnTo>
                <a:cubicBezTo>
                  <a:pt x="196702" y="5578"/>
                  <a:pt x="206400" y="0"/>
                  <a:pt x="216890" y="0"/>
                </a:cubicBezTo>
                <a:lnTo>
                  <a:pt x="589404" y="0"/>
                </a:lnTo>
                <a:cubicBezTo>
                  <a:pt x="599894" y="0"/>
                  <a:pt x="609592" y="5578"/>
                  <a:pt x="614866" y="14646"/>
                </a:cubicBezTo>
                <a:lnTo>
                  <a:pt x="801028" y="334694"/>
                </a:lnTo>
                <a:cubicBezTo>
                  <a:pt x="806294" y="343748"/>
                  <a:pt x="806294" y="354932"/>
                  <a:pt x="801028" y="363986"/>
                </a:cubicBezTo>
                <a:close/>
              </a:path>
            </a:pathLst>
          </a:custGeom>
          <a:solidFill>
            <a:srgbClr val="333F48"/>
          </a:solidFill>
        </p:spPr>
        <p:txBody>
          <a:bodyPr/>
          <a:lstStyle/>
          <a:p>
            <a:endParaRPr lang="en-GB" sz="900"/>
          </a:p>
        </p:txBody>
      </p:sp>
      <p:sp>
        <p:nvSpPr>
          <p:cNvPr id="45" name="Freeform 21">
            <a:extLst>
              <a:ext uri="{FF2B5EF4-FFF2-40B4-BE49-F238E27FC236}">
                <a16:creationId xmlns:a16="http://schemas.microsoft.com/office/drawing/2014/main" id="{999CEFB0-8B10-DB0C-D829-C03BA5C6E443}"/>
              </a:ext>
            </a:extLst>
          </p:cNvPr>
          <p:cNvSpPr/>
          <p:nvPr/>
        </p:nvSpPr>
        <p:spPr>
          <a:xfrm rot="10800000">
            <a:off x="5073907" y="-349961"/>
            <a:ext cx="1563578" cy="1383605"/>
          </a:xfrm>
          <a:custGeom>
            <a:avLst/>
            <a:gdLst/>
            <a:ahLst/>
            <a:cxnLst/>
            <a:rect l="l" t="t" r="r" b="b"/>
            <a:pathLst>
              <a:path w="758270" h="670990">
                <a:moveTo>
                  <a:pt x="413512" y="19949"/>
                </a:moveTo>
                <a:lnTo>
                  <a:pt x="751158" y="610831"/>
                </a:lnTo>
                <a:cubicBezTo>
                  <a:pt x="758270" y="623276"/>
                  <a:pt x="758219" y="638565"/>
                  <a:pt x="751024" y="650963"/>
                </a:cubicBezTo>
                <a:cubicBezTo>
                  <a:pt x="743830" y="663360"/>
                  <a:pt x="730580" y="670990"/>
                  <a:pt x="716247" y="670990"/>
                </a:cubicBezTo>
                <a:lnTo>
                  <a:pt x="42023" y="670990"/>
                </a:lnTo>
                <a:cubicBezTo>
                  <a:pt x="27690" y="670990"/>
                  <a:pt x="14440" y="663360"/>
                  <a:pt x="7246" y="650963"/>
                </a:cubicBezTo>
                <a:cubicBezTo>
                  <a:pt x="51" y="638565"/>
                  <a:pt x="0" y="623276"/>
                  <a:pt x="7112" y="610831"/>
                </a:cubicBezTo>
                <a:lnTo>
                  <a:pt x="344758" y="19949"/>
                </a:lnTo>
                <a:cubicBezTo>
                  <a:pt x="351808" y="7613"/>
                  <a:pt x="364927" y="0"/>
                  <a:pt x="379135" y="0"/>
                </a:cubicBezTo>
                <a:cubicBezTo>
                  <a:pt x="393343" y="0"/>
                  <a:pt x="406462" y="7613"/>
                  <a:pt x="413512" y="19949"/>
                </a:cubicBezTo>
                <a:close/>
              </a:path>
            </a:pathLst>
          </a:custGeom>
          <a:solidFill>
            <a:srgbClr val="B5BD00"/>
          </a:solidFill>
        </p:spPr>
        <p:txBody>
          <a:bodyPr/>
          <a:lstStyle/>
          <a:p>
            <a:endParaRPr lang="en-GB" sz="900"/>
          </a:p>
        </p:txBody>
      </p:sp>
      <p:sp>
        <p:nvSpPr>
          <p:cNvPr id="46" name="Freeform 24">
            <a:extLst>
              <a:ext uri="{FF2B5EF4-FFF2-40B4-BE49-F238E27FC236}">
                <a16:creationId xmlns:a16="http://schemas.microsoft.com/office/drawing/2014/main" id="{E06A1339-3FAC-FE83-A40D-AD9805D59D01}"/>
              </a:ext>
            </a:extLst>
          </p:cNvPr>
          <p:cNvSpPr/>
          <p:nvPr/>
        </p:nvSpPr>
        <p:spPr>
          <a:xfrm>
            <a:off x="4889261" y="441081"/>
            <a:ext cx="3743388" cy="3439238"/>
          </a:xfrm>
          <a:custGeom>
            <a:avLst/>
            <a:gdLst/>
            <a:ahLst/>
            <a:cxnLst/>
            <a:rect l="l" t="t" r="r" b="b"/>
            <a:pathLst>
              <a:path w="7486775" h="6878475">
                <a:moveTo>
                  <a:pt x="0" y="0"/>
                </a:moveTo>
                <a:lnTo>
                  <a:pt x="7486775" y="0"/>
                </a:lnTo>
                <a:lnTo>
                  <a:pt x="7486775" y="6878474"/>
                </a:lnTo>
                <a:lnTo>
                  <a:pt x="0" y="687847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sz="900"/>
          </a:p>
        </p:txBody>
      </p:sp>
      <p:sp>
        <p:nvSpPr>
          <p:cNvPr id="48" name="Freeform 26">
            <a:extLst>
              <a:ext uri="{FF2B5EF4-FFF2-40B4-BE49-F238E27FC236}">
                <a16:creationId xmlns:a16="http://schemas.microsoft.com/office/drawing/2014/main" id="{20021F69-A901-D834-4F06-8FCB88C37EE5}"/>
              </a:ext>
            </a:extLst>
          </p:cNvPr>
          <p:cNvSpPr/>
          <p:nvPr/>
        </p:nvSpPr>
        <p:spPr>
          <a:xfrm>
            <a:off x="5001432" y="172995"/>
            <a:ext cx="4495733" cy="4341340"/>
          </a:xfrm>
          <a:custGeom>
            <a:avLst/>
            <a:gdLst/>
            <a:ahLst/>
            <a:cxnLst/>
            <a:rect l="l" t="t" r="r" b="b"/>
            <a:pathLst>
              <a:path w="799785" h="698500">
                <a:moveTo>
                  <a:pt x="789249" y="378542"/>
                </a:moveTo>
                <a:lnTo>
                  <a:pt x="620135" y="669208"/>
                </a:lnTo>
                <a:cubicBezTo>
                  <a:pt x="609583" y="687343"/>
                  <a:pt x="590184" y="698500"/>
                  <a:pt x="569202" y="698500"/>
                </a:cubicBezTo>
                <a:lnTo>
                  <a:pt x="230582" y="698500"/>
                </a:lnTo>
                <a:cubicBezTo>
                  <a:pt x="209600" y="698500"/>
                  <a:pt x="190201" y="687343"/>
                  <a:pt x="179649" y="669208"/>
                </a:cubicBezTo>
                <a:lnTo>
                  <a:pt x="10535" y="378542"/>
                </a:lnTo>
                <a:cubicBezTo>
                  <a:pt x="0" y="360435"/>
                  <a:pt x="0" y="338065"/>
                  <a:pt x="10535" y="319958"/>
                </a:cubicBezTo>
                <a:lnTo>
                  <a:pt x="179649" y="29293"/>
                </a:lnTo>
                <a:cubicBezTo>
                  <a:pt x="190201" y="11157"/>
                  <a:pt x="209600" y="0"/>
                  <a:pt x="230582" y="0"/>
                </a:cubicBezTo>
                <a:lnTo>
                  <a:pt x="569202" y="0"/>
                </a:lnTo>
                <a:cubicBezTo>
                  <a:pt x="590184" y="0"/>
                  <a:pt x="609583" y="11157"/>
                  <a:pt x="620135" y="29293"/>
                </a:cubicBezTo>
                <a:lnTo>
                  <a:pt x="789249" y="319958"/>
                </a:lnTo>
                <a:cubicBezTo>
                  <a:pt x="799784" y="338065"/>
                  <a:pt x="799784" y="360435"/>
                  <a:pt x="789249" y="378542"/>
                </a:cubicBezTo>
                <a:close/>
              </a:path>
            </a:pathLst>
          </a:custGeom>
          <a:solidFill>
            <a:schemeClr val="accent6"/>
          </a:solidFill>
        </p:spPr>
        <p:txBody>
          <a:bodyPr/>
          <a:lstStyle/>
          <a:p>
            <a:endParaRPr lang="en-GB" sz="900">
              <a:solidFill>
                <a:schemeClr val="accent6"/>
              </a:solidFill>
            </a:endParaRPr>
          </a:p>
        </p:txBody>
      </p:sp>
      <p:grpSp>
        <p:nvGrpSpPr>
          <p:cNvPr id="50" name="Group 28">
            <a:extLst>
              <a:ext uri="{FF2B5EF4-FFF2-40B4-BE49-F238E27FC236}">
                <a16:creationId xmlns:a16="http://schemas.microsoft.com/office/drawing/2014/main" id="{40EE0F73-7BD7-EE7D-353A-C15B02749846}"/>
              </a:ext>
            </a:extLst>
          </p:cNvPr>
          <p:cNvGrpSpPr/>
          <p:nvPr/>
        </p:nvGrpSpPr>
        <p:grpSpPr>
          <a:xfrm>
            <a:off x="5204485" y="269142"/>
            <a:ext cx="5123787" cy="4164796"/>
            <a:chOff x="4314" y="0"/>
            <a:chExt cx="979568" cy="698500"/>
          </a:xfrm>
        </p:grpSpPr>
        <p:sp>
          <p:nvSpPr>
            <p:cNvPr id="51" name="Freeform 29">
              <a:extLst>
                <a:ext uri="{FF2B5EF4-FFF2-40B4-BE49-F238E27FC236}">
                  <a16:creationId xmlns:a16="http://schemas.microsoft.com/office/drawing/2014/main" id="{DE756506-C294-DC01-F8BC-165963762624}"/>
                </a:ext>
              </a:extLst>
            </p:cNvPr>
            <p:cNvSpPr/>
            <p:nvPr/>
          </p:nvSpPr>
          <p:spPr>
            <a:xfrm>
              <a:off x="4314" y="0"/>
              <a:ext cx="979568" cy="698500"/>
            </a:xfrm>
            <a:custGeom>
              <a:avLst/>
              <a:gdLst/>
              <a:ahLst/>
              <a:cxnLst/>
              <a:rect l="l" t="t" r="r" b="b"/>
              <a:pathLst>
                <a:path w="979568" h="698500">
                  <a:moveTo>
                    <a:pt x="972584" y="368669"/>
                  </a:moveTo>
                  <a:lnTo>
                    <a:pt x="791980" y="679081"/>
                  </a:lnTo>
                  <a:cubicBezTo>
                    <a:pt x="784985" y="691104"/>
                    <a:pt x="772125" y="698500"/>
                    <a:pt x="758215" y="698500"/>
                  </a:cubicBezTo>
                  <a:lnTo>
                    <a:pt x="221353" y="698500"/>
                  </a:lnTo>
                  <a:cubicBezTo>
                    <a:pt x="207443" y="698500"/>
                    <a:pt x="194583" y="691104"/>
                    <a:pt x="187588" y="679081"/>
                  </a:cubicBezTo>
                  <a:lnTo>
                    <a:pt x="6984" y="368669"/>
                  </a:lnTo>
                  <a:cubicBezTo>
                    <a:pt x="0" y="356665"/>
                    <a:pt x="0" y="341835"/>
                    <a:pt x="6984" y="329831"/>
                  </a:cubicBezTo>
                  <a:lnTo>
                    <a:pt x="187588" y="19419"/>
                  </a:lnTo>
                  <a:cubicBezTo>
                    <a:pt x="194583" y="7396"/>
                    <a:pt x="207443" y="0"/>
                    <a:pt x="221353" y="0"/>
                  </a:cubicBezTo>
                  <a:lnTo>
                    <a:pt x="758215" y="0"/>
                  </a:lnTo>
                  <a:cubicBezTo>
                    <a:pt x="772125" y="0"/>
                    <a:pt x="784985" y="7396"/>
                    <a:pt x="791980" y="19419"/>
                  </a:cubicBezTo>
                  <a:lnTo>
                    <a:pt x="972584" y="329831"/>
                  </a:lnTo>
                  <a:cubicBezTo>
                    <a:pt x="979568" y="341835"/>
                    <a:pt x="979568" y="356665"/>
                    <a:pt x="972584" y="368669"/>
                  </a:cubicBezTo>
                  <a:close/>
                </a:path>
              </a:pathLst>
            </a:custGeom>
            <a:blipFill>
              <a:blip r:embed="rId13"/>
              <a:stretch>
                <a:fillRect l="-40975" t="-31827" r="-620"/>
              </a:stretch>
            </a:blipFill>
            <a:ln w="209550" cap="rnd">
              <a:solidFill>
                <a:srgbClr val="E6ECF2"/>
              </a:solidFill>
              <a:prstDash val="solid"/>
              <a:round/>
            </a:ln>
          </p:spPr>
          <p:txBody>
            <a:bodyPr/>
            <a:lstStyle/>
            <a:p>
              <a:endParaRPr lang="en-GB" sz="900"/>
            </a:p>
          </p:txBody>
        </p:sp>
      </p:grpSp>
      <p:sp>
        <p:nvSpPr>
          <p:cNvPr id="52" name="TextBox 30">
            <a:extLst>
              <a:ext uri="{FF2B5EF4-FFF2-40B4-BE49-F238E27FC236}">
                <a16:creationId xmlns:a16="http://schemas.microsoft.com/office/drawing/2014/main" id="{5AB0B1C5-0640-5A87-4B30-6F66EE0E03E4}"/>
              </a:ext>
            </a:extLst>
          </p:cNvPr>
          <p:cNvSpPr txBox="1"/>
          <p:nvPr/>
        </p:nvSpPr>
        <p:spPr>
          <a:xfrm>
            <a:off x="1110864" y="779574"/>
            <a:ext cx="3062084" cy="474489"/>
          </a:xfrm>
          <a:prstGeom prst="rect">
            <a:avLst/>
          </a:prstGeom>
        </p:spPr>
        <p:txBody>
          <a:bodyPr lIns="0" tIns="0" rIns="0" bIns="0" rtlCol="0" anchor="t">
            <a:spAutoFit/>
          </a:bodyPr>
          <a:lstStyle/>
          <a:p>
            <a:pPr>
              <a:lnSpc>
                <a:spcPts val="3737"/>
              </a:lnSpc>
            </a:pPr>
            <a:r>
              <a:rPr lang="en-US" sz="3249" b="1">
                <a:solidFill>
                  <a:srgbClr val="333F48"/>
                </a:solidFill>
                <a:latin typeface="+mj-lt"/>
                <a:ea typeface="TT Norms Bold"/>
                <a:cs typeface="TT Norms Bold"/>
                <a:sym typeface="TT Norms Bold"/>
              </a:rPr>
              <a:t>CONTACT US</a:t>
            </a:r>
          </a:p>
        </p:txBody>
      </p:sp>
      <p:grpSp>
        <p:nvGrpSpPr>
          <p:cNvPr id="53" name="Group 31">
            <a:extLst>
              <a:ext uri="{FF2B5EF4-FFF2-40B4-BE49-F238E27FC236}">
                <a16:creationId xmlns:a16="http://schemas.microsoft.com/office/drawing/2014/main" id="{BA849081-3ABA-1128-63FE-7EDCF3F14158}"/>
              </a:ext>
            </a:extLst>
          </p:cNvPr>
          <p:cNvGrpSpPr/>
          <p:nvPr/>
        </p:nvGrpSpPr>
        <p:grpSpPr>
          <a:xfrm>
            <a:off x="1110864" y="1596378"/>
            <a:ext cx="2656115" cy="510368"/>
            <a:chOff x="0" y="-85725"/>
            <a:chExt cx="7082971" cy="1360981"/>
          </a:xfrm>
        </p:grpSpPr>
        <p:sp>
          <p:nvSpPr>
            <p:cNvPr id="54" name="TextBox 32">
              <a:extLst>
                <a:ext uri="{FF2B5EF4-FFF2-40B4-BE49-F238E27FC236}">
                  <a16:creationId xmlns:a16="http://schemas.microsoft.com/office/drawing/2014/main" id="{B29775DB-7B49-FF15-F015-69CA904FAA0B}"/>
                </a:ext>
              </a:extLst>
            </p:cNvPr>
            <p:cNvSpPr txBox="1"/>
            <p:nvPr/>
          </p:nvSpPr>
          <p:spPr>
            <a:xfrm>
              <a:off x="7256" y="685352"/>
              <a:ext cx="6538803" cy="589904"/>
            </a:xfrm>
            <a:prstGeom prst="rect">
              <a:avLst/>
            </a:prstGeom>
          </p:spPr>
          <p:txBody>
            <a:bodyPr lIns="0" tIns="0" rIns="0" bIns="0" rtlCol="0" anchor="t">
              <a:spAutoFit/>
            </a:bodyPr>
            <a:lstStyle/>
            <a:p>
              <a:pPr>
                <a:lnSpc>
                  <a:spcPts val="1750"/>
                </a:lnSpc>
              </a:pPr>
              <a:r>
                <a:rPr lang="en-US" sz="1250">
                  <a:solidFill>
                    <a:srgbClr val="333F48"/>
                  </a:solidFill>
                  <a:latin typeface="+mj-lt"/>
                  <a:ea typeface="Poppins"/>
                  <a:cs typeface="Poppins"/>
                  <a:sym typeface="Poppins"/>
                </a:rPr>
                <a:t>+44 (0)1603 255392</a:t>
              </a:r>
            </a:p>
          </p:txBody>
        </p:sp>
        <p:sp>
          <p:nvSpPr>
            <p:cNvPr id="55" name="TextBox 33">
              <a:extLst>
                <a:ext uri="{FF2B5EF4-FFF2-40B4-BE49-F238E27FC236}">
                  <a16:creationId xmlns:a16="http://schemas.microsoft.com/office/drawing/2014/main" id="{AF44E6BB-2EDC-7CFE-6BBF-1AEF308ED5A6}"/>
                </a:ext>
              </a:extLst>
            </p:cNvPr>
            <p:cNvSpPr txBox="1"/>
            <p:nvPr/>
          </p:nvSpPr>
          <p:spPr>
            <a:xfrm>
              <a:off x="0" y="-85725"/>
              <a:ext cx="7082971" cy="674032"/>
            </a:xfrm>
            <a:prstGeom prst="rect">
              <a:avLst/>
            </a:prstGeom>
          </p:spPr>
          <p:txBody>
            <a:bodyPr lIns="0" tIns="0" rIns="0" bIns="0" rtlCol="0" anchor="t">
              <a:spAutoFit/>
            </a:bodyPr>
            <a:lstStyle/>
            <a:p>
              <a:pPr>
                <a:lnSpc>
                  <a:spcPts val="2100"/>
                </a:lnSpc>
              </a:pPr>
              <a:r>
                <a:rPr lang="en-US" sz="1500" b="1">
                  <a:solidFill>
                    <a:srgbClr val="333F48"/>
                  </a:solidFill>
                  <a:latin typeface="+mj-lt"/>
                  <a:ea typeface="Poppins Bold"/>
                  <a:cs typeface="Poppins Bold"/>
                  <a:sym typeface="Poppins Bold"/>
                </a:rPr>
                <a:t>Phone</a:t>
              </a:r>
            </a:p>
          </p:txBody>
        </p:sp>
      </p:grpSp>
      <p:grpSp>
        <p:nvGrpSpPr>
          <p:cNvPr id="56" name="Group 34">
            <a:extLst>
              <a:ext uri="{FF2B5EF4-FFF2-40B4-BE49-F238E27FC236}">
                <a16:creationId xmlns:a16="http://schemas.microsoft.com/office/drawing/2014/main" id="{F5E494F7-C8C5-9511-7818-6BC86C57ED2B}"/>
              </a:ext>
            </a:extLst>
          </p:cNvPr>
          <p:cNvGrpSpPr/>
          <p:nvPr/>
        </p:nvGrpSpPr>
        <p:grpSpPr>
          <a:xfrm>
            <a:off x="1110864" y="2284841"/>
            <a:ext cx="2656115" cy="510368"/>
            <a:chOff x="0" y="-85725"/>
            <a:chExt cx="7082971" cy="1360981"/>
          </a:xfrm>
        </p:grpSpPr>
        <p:sp>
          <p:nvSpPr>
            <p:cNvPr id="57" name="TextBox 35">
              <a:extLst>
                <a:ext uri="{FF2B5EF4-FFF2-40B4-BE49-F238E27FC236}">
                  <a16:creationId xmlns:a16="http://schemas.microsoft.com/office/drawing/2014/main" id="{9BE4DD0A-2BF9-6C5D-74AD-1D6D4031E4BB}"/>
                </a:ext>
              </a:extLst>
            </p:cNvPr>
            <p:cNvSpPr txBox="1"/>
            <p:nvPr/>
          </p:nvSpPr>
          <p:spPr>
            <a:xfrm>
              <a:off x="7256" y="685352"/>
              <a:ext cx="6538803" cy="589904"/>
            </a:xfrm>
            <a:prstGeom prst="rect">
              <a:avLst/>
            </a:prstGeom>
          </p:spPr>
          <p:txBody>
            <a:bodyPr lIns="0" tIns="0" rIns="0" bIns="0" rtlCol="0" anchor="t">
              <a:spAutoFit/>
            </a:bodyPr>
            <a:lstStyle/>
            <a:p>
              <a:pPr>
                <a:lnSpc>
                  <a:spcPts val="1750"/>
                </a:lnSpc>
              </a:pPr>
              <a:r>
                <a:rPr lang="en-US" sz="1250">
                  <a:solidFill>
                    <a:srgbClr val="333F48"/>
                  </a:solidFill>
                  <a:latin typeface="Consolas" panose="020B0609020204030204" pitchFamily="49" charset="0"/>
                  <a:ea typeface="Poppins"/>
                  <a:cs typeface="Poppins"/>
                  <a:sym typeface="Poppins"/>
                </a:rPr>
                <a:t>climb@quadram.ac.uk</a:t>
              </a:r>
            </a:p>
          </p:txBody>
        </p:sp>
        <p:sp>
          <p:nvSpPr>
            <p:cNvPr id="58" name="TextBox 36">
              <a:extLst>
                <a:ext uri="{FF2B5EF4-FFF2-40B4-BE49-F238E27FC236}">
                  <a16:creationId xmlns:a16="http://schemas.microsoft.com/office/drawing/2014/main" id="{DB18B973-F847-B31C-D20F-B0B7E4D68686}"/>
                </a:ext>
              </a:extLst>
            </p:cNvPr>
            <p:cNvSpPr txBox="1"/>
            <p:nvPr/>
          </p:nvSpPr>
          <p:spPr>
            <a:xfrm>
              <a:off x="0" y="-85725"/>
              <a:ext cx="7082971" cy="674032"/>
            </a:xfrm>
            <a:prstGeom prst="rect">
              <a:avLst/>
            </a:prstGeom>
          </p:spPr>
          <p:txBody>
            <a:bodyPr lIns="0" tIns="0" rIns="0" bIns="0" rtlCol="0" anchor="t">
              <a:spAutoFit/>
            </a:bodyPr>
            <a:lstStyle/>
            <a:p>
              <a:pPr>
                <a:lnSpc>
                  <a:spcPts val="2100"/>
                </a:lnSpc>
              </a:pPr>
              <a:r>
                <a:rPr lang="en-US" sz="1500" b="1">
                  <a:solidFill>
                    <a:srgbClr val="333F48"/>
                  </a:solidFill>
                  <a:latin typeface="+mj-lt"/>
                  <a:ea typeface="Poppins Bold"/>
                  <a:cs typeface="Poppins Bold"/>
                  <a:sym typeface="Poppins Bold"/>
                </a:rPr>
                <a:t>Email</a:t>
              </a:r>
            </a:p>
          </p:txBody>
        </p:sp>
      </p:grpSp>
      <p:grpSp>
        <p:nvGrpSpPr>
          <p:cNvPr id="59" name="Group 37">
            <a:extLst>
              <a:ext uri="{FF2B5EF4-FFF2-40B4-BE49-F238E27FC236}">
                <a16:creationId xmlns:a16="http://schemas.microsoft.com/office/drawing/2014/main" id="{FCB17DC5-564C-DA83-0CF8-F07279CFD87F}"/>
              </a:ext>
            </a:extLst>
          </p:cNvPr>
          <p:cNvGrpSpPr/>
          <p:nvPr/>
        </p:nvGrpSpPr>
        <p:grpSpPr>
          <a:xfrm>
            <a:off x="1110864" y="2973304"/>
            <a:ext cx="2656115" cy="510368"/>
            <a:chOff x="0" y="-85725"/>
            <a:chExt cx="7082971" cy="1360981"/>
          </a:xfrm>
        </p:grpSpPr>
        <p:sp>
          <p:nvSpPr>
            <p:cNvPr id="60" name="TextBox 38">
              <a:extLst>
                <a:ext uri="{FF2B5EF4-FFF2-40B4-BE49-F238E27FC236}">
                  <a16:creationId xmlns:a16="http://schemas.microsoft.com/office/drawing/2014/main" id="{AA314ACB-227B-15E8-6779-C57C92E4D8DB}"/>
                </a:ext>
              </a:extLst>
            </p:cNvPr>
            <p:cNvSpPr txBox="1"/>
            <p:nvPr/>
          </p:nvSpPr>
          <p:spPr>
            <a:xfrm>
              <a:off x="7256" y="685352"/>
              <a:ext cx="6538803" cy="589904"/>
            </a:xfrm>
            <a:prstGeom prst="rect">
              <a:avLst/>
            </a:prstGeom>
          </p:spPr>
          <p:txBody>
            <a:bodyPr lIns="0" tIns="0" rIns="0" bIns="0" rtlCol="0" anchor="t">
              <a:spAutoFit/>
            </a:bodyPr>
            <a:lstStyle/>
            <a:p>
              <a:pPr>
                <a:lnSpc>
                  <a:spcPts val="1750"/>
                </a:lnSpc>
              </a:pPr>
              <a:r>
                <a:rPr lang="en-US" sz="1250">
                  <a:solidFill>
                    <a:srgbClr val="333F48"/>
                  </a:solidFill>
                  <a:latin typeface="Consolas" panose="020B0609020204030204" pitchFamily="49" charset="0"/>
                  <a:ea typeface="Poppins"/>
                  <a:cs typeface="Poppins"/>
                  <a:sym typeface="Poppins"/>
                </a:rPr>
                <a:t>www.climb.ac.uk</a:t>
              </a:r>
            </a:p>
          </p:txBody>
        </p:sp>
        <p:sp>
          <p:nvSpPr>
            <p:cNvPr id="61" name="TextBox 39">
              <a:extLst>
                <a:ext uri="{FF2B5EF4-FFF2-40B4-BE49-F238E27FC236}">
                  <a16:creationId xmlns:a16="http://schemas.microsoft.com/office/drawing/2014/main" id="{180EBB4B-CD0C-21B0-A522-C4CFB530DFC8}"/>
                </a:ext>
              </a:extLst>
            </p:cNvPr>
            <p:cNvSpPr txBox="1"/>
            <p:nvPr/>
          </p:nvSpPr>
          <p:spPr>
            <a:xfrm>
              <a:off x="0" y="-85725"/>
              <a:ext cx="7082971" cy="674032"/>
            </a:xfrm>
            <a:prstGeom prst="rect">
              <a:avLst/>
            </a:prstGeom>
          </p:spPr>
          <p:txBody>
            <a:bodyPr lIns="0" tIns="0" rIns="0" bIns="0" rtlCol="0" anchor="t">
              <a:spAutoFit/>
            </a:bodyPr>
            <a:lstStyle/>
            <a:p>
              <a:pPr>
                <a:lnSpc>
                  <a:spcPts val="2100"/>
                </a:lnSpc>
              </a:pPr>
              <a:r>
                <a:rPr lang="en-US" sz="1500" b="1">
                  <a:solidFill>
                    <a:srgbClr val="333F48"/>
                  </a:solidFill>
                  <a:latin typeface="+mj-lt"/>
                  <a:ea typeface="Poppins Bold"/>
                  <a:cs typeface="Poppins Bold"/>
                  <a:sym typeface="Poppins Bold"/>
                </a:rPr>
                <a:t>Website</a:t>
              </a:r>
            </a:p>
          </p:txBody>
        </p:sp>
      </p:grpSp>
      <p:grpSp>
        <p:nvGrpSpPr>
          <p:cNvPr id="62" name="Group 40">
            <a:extLst>
              <a:ext uri="{FF2B5EF4-FFF2-40B4-BE49-F238E27FC236}">
                <a16:creationId xmlns:a16="http://schemas.microsoft.com/office/drawing/2014/main" id="{1745FD93-EBB4-9881-A17D-62080C77311C}"/>
              </a:ext>
            </a:extLst>
          </p:cNvPr>
          <p:cNvGrpSpPr/>
          <p:nvPr/>
        </p:nvGrpSpPr>
        <p:grpSpPr>
          <a:xfrm>
            <a:off x="1110864" y="3661766"/>
            <a:ext cx="3212421" cy="972034"/>
            <a:chOff x="0" y="-85725"/>
            <a:chExt cx="8566456" cy="2592091"/>
          </a:xfrm>
        </p:grpSpPr>
        <p:sp>
          <p:nvSpPr>
            <p:cNvPr id="63" name="TextBox 41">
              <a:extLst>
                <a:ext uri="{FF2B5EF4-FFF2-40B4-BE49-F238E27FC236}">
                  <a16:creationId xmlns:a16="http://schemas.microsoft.com/office/drawing/2014/main" id="{905C4737-BEB6-1C6D-9DA9-0E32D9939DAF}"/>
                </a:ext>
              </a:extLst>
            </p:cNvPr>
            <p:cNvSpPr txBox="1"/>
            <p:nvPr/>
          </p:nvSpPr>
          <p:spPr>
            <a:xfrm>
              <a:off x="8776" y="685355"/>
              <a:ext cx="7908315" cy="1821011"/>
            </a:xfrm>
            <a:prstGeom prst="rect">
              <a:avLst/>
            </a:prstGeom>
          </p:spPr>
          <p:txBody>
            <a:bodyPr lIns="0" tIns="0" rIns="0" bIns="0" rtlCol="0" anchor="t">
              <a:spAutoFit/>
            </a:bodyPr>
            <a:lstStyle/>
            <a:p>
              <a:pPr>
                <a:lnSpc>
                  <a:spcPts val="1750"/>
                </a:lnSpc>
              </a:pPr>
              <a:r>
                <a:rPr lang="en-US" sz="1250">
                  <a:solidFill>
                    <a:srgbClr val="333F48"/>
                  </a:solidFill>
                  <a:latin typeface="+mj-lt"/>
                  <a:ea typeface="Poppins"/>
                  <a:cs typeface="Poppins"/>
                  <a:sym typeface="Poppins"/>
                </a:rPr>
                <a:t>Quadram Institute Bioscience, Norwich Research Park, NR4 7UQ</a:t>
              </a:r>
            </a:p>
            <a:p>
              <a:pPr>
                <a:lnSpc>
                  <a:spcPts val="1750"/>
                </a:lnSpc>
              </a:pPr>
              <a:endParaRPr lang="en-US" sz="1250">
                <a:solidFill>
                  <a:srgbClr val="333F48"/>
                </a:solidFill>
                <a:latin typeface="+mj-lt"/>
                <a:ea typeface="Poppins"/>
                <a:cs typeface="Poppins"/>
                <a:sym typeface="Poppins"/>
              </a:endParaRPr>
            </a:p>
          </p:txBody>
        </p:sp>
        <p:sp>
          <p:nvSpPr>
            <p:cNvPr id="64" name="TextBox 42">
              <a:extLst>
                <a:ext uri="{FF2B5EF4-FFF2-40B4-BE49-F238E27FC236}">
                  <a16:creationId xmlns:a16="http://schemas.microsoft.com/office/drawing/2014/main" id="{399FE922-0DA0-D50C-6C05-D8346966207D}"/>
                </a:ext>
              </a:extLst>
            </p:cNvPr>
            <p:cNvSpPr txBox="1"/>
            <p:nvPr/>
          </p:nvSpPr>
          <p:spPr>
            <a:xfrm>
              <a:off x="0" y="-85725"/>
              <a:ext cx="8566456" cy="674032"/>
            </a:xfrm>
            <a:prstGeom prst="rect">
              <a:avLst/>
            </a:prstGeom>
          </p:spPr>
          <p:txBody>
            <a:bodyPr lIns="0" tIns="0" rIns="0" bIns="0" rtlCol="0" anchor="t">
              <a:spAutoFit/>
            </a:bodyPr>
            <a:lstStyle/>
            <a:p>
              <a:pPr>
                <a:lnSpc>
                  <a:spcPts val="2100"/>
                </a:lnSpc>
              </a:pPr>
              <a:r>
                <a:rPr lang="en-US" sz="1500" b="1">
                  <a:solidFill>
                    <a:srgbClr val="333F48"/>
                  </a:solidFill>
                  <a:latin typeface="+mj-lt"/>
                  <a:ea typeface="Poppins Bold"/>
                  <a:cs typeface="Poppins Bold"/>
                  <a:sym typeface="Poppins Bold"/>
                </a:rPr>
                <a:t>Location</a:t>
              </a:r>
            </a:p>
          </p:txBody>
        </p:sp>
      </p:grpSp>
    </p:spTree>
    <p:extLst>
      <p:ext uri="{BB962C8B-B14F-4D97-AF65-F5344CB8AC3E}">
        <p14:creationId xmlns:p14="http://schemas.microsoft.com/office/powerpoint/2010/main" val="777451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314D3D-648F-0FCA-ED1B-D9BEC75C37F4}"/>
              </a:ext>
            </a:extLst>
          </p:cNvPr>
          <p:cNvSpPr>
            <a:spLocks noGrp="1"/>
          </p:cNvSpPr>
          <p:nvPr>
            <p:ph type="ctrTitle"/>
          </p:nvPr>
        </p:nvSpPr>
        <p:spPr>
          <a:xfrm>
            <a:off x="582602" y="823991"/>
            <a:ext cx="4432468" cy="679378"/>
          </a:xfrm>
        </p:spPr>
        <p:txBody>
          <a:bodyPr>
            <a:normAutofit/>
          </a:bodyPr>
          <a:lstStyle/>
          <a:p>
            <a:r>
              <a:rPr lang="en-GB" sz="3000" b="1"/>
              <a:t>Acknowledgements</a:t>
            </a:r>
          </a:p>
        </p:txBody>
      </p:sp>
      <p:sp>
        <p:nvSpPr>
          <p:cNvPr id="7" name="Picture Placeholder 6">
            <a:extLst>
              <a:ext uri="{FF2B5EF4-FFF2-40B4-BE49-F238E27FC236}">
                <a16:creationId xmlns:a16="http://schemas.microsoft.com/office/drawing/2014/main" id="{CE563E19-3568-96FC-909F-882D0508F30C}"/>
              </a:ext>
            </a:extLst>
          </p:cNvPr>
          <p:cNvSpPr>
            <a:spLocks noGrp="1"/>
          </p:cNvSpPr>
          <p:nvPr>
            <p:ph type="pic" sz="quarter" idx="18"/>
          </p:nvPr>
        </p:nvSpPr>
        <p:spPr>
          <a:xfrm>
            <a:off x="463532" y="2564383"/>
            <a:ext cx="2132638" cy="2021092"/>
          </a:xfrm>
        </p:spPr>
        <p:txBody>
          <a:bodyPr/>
          <a:lstStyle/>
          <a:p>
            <a:pPr marL="0" indent="0">
              <a:buNone/>
            </a:pPr>
            <a:r>
              <a:rPr lang="en-GB" sz="1400">
                <a:solidFill>
                  <a:schemeClr val="accent6"/>
                </a:solidFill>
              </a:rPr>
              <a:t>CLIMB Team @ Bham</a:t>
            </a:r>
          </a:p>
          <a:p>
            <a:pPr marL="0" indent="0">
              <a:lnSpc>
                <a:spcPct val="120000"/>
              </a:lnSpc>
              <a:spcBef>
                <a:spcPts val="0"/>
              </a:spcBef>
              <a:buNone/>
            </a:pPr>
            <a:r>
              <a:rPr lang="en-GB" sz="1000"/>
              <a:t>Nick Loman</a:t>
            </a:r>
          </a:p>
          <a:p>
            <a:pPr marL="0" indent="0">
              <a:lnSpc>
                <a:spcPct val="120000"/>
              </a:lnSpc>
              <a:spcBef>
                <a:spcPts val="0"/>
              </a:spcBef>
              <a:buNone/>
            </a:pPr>
            <a:r>
              <a:rPr lang="en-GB" sz="1000"/>
              <a:t>Radoslaw Poplawski</a:t>
            </a:r>
          </a:p>
          <a:p>
            <a:pPr marL="0" indent="0">
              <a:lnSpc>
                <a:spcPct val="120000"/>
              </a:lnSpc>
              <a:spcBef>
                <a:spcPts val="0"/>
              </a:spcBef>
              <a:buNone/>
            </a:pPr>
            <a:r>
              <a:rPr lang="en-GB" sz="1000"/>
              <a:t>Andy Smith</a:t>
            </a:r>
          </a:p>
          <a:p>
            <a:pPr marL="0" indent="0">
              <a:lnSpc>
                <a:spcPct val="120000"/>
              </a:lnSpc>
              <a:spcBef>
                <a:spcPts val="0"/>
              </a:spcBef>
              <a:buNone/>
            </a:pPr>
            <a:r>
              <a:rPr lang="en-GB" sz="1000"/>
              <a:t>Tom Brier</a:t>
            </a:r>
          </a:p>
          <a:p>
            <a:pPr marL="0" indent="0">
              <a:lnSpc>
                <a:spcPct val="120000"/>
              </a:lnSpc>
              <a:spcBef>
                <a:spcPts val="0"/>
              </a:spcBef>
              <a:buNone/>
            </a:pPr>
            <a:r>
              <a:rPr lang="en-GB" sz="1000"/>
              <a:t>Sam Wilkinson</a:t>
            </a:r>
          </a:p>
          <a:p>
            <a:pPr marL="0" indent="0">
              <a:lnSpc>
                <a:spcPct val="120000"/>
              </a:lnSpc>
              <a:spcBef>
                <a:spcPts val="0"/>
              </a:spcBef>
              <a:buNone/>
            </a:pPr>
            <a:r>
              <a:rPr lang="en-GB" sz="1000"/>
              <a:t>Leo Turnell Ritson</a:t>
            </a:r>
          </a:p>
        </p:txBody>
      </p:sp>
      <p:sp>
        <p:nvSpPr>
          <p:cNvPr id="10" name="Picture Placeholder 6">
            <a:extLst>
              <a:ext uri="{FF2B5EF4-FFF2-40B4-BE49-F238E27FC236}">
                <a16:creationId xmlns:a16="http://schemas.microsoft.com/office/drawing/2014/main" id="{3E9BC788-CA1F-35B4-F728-68C87123AF78}"/>
              </a:ext>
            </a:extLst>
          </p:cNvPr>
          <p:cNvSpPr txBox="1">
            <a:spLocks/>
          </p:cNvSpPr>
          <p:nvPr/>
        </p:nvSpPr>
        <p:spPr>
          <a:xfrm>
            <a:off x="2392933" y="2531446"/>
            <a:ext cx="2516632" cy="77594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400">
                <a:solidFill>
                  <a:schemeClr val="accent6"/>
                </a:solidFill>
              </a:rPr>
              <a:t>QIB Core Bioinformatics</a:t>
            </a:r>
          </a:p>
          <a:p>
            <a:pPr marL="0" indent="0">
              <a:lnSpc>
                <a:spcPct val="120000"/>
              </a:lnSpc>
              <a:spcBef>
                <a:spcPts val="0"/>
              </a:spcBef>
              <a:buFont typeface="Arial" panose="020B0604020202020204" pitchFamily="34" charset="0"/>
              <a:buNone/>
            </a:pPr>
            <a:r>
              <a:rPr lang="en-GB" sz="1000"/>
              <a:t>Andrea Telatin</a:t>
            </a:r>
          </a:p>
          <a:p>
            <a:pPr marL="0" indent="0">
              <a:lnSpc>
                <a:spcPct val="120000"/>
              </a:lnSpc>
              <a:spcBef>
                <a:spcPts val="0"/>
              </a:spcBef>
              <a:buFont typeface="Arial" panose="020B0604020202020204" pitchFamily="34" charset="0"/>
              <a:buNone/>
            </a:pPr>
            <a:r>
              <a:rPr lang="en-GB" sz="1000"/>
              <a:t>Sam Haynes</a:t>
            </a:r>
          </a:p>
        </p:txBody>
      </p:sp>
      <p:sp>
        <p:nvSpPr>
          <p:cNvPr id="11" name="Picture Placeholder 6">
            <a:extLst>
              <a:ext uri="{FF2B5EF4-FFF2-40B4-BE49-F238E27FC236}">
                <a16:creationId xmlns:a16="http://schemas.microsoft.com/office/drawing/2014/main" id="{BC032966-75BF-BE71-1207-9DD54D383848}"/>
              </a:ext>
            </a:extLst>
          </p:cNvPr>
          <p:cNvSpPr txBox="1">
            <a:spLocks/>
          </p:cNvSpPr>
          <p:nvPr/>
        </p:nvSpPr>
        <p:spPr>
          <a:xfrm>
            <a:off x="2392933" y="3346690"/>
            <a:ext cx="3115285" cy="99968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400">
                <a:solidFill>
                  <a:schemeClr val="accent6"/>
                </a:solidFill>
              </a:rPr>
              <a:t>QIB Business Development Team</a:t>
            </a:r>
          </a:p>
          <a:p>
            <a:pPr marL="0" indent="0">
              <a:lnSpc>
                <a:spcPct val="120000"/>
              </a:lnSpc>
              <a:spcBef>
                <a:spcPts val="0"/>
              </a:spcBef>
              <a:buFont typeface="Arial" panose="020B0604020202020204" pitchFamily="34" charset="0"/>
              <a:buNone/>
            </a:pPr>
            <a:r>
              <a:rPr lang="en-GB" sz="1000"/>
              <a:t>Roberto Zanchi</a:t>
            </a:r>
          </a:p>
        </p:txBody>
      </p:sp>
      <p:sp>
        <p:nvSpPr>
          <p:cNvPr id="12" name="Picture Placeholder 6">
            <a:extLst>
              <a:ext uri="{FF2B5EF4-FFF2-40B4-BE49-F238E27FC236}">
                <a16:creationId xmlns:a16="http://schemas.microsoft.com/office/drawing/2014/main" id="{777D1976-0257-BFC5-79A2-4675DC2F5085}"/>
              </a:ext>
            </a:extLst>
          </p:cNvPr>
          <p:cNvSpPr txBox="1">
            <a:spLocks/>
          </p:cNvSpPr>
          <p:nvPr/>
        </p:nvSpPr>
        <p:spPr>
          <a:xfrm>
            <a:off x="5266149" y="98690"/>
            <a:ext cx="3115285" cy="200738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400">
                <a:solidFill>
                  <a:schemeClr val="accent6"/>
                </a:solidFill>
              </a:rPr>
              <a:t>CLIMB Operational Committee</a:t>
            </a:r>
          </a:p>
          <a:p>
            <a:pPr marL="0" indent="0">
              <a:lnSpc>
                <a:spcPct val="120000"/>
              </a:lnSpc>
              <a:spcBef>
                <a:spcPts val="0"/>
              </a:spcBef>
              <a:buFont typeface="Arial" panose="020B0604020202020204" pitchFamily="34" charset="0"/>
              <a:buNone/>
            </a:pPr>
            <a:r>
              <a:rPr lang="en-GB" sz="1000"/>
              <a:t>Matt Gilmour - QIB</a:t>
            </a:r>
          </a:p>
          <a:p>
            <a:pPr marL="0" indent="0">
              <a:lnSpc>
                <a:spcPct val="120000"/>
              </a:lnSpc>
              <a:spcBef>
                <a:spcPts val="0"/>
              </a:spcBef>
              <a:buFont typeface="Arial" panose="020B0604020202020204" pitchFamily="34" charset="0"/>
              <a:buNone/>
            </a:pPr>
            <a:r>
              <a:rPr lang="en-GB" sz="1000"/>
              <a:t>Graeme Brown - QIB</a:t>
            </a:r>
          </a:p>
          <a:p>
            <a:pPr marL="0" indent="0">
              <a:lnSpc>
                <a:spcPct val="120000"/>
              </a:lnSpc>
              <a:spcBef>
                <a:spcPts val="0"/>
              </a:spcBef>
              <a:buFont typeface="Arial" panose="020B0604020202020204" pitchFamily="34" charset="0"/>
              <a:buNone/>
            </a:pPr>
            <a:r>
              <a:rPr lang="en-GB" sz="1000"/>
              <a:t>Steve Hindmarsh – NBI RC</a:t>
            </a:r>
          </a:p>
          <a:p>
            <a:pPr marL="0" indent="0">
              <a:lnSpc>
                <a:spcPct val="120000"/>
              </a:lnSpc>
              <a:spcBef>
                <a:spcPts val="0"/>
              </a:spcBef>
              <a:buFont typeface="Arial" panose="020B0604020202020204" pitchFamily="34" charset="0"/>
              <a:buNone/>
            </a:pPr>
            <a:r>
              <a:rPr lang="en-GB" sz="1000"/>
              <a:t>Carol Sandys – U, Birmingham</a:t>
            </a:r>
          </a:p>
          <a:p>
            <a:pPr marL="0" indent="0">
              <a:lnSpc>
                <a:spcPct val="120000"/>
              </a:lnSpc>
              <a:spcBef>
                <a:spcPts val="0"/>
              </a:spcBef>
              <a:buFont typeface="Arial" panose="020B0604020202020204" pitchFamily="34" charset="0"/>
              <a:buNone/>
            </a:pPr>
            <a:r>
              <a:rPr lang="en-GB" sz="1000"/>
              <a:t>Chris King – QIB</a:t>
            </a:r>
          </a:p>
          <a:p>
            <a:pPr marL="0" indent="0">
              <a:lnSpc>
                <a:spcPct val="120000"/>
              </a:lnSpc>
              <a:spcBef>
                <a:spcPts val="0"/>
              </a:spcBef>
              <a:buFont typeface="Arial" panose="020B0604020202020204" pitchFamily="34" charset="0"/>
              <a:buNone/>
            </a:pPr>
            <a:r>
              <a:rPr lang="en-GB" sz="1000"/>
              <a:t>        </a:t>
            </a:r>
            <a:r>
              <a:rPr lang="en-GB" sz="900" i="1"/>
              <a:t>+ Nick, Lisa, Radoslaw, Andrea</a:t>
            </a:r>
            <a:endParaRPr lang="en-GB" sz="1000" i="1"/>
          </a:p>
        </p:txBody>
      </p:sp>
      <p:sp>
        <p:nvSpPr>
          <p:cNvPr id="13" name="Picture Placeholder 6">
            <a:extLst>
              <a:ext uri="{FF2B5EF4-FFF2-40B4-BE49-F238E27FC236}">
                <a16:creationId xmlns:a16="http://schemas.microsoft.com/office/drawing/2014/main" id="{0D70B68C-3FF4-7FDD-646D-715ABFA9FD65}"/>
              </a:ext>
            </a:extLst>
          </p:cNvPr>
          <p:cNvSpPr txBox="1">
            <a:spLocks/>
          </p:cNvSpPr>
          <p:nvPr/>
        </p:nvSpPr>
        <p:spPr>
          <a:xfrm>
            <a:off x="5266149" y="1908447"/>
            <a:ext cx="3629420" cy="271219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400">
                <a:solidFill>
                  <a:schemeClr val="accent6"/>
                </a:solidFill>
              </a:rPr>
              <a:t>MRC-CLIMB and CLIMB-BIG-DATA </a:t>
            </a:r>
          </a:p>
          <a:p>
            <a:pPr marL="0" indent="0">
              <a:lnSpc>
                <a:spcPct val="120000"/>
              </a:lnSpc>
              <a:spcBef>
                <a:spcPts val="0"/>
              </a:spcBef>
              <a:buFont typeface="Arial" panose="020B0604020202020204" pitchFamily="34" charset="0"/>
              <a:buNone/>
            </a:pPr>
            <a:r>
              <a:rPr lang="en-GB" sz="1000" b="1"/>
              <a:t>Mark Pallen </a:t>
            </a:r>
            <a:r>
              <a:rPr lang="en-GB" sz="1000"/>
              <a:t>- QIB</a:t>
            </a:r>
          </a:p>
          <a:p>
            <a:pPr marL="0" indent="0">
              <a:lnSpc>
                <a:spcPct val="120000"/>
              </a:lnSpc>
              <a:spcBef>
                <a:spcPts val="0"/>
              </a:spcBef>
              <a:buFont typeface="Arial" panose="020B0604020202020204" pitchFamily="34" charset="0"/>
              <a:buNone/>
            </a:pPr>
            <a:r>
              <a:rPr lang="en-GB" sz="1000"/>
              <a:t>Tom Connor – Cardiff University</a:t>
            </a:r>
          </a:p>
          <a:p>
            <a:pPr marL="0" indent="0">
              <a:lnSpc>
                <a:spcPct val="120000"/>
              </a:lnSpc>
              <a:spcBef>
                <a:spcPts val="0"/>
              </a:spcBef>
              <a:buNone/>
            </a:pPr>
            <a:r>
              <a:rPr lang="en-GB" sz="1000"/>
              <a:t>Sam Sheppard – University of Oxford</a:t>
            </a:r>
          </a:p>
          <a:p>
            <a:pPr marL="0" indent="0">
              <a:lnSpc>
                <a:spcPct val="120000"/>
              </a:lnSpc>
              <a:spcBef>
                <a:spcPts val="0"/>
              </a:spcBef>
              <a:buNone/>
            </a:pPr>
            <a:r>
              <a:rPr lang="en-GB" sz="1000"/>
              <a:t>Andy Millard – University of Leicester</a:t>
            </a:r>
          </a:p>
          <a:p>
            <a:pPr marL="0" indent="0">
              <a:lnSpc>
                <a:spcPct val="120000"/>
              </a:lnSpc>
              <a:spcBef>
                <a:spcPts val="0"/>
              </a:spcBef>
              <a:buNone/>
            </a:pPr>
            <a:r>
              <a:rPr lang="en-GB" sz="1000"/>
              <a:t>Chris Quince - EI</a:t>
            </a:r>
          </a:p>
          <a:p>
            <a:pPr marL="0" indent="0">
              <a:lnSpc>
                <a:spcPct val="120000"/>
              </a:lnSpc>
              <a:spcBef>
                <a:spcPts val="0"/>
              </a:spcBef>
              <a:buNone/>
            </a:pPr>
            <a:r>
              <a:rPr lang="en-GB" sz="1000"/>
              <a:t>Andrew Page – QIB</a:t>
            </a:r>
          </a:p>
          <a:p>
            <a:pPr marL="0" indent="0">
              <a:lnSpc>
                <a:spcPct val="120000"/>
              </a:lnSpc>
              <a:spcBef>
                <a:spcPts val="0"/>
              </a:spcBef>
              <a:buNone/>
            </a:pPr>
            <a:r>
              <a:rPr lang="en-GB" sz="1000"/>
              <a:t>Martin Antonio – LSHTM @ MRC  Gambia</a:t>
            </a:r>
          </a:p>
          <a:p>
            <a:pPr marL="0" indent="0">
              <a:lnSpc>
                <a:spcPct val="120000"/>
              </a:lnSpc>
              <a:spcBef>
                <a:spcPts val="0"/>
              </a:spcBef>
              <a:buNone/>
            </a:pPr>
            <a:r>
              <a:rPr lang="en-GB" sz="1000"/>
              <a:t>Simon Ellwood-Thompson – Swansea University</a:t>
            </a:r>
          </a:p>
          <a:p>
            <a:pPr marL="0" indent="0">
              <a:lnSpc>
                <a:spcPct val="120000"/>
              </a:lnSpc>
              <a:spcBef>
                <a:spcPts val="0"/>
              </a:spcBef>
              <a:buNone/>
            </a:pPr>
            <a:r>
              <a:rPr lang="en-GB" sz="1000"/>
              <a:t>Simon Thompson – University of Birmingham</a:t>
            </a:r>
          </a:p>
          <a:p>
            <a:pPr marL="0" indent="0">
              <a:lnSpc>
                <a:spcPct val="120000"/>
              </a:lnSpc>
              <a:spcBef>
                <a:spcPts val="0"/>
              </a:spcBef>
              <a:buNone/>
            </a:pPr>
            <a:endParaRPr lang="en-GB" sz="300"/>
          </a:p>
          <a:p>
            <a:pPr marL="0" indent="0">
              <a:lnSpc>
                <a:spcPct val="120000"/>
              </a:lnSpc>
              <a:spcBef>
                <a:spcPts val="0"/>
              </a:spcBef>
              <a:buNone/>
            </a:pPr>
            <a:r>
              <a:rPr lang="en-GB" sz="900" i="1"/>
              <a:t>+ Daniel </a:t>
            </a:r>
            <a:r>
              <a:rPr lang="en-GB" sz="900" i="1" err="1"/>
              <a:t>Falush</a:t>
            </a:r>
            <a:r>
              <a:rPr lang="en-GB" sz="900" i="1"/>
              <a:t>, Maciej </a:t>
            </a:r>
            <a:r>
              <a:rPr lang="en-GB" sz="900" i="1" err="1"/>
              <a:t>Filocha</a:t>
            </a:r>
            <a:r>
              <a:rPr lang="en-GB" sz="900" i="1"/>
              <a:t>, Matthew Ismail, Matt Bull, Imran Hussain, Fran Terry, Ben Pascoe, Sion Bayliss, Mavis Foster-Nyarko, Michaela Matthews, Ewan Short, Charles Pallen, Thanh Le-Viet, Nabil-Fareed Alikhan</a:t>
            </a:r>
          </a:p>
        </p:txBody>
      </p:sp>
      <p:sp>
        <p:nvSpPr>
          <p:cNvPr id="14" name="Picture Placeholder 6">
            <a:extLst>
              <a:ext uri="{FF2B5EF4-FFF2-40B4-BE49-F238E27FC236}">
                <a16:creationId xmlns:a16="http://schemas.microsoft.com/office/drawing/2014/main" id="{8E1EC7C3-A3B7-FD88-CB6C-033D9E413078}"/>
              </a:ext>
            </a:extLst>
          </p:cNvPr>
          <p:cNvSpPr txBox="1">
            <a:spLocks/>
          </p:cNvSpPr>
          <p:nvPr/>
        </p:nvSpPr>
        <p:spPr>
          <a:xfrm>
            <a:off x="5266149" y="1542930"/>
            <a:ext cx="3115286" cy="39374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baseline="0">
                <a:solidFill>
                  <a:schemeClr val="accent5"/>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baseline="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baseline="0">
                <a:solidFill>
                  <a:schemeClr val="accent5"/>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baseline="0">
                <a:solidFill>
                  <a:schemeClr val="accent5"/>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400">
                <a:solidFill>
                  <a:schemeClr val="accent6"/>
                </a:solidFill>
              </a:rPr>
              <a:t>NBI Research Computing</a:t>
            </a:r>
          </a:p>
        </p:txBody>
      </p:sp>
      <p:sp>
        <p:nvSpPr>
          <p:cNvPr id="15" name="Title 2">
            <a:extLst>
              <a:ext uri="{FF2B5EF4-FFF2-40B4-BE49-F238E27FC236}">
                <a16:creationId xmlns:a16="http://schemas.microsoft.com/office/drawing/2014/main" id="{AE0BCA60-24D6-0BDA-E27A-59F094FE58DA}"/>
              </a:ext>
            </a:extLst>
          </p:cNvPr>
          <p:cNvSpPr txBox="1">
            <a:spLocks/>
          </p:cNvSpPr>
          <p:nvPr/>
        </p:nvSpPr>
        <p:spPr>
          <a:xfrm>
            <a:off x="543407" y="4394120"/>
            <a:ext cx="6051945" cy="679378"/>
          </a:xfrm>
          <a:prstGeom prst="rect">
            <a:avLst/>
          </a:prstGeom>
        </p:spPr>
        <p:txBody>
          <a:bodyPr lIns="0" tIns="0" rIns="0" bIns="0" anchor="b" anchorCtr="0">
            <a:normAutofit/>
          </a:bodyPr>
          <a:lstStyle>
            <a:lvl1pPr algn="l" defTabSz="685800" rtl="0" eaLnBrk="1" latinLnBrk="0" hangingPunct="1">
              <a:lnSpc>
                <a:spcPts val="2600"/>
              </a:lnSpc>
              <a:spcBef>
                <a:spcPct val="0"/>
              </a:spcBef>
              <a:buNone/>
              <a:defRPr sz="2400" kern="1200" baseline="0">
                <a:solidFill>
                  <a:schemeClr val="bg1"/>
                </a:solidFill>
                <a:latin typeface="+mj-lt"/>
                <a:ea typeface="+mj-ea"/>
                <a:cs typeface="+mj-cs"/>
              </a:defRPr>
            </a:lvl1pPr>
          </a:lstStyle>
          <a:p>
            <a:r>
              <a:rPr lang="en-GB" sz="2800" b="1">
                <a:solidFill>
                  <a:srgbClr val="333F48"/>
                </a:solidFill>
              </a:rPr>
              <a:t>Thank you to all CLIMB Users</a:t>
            </a:r>
          </a:p>
        </p:txBody>
      </p:sp>
      <p:pic>
        <p:nvPicPr>
          <p:cNvPr id="2050" name="Picture 2">
            <a:extLst>
              <a:ext uri="{FF2B5EF4-FFF2-40B4-BE49-F238E27FC236}">
                <a16:creationId xmlns:a16="http://schemas.microsoft.com/office/drawing/2014/main" id="{A718F672-E6C5-813C-58E4-2290D3043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31" y="3989042"/>
            <a:ext cx="1422107" cy="47872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EB534A4B-547C-B276-FFD6-5F8AED9BBA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4476" y="3771324"/>
            <a:ext cx="2803668" cy="914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718868"/>
      </p:ext>
    </p:extLst>
  </p:cSld>
  <p:clrMapOvr>
    <a:masterClrMapping/>
  </p:clrMapOvr>
</p:sld>
</file>

<file path=ppt/theme/theme1.xml><?xml version="1.0" encoding="utf-8"?>
<a:theme xmlns:a="http://schemas.openxmlformats.org/drawingml/2006/main" name="Office Theme">
  <a:themeElements>
    <a:clrScheme name="Quadram Institute">
      <a:dk1>
        <a:srgbClr val="000000"/>
      </a:dk1>
      <a:lt1>
        <a:srgbClr val="FFFFFF"/>
      </a:lt1>
      <a:dk2>
        <a:srgbClr val="009681"/>
      </a:dk2>
      <a:lt2>
        <a:srgbClr val="B5BD00"/>
      </a:lt2>
      <a:accent1>
        <a:srgbClr val="CF4520"/>
      </a:accent1>
      <a:accent2>
        <a:srgbClr val="FF9E1B"/>
      </a:accent2>
      <a:accent3>
        <a:srgbClr val="48A23F"/>
      </a:accent3>
      <a:accent4>
        <a:srgbClr val="00778B"/>
      </a:accent4>
      <a:accent5>
        <a:srgbClr val="333F48"/>
      </a:accent5>
      <a:accent6>
        <a:srgbClr val="009681"/>
      </a:accent6>
      <a:hlink>
        <a:srgbClr val="B5BD00"/>
      </a:hlink>
      <a:folHlink>
        <a:srgbClr val="FF9E1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I Corporate Slide Deck July 2022_  -  Read-Only" id="{4533C1E3-3953-41A4-BC96-DEC1B580F2AB}" vid="{F6D80B58-25C8-4FD2-8567-12CF004403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B020DD5BB1B284AB3C4C2A594B7AF45" ma:contentTypeVersion="16" ma:contentTypeDescription="Create a new document." ma:contentTypeScope="" ma:versionID="a129f982c0e2ab9b1ed6f4c6138eaa35">
  <xsd:schema xmlns:xsd="http://www.w3.org/2001/XMLSchema" xmlns:xs="http://www.w3.org/2001/XMLSchema" xmlns:p="http://schemas.microsoft.com/office/2006/metadata/properties" xmlns:ns2="3723ce61-4e35-4582-86b3-1d980f7577c4" xmlns:ns3="cc1463fd-c4c2-412a-ae44-6336aab7f09c" targetNamespace="http://schemas.microsoft.com/office/2006/metadata/properties" ma:root="true" ma:fieldsID="807b70089c498c3754fed6fe998e72d3" ns2:_="" ns3:_="">
    <xsd:import namespace="3723ce61-4e35-4582-86b3-1d980f7577c4"/>
    <xsd:import namespace="cc1463fd-c4c2-412a-ae44-6336aab7f09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23ce61-4e35-4582-86b3-1d980f7577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Location" ma:index="14" nillable="true" ma:displayName="MediaServiceLoca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ca2bda0-1d07-4f9d-8d69-1194a571667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c1463fd-c4c2-412a-ae44-6336aab7f0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80ad557-be5c-4bc8-8db4-18c3f22f0d5c}" ma:internalName="TaxCatchAll" ma:showField="CatchAllData" ma:web="cc1463fd-c4c2-412a-ae44-6336aab7f0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723ce61-4e35-4582-86b3-1d980f7577c4">
      <Terms xmlns="http://schemas.microsoft.com/office/infopath/2007/PartnerControls"/>
    </lcf76f155ced4ddcb4097134ff3c332f>
    <TaxCatchAll xmlns="cc1463fd-c4c2-412a-ae44-6336aab7f09c" xsi:nil="true"/>
  </documentManagement>
</p:properties>
</file>

<file path=customXml/itemProps1.xml><?xml version="1.0" encoding="utf-8"?>
<ds:datastoreItem xmlns:ds="http://schemas.openxmlformats.org/officeDocument/2006/customXml" ds:itemID="{1D1373B6-1C90-4066-981D-19C972E5563F}">
  <ds:schemaRefs>
    <ds:schemaRef ds:uri="http://schemas.microsoft.com/sharepoint/v3/contenttype/forms"/>
  </ds:schemaRefs>
</ds:datastoreItem>
</file>

<file path=customXml/itemProps2.xml><?xml version="1.0" encoding="utf-8"?>
<ds:datastoreItem xmlns:ds="http://schemas.openxmlformats.org/officeDocument/2006/customXml" ds:itemID="{EBBA867C-58D7-4571-B186-50ABDD0DCD8E}">
  <ds:schemaRefs>
    <ds:schemaRef ds:uri="3723ce61-4e35-4582-86b3-1d980f7577c4"/>
    <ds:schemaRef ds:uri="cc1463fd-c4c2-412a-ae44-6336aab7f0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4C91D3B-CDCD-4201-A372-2D08EEE8AF8E}">
  <ds:schemaRefs>
    <ds:schemaRef ds:uri="3723ce61-4e35-4582-86b3-1d980f7577c4"/>
    <ds:schemaRef ds:uri="cc1463fd-c4c2-412a-ae44-6336aab7f09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QI Corporate Slide Deck July 2022_</Template>
  <TotalTime>3</TotalTime>
  <Words>1618</Words>
  <Application>Microsoft Office PowerPoint</Application>
  <PresentationFormat>On-screen Show (16:9)</PresentationFormat>
  <Paragraphs>167</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Mission and Values</vt:lpstr>
      <vt:lpstr>PowerPoint Presentation</vt:lpstr>
      <vt:lpstr>What does CLIMB offer?</vt:lpstr>
      <vt:lpstr>CLIMB Impact – Individual Teams and Users</vt:lpstr>
      <vt:lpstr>PowerPoint Presentation</vt:lpstr>
      <vt:lpstr>CLIMB Impact – Global Health</vt:lpstr>
      <vt:lpstr>CLIMB Impact – Training Environment</vt:lpstr>
      <vt:lpstr>CLIMB now</vt:lpstr>
      <vt:lpstr>PowerPoint Presentation</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Chapple (QIB)</dc:creator>
  <cp:lastModifiedBy>Lisa Marchioretto (QI)</cp:lastModifiedBy>
  <cp:revision>2</cp:revision>
  <dcterms:created xsi:type="dcterms:W3CDTF">2022-07-05T15:08:09Z</dcterms:created>
  <dcterms:modified xsi:type="dcterms:W3CDTF">2025-10-15T16:13:56Z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0x010100DB020DD5BB1B284AB3C4C2A594B7AF45</vt:lpwstr>
  </property>
  <property fmtid="{D5CDD505-2E9C-101B-9397-08002B2CF9AE}" pid="3" name="MediaServiceImageTags">
    <vt:lpwstr/>
  </property>
</Properties>
</file>